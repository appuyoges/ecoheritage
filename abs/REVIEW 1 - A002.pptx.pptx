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Avenir" charset="1" panose="020B0503020203020204"/>
      <p:regular r:id="rId36"/>
    </p:embeddedFont>
    <p:embeddedFont>
      <p:font typeface="Calibri (MS)" charset="1" panose="020F0502020204030204"/>
      <p:regular r:id="rId37"/>
    </p:embeddedFont>
    <p:embeddedFont>
      <p:font typeface="Times New Roman Bold" charset="1" panose="02020803070505020304"/>
      <p:regular r:id="rId38"/>
    </p:embeddedFont>
    <p:embeddedFont>
      <p:font typeface="Avenir Bold" charset="1" panose="020B0703020203020204"/>
      <p:regular r:id="rId40"/>
    </p:embeddedFont>
    <p:embeddedFont>
      <p:font typeface="Times New Roman" charset="1" panose="02020603050405020304"/>
      <p:regular r:id="rId41"/>
    </p:embeddedFont>
    <p:embeddedFont>
      <p:font typeface="Arial" charset="1" panose="020B0604020202020204"/>
      <p:regular r:id="rId42"/>
    </p:embeddedFont>
    <p:embeddedFont>
      <p:font typeface="EB Garamond" charset="1" panose="00000000000000000000"/>
      <p:regular r:id="rId48"/>
    </p:embeddedFont>
    <p:embeddedFont>
      <p:font typeface="Canva Sans" charset="1" panose="020B0503030501040103"/>
      <p:regular r:id="rId5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notesMasters/notesMaster1.xml" Type="http://schemas.openxmlformats.org/officeDocument/2006/relationships/notesMaster"/><Relationship Id="rId34" Target="theme/theme2.xml" Type="http://schemas.openxmlformats.org/officeDocument/2006/relationships/theme"/><Relationship Id="rId35" Target="notesSlides/notesSlide1.xml" Type="http://schemas.openxmlformats.org/officeDocument/2006/relationships/notesSlide"/><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notesSlides/notesSlide2.xml" Type="http://schemas.openxmlformats.org/officeDocument/2006/relationships/notesSlide"/><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notesSlides/notesSlide3.xml" Type="http://schemas.openxmlformats.org/officeDocument/2006/relationships/notesSlide"/><Relationship Id="rId44" Target="notesSlides/notesSlide4.xml" Type="http://schemas.openxmlformats.org/officeDocument/2006/relationships/notesSlide"/><Relationship Id="rId45" Target="notesSlides/notesSlide5.xml" Type="http://schemas.openxmlformats.org/officeDocument/2006/relationships/notesSlide"/><Relationship Id="rId46" Target="notesSlides/notesSlide6.xml" Type="http://schemas.openxmlformats.org/officeDocument/2006/relationships/notesSlide"/><Relationship Id="rId47" Target="notesSlides/notesSlide7.xml" Type="http://schemas.openxmlformats.org/officeDocument/2006/relationships/notesSlide"/><Relationship Id="rId48" Target="fonts/font48.fntdata" Type="http://schemas.openxmlformats.org/officeDocument/2006/relationships/font"/><Relationship Id="rId49" Target="notesSlides/notesSlide8.xml" Type="http://schemas.openxmlformats.org/officeDocument/2006/relationships/notesSlide"/><Relationship Id="rId5" Target="tableStyles.xml" Type="http://schemas.openxmlformats.org/officeDocument/2006/relationships/tableStyles"/><Relationship Id="rId50" Target="notesSlides/notesSlide9.xml" Type="http://schemas.openxmlformats.org/officeDocument/2006/relationships/notesSlide"/><Relationship Id="rId51" Target="notesSlides/notesSlide10.xml" Type="http://schemas.openxmlformats.org/officeDocument/2006/relationships/notesSlide"/><Relationship Id="rId52" Target="notesSlides/notesSlide11.xml" Type="http://schemas.openxmlformats.org/officeDocument/2006/relationships/notesSlide"/><Relationship Id="rId53" Target="notesSlides/notesSlide12.xml" Type="http://schemas.openxmlformats.org/officeDocument/2006/relationships/notesSlide"/><Relationship Id="rId54" Target="notesSlides/notesSlide13.xml" Type="http://schemas.openxmlformats.org/officeDocument/2006/relationships/notesSlide"/><Relationship Id="rId55" Target="notesSlides/notesSlide14.xml" Type="http://schemas.openxmlformats.org/officeDocument/2006/relationships/notesSlide"/><Relationship Id="rId56" Target="notesSlides/notesSlide15.xml" Type="http://schemas.openxmlformats.org/officeDocument/2006/relationships/notesSlide"/><Relationship Id="rId57" Target="fonts/font57.fntdata" Type="http://schemas.openxmlformats.org/officeDocument/2006/relationships/font"/><Relationship Id="rId58" Target="notesSlides/notesSlide16.xml" Type="http://schemas.openxmlformats.org/officeDocument/2006/relationships/notesSlide"/><Relationship Id="rId59" Target="notesSlides/notesSlide17.xml" Type="http://schemas.openxmlformats.org/officeDocument/2006/relationships/notesSlide"/><Relationship Id="rId6" Target="slides/slide1.xml" Type="http://schemas.openxmlformats.org/officeDocument/2006/relationships/slide"/><Relationship Id="rId60" Target="notesSlides/notesSlide18.xml" Type="http://schemas.openxmlformats.org/officeDocument/2006/relationships/notesSlide"/><Relationship Id="rId61" Target="notesSlides/notesSlide19.xml" Type="http://schemas.openxmlformats.org/officeDocument/2006/relationships/notesSlide"/><Relationship Id="rId62" Target="notesSlides/notesSlide20.xml" Type="http://schemas.openxmlformats.org/officeDocument/2006/relationships/notesSlide"/><Relationship Id="rId63" Target="notesSlides/notesSlide21.xml" Type="http://schemas.openxmlformats.org/officeDocument/2006/relationships/notesSlide"/><Relationship Id="rId64" Target="notesSlides/notesSlide22.xml" Type="http://schemas.openxmlformats.org/officeDocument/2006/relationships/notesSlide"/><Relationship Id="rId65" Target="notesSlides/notesSlide23.xml" Type="http://schemas.openxmlformats.org/officeDocument/2006/relationships/notesSlide"/><Relationship Id="rId66" Target="notesSlides/notesSlide24.xml" Type="http://schemas.openxmlformats.org/officeDocument/2006/relationships/notesSlide"/><Relationship Id="rId67" Target="notesSlides/notesSlide25.xml" Type="http://schemas.openxmlformats.org/officeDocument/2006/relationships/notesSlide"/><Relationship Id="rId68" Target="notesSlides/notesSlide26.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5.png" Type="http://schemas.openxmlformats.org/officeDocument/2006/relationships/image"/><Relationship Id="rId4"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https://www.nature.com/articles/s41598-025-08276-9#auth-Marina-Lin-Aff1" TargetMode="External" Type="http://schemas.openxmlformats.org/officeDocument/2006/relationships/hyperlink"/><Relationship Id="rId4" Target="https://link.springer.com/chapter/10.1007/978-981-99-1767-9_51#auth-S_-Poonkuzhali" TargetMode="External" Type="http://schemas.openxmlformats.org/officeDocument/2006/relationships/hyperlink"/></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7.png" Type="http://schemas.openxmlformats.org/officeDocument/2006/relationships/image"/><Relationship Id="rId4"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4.png" Type="http://schemas.openxmlformats.org/officeDocument/2006/relationships/image"/><Relationship Id="rId4" Target="../media/image1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6.png" Type="http://schemas.openxmlformats.org/officeDocument/2006/relationships/image"/><Relationship Id="rId4" Target="../media/image17.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20.png" Type="http://schemas.openxmlformats.org/officeDocument/2006/relationships/image"/><Relationship Id="rId4" Target="../media/image21.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2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2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24.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25.pn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28.png" Type="http://schemas.openxmlformats.org/officeDocument/2006/relationships/image"/><Relationship Id="rId4" Target="../media/image29.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30.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3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7009" y="7294902"/>
            <a:ext cx="3045152" cy="3007347"/>
            <a:chOff x="0" y="0"/>
            <a:chExt cx="4060203" cy="4009796"/>
          </a:xfrm>
        </p:grpSpPr>
        <p:sp>
          <p:nvSpPr>
            <p:cNvPr name="Freeform 3" id="3"/>
            <p:cNvSpPr/>
            <p:nvPr/>
          </p:nvSpPr>
          <p:spPr>
            <a:xfrm flipH="false" flipV="false" rot="0">
              <a:off x="0" y="0"/>
              <a:ext cx="4060190" cy="4009771"/>
            </a:xfrm>
            <a:custGeom>
              <a:avLst/>
              <a:gdLst/>
              <a:ahLst/>
              <a:cxnLst/>
              <a:rect r="r" b="b" t="t" l="l"/>
              <a:pathLst>
                <a:path h="4009771" w="4060190">
                  <a:moveTo>
                    <a:pt x="0" y="0"/>
                  </a:moveTo>
                  <a:lnTo>
                    <a:pt x="4060190" y="0"/>
                  </a:lnTo>
                  <a:lnTo>
                    <a:pt x="4060190" y="4009771"/>
                  </a:lnTo>
                  <a:lnTo>
                    <a:pt x="0" y="4009771"/>
                  </a:lnTo>
                  <a:close/>
                </a:path>
              </a:pathLst>
            </a:custGeom>
            <a:solidFill>
              <a:srgbClr val="582156"/>
            </a:solidFill>
            <a:ln w="12700">
              <a:solidFill>
                <a:srgbClr val="000000"/>
              </a:solidFill>
            </a:ln>
          </p:spPr>
        </p:sp>
      </p:grpSp>
      <p:sp>
        <p:nvSpPr>
          <p:cNvPr name="Freeform 4" id="4"/>
          <p:cNvSpPr/>
          <p:nvPr/>
        </p:nvSpPr>
        <p:spPr>
          <a:xfrm flipH="false" flipV="false" rot="0">
            <a:off x="1517009" y="8797804"/>
            <a:ext cx="3028950" cy="1499178"/>
          </a:xfrm>
          <a:custGeom>
            <a:avLst/>
            <a:gdLst/>
            <a:ahLst/>
            <a:cxnLst/>
            <a:rect r="r" b="b" t="t" l="l"/>
            <a:pathLst>
              <a:path h="1499178" w="3028950">
                <a:moveTo>
                  <a:pt x="0" y="0"/>
                </a:moveTo>
                <a:lnTo>
                  <a:pt x="3028950" y="0"/>
                </a:lnTo>
                <a:lnTo>
                  <a:pt x="3028950" y="1499178"/>
                </a:lnTo>
                <a:lnTo>
                  <a:pt x="0" y="1499178"/>
                </a:lnTo>
                <a:lnTo>
                  <a:pt x="0" y="0"/>
                </a:lnTo>
                <a:close/>
              </a:path>
            </a:pathLst>
          </a:custGeom>
          <a:blipFill>
            <a:blip r:embed="rId3"/>
            <a:stretch>
              <a:fillRect l="0" t="0" r="0" b="0"/>
            </a:stretch>
          </a:blipFill>
        </p:spPr>
      </p:sp>
      <p:grpSp>
        <p:nvGrpSpPr>
          <p:cNvPr name="Group 5" id="5"/>
          <p:cNvGrpSpPr/>
          <p:nvPr/>
        </p:nvGrpSpPr>
        <p:grpSpPr>
          <a:xfrm rot="0">
            <a:off x="0" y="7242048"/>
            <a:ext cx="1522352" cy="3045152"/>
            <a:chOff x="0" y="0"/>
            <a:chExt cx="2029803" cy="4060203"/>
          </a:xfrm>
        </p:grpSpPr>
        <p:sp>
          <p:nvSpPr>
            <p:cNvPr name="Freeform 6" id="6"/>
            <p:cNvSpPr/>
            <p:nvPr/>
          </p:nvSpPr>
          <p:spPr>
            <a:xfrm flipH="false" flipV="false" rot="0">
              <a:off x="0" y="0"/>
              <a:ext cx="2029841" cy="4060190"/>
            </a:xfrm>
            <a:custGeom>
              <a:avLst/>
              <a:gdLst/>
              <a:ahLst/>
              <a:cxnLst/>
              <a:rect r="r" b="b" t="t" l="l"/>
              <a:pathLst>
                <a:path h="4060190" w="2029841">
                  <a:moveTo>
                    <a:pt x="0" y="0"/>
                  </a:moveTo>
                  <a:lnTo>
                    <a:pt x="2029841" y="0"/>
                  </a:lnTo>
                  <a:lnTo>
                    <a:pt x="2029841" y="4060190"/>
                  </a:lnTo>
                  <a:lnTo>
                    <a:pt x="0" y="4060190"/>
                  </a:lnTo>
                  <a:close/>
                </a:path>
              </a:pathLst>
            </a:custGeom>
            <a:solidFill>
              <a:srgbClr val="EC008C"/>
            </a:solidFill>
            <a:ln w="12700">
              <a:solidFill>
                <a:srgbClr val="000000"/>
              </a:solidFill>
            </a:ln>
          </p:spPr>
        </p:sp>
      </p:grpSp>
      <p:grpSp>
        <p:nvGrpSpPr>
          <p:cNvPr name="Group 7" id="7"/>
          <p:cNvGrpSpPr/>
          <p:nvPr/>
        </p:nvGrpSpPr>
        <p:grpSpPr>
          <a:xfrm rot="0">
            <a:off x="0" y="4249950"/>
            <a:ext cx="1522352" cy="3045152"/>
            <a:chOff x="0" y="0"/>
            <a:chExt cx="2029803" cy="4060203"/>
          </a:xfrm>
        </p:grpSpPr>
        <p:sp>
          <p:nvSpPr>
            <p:cNvPr name="Freeform 8" id="8"/>
            <p:cNvSpPr/>
            <p:nvPr/>
          </p:nvSpPr>
          <p:spPr>
            <a:xfrm flipH="false" flipV="false" rot="0">
              <a:off x="0" y="0"/>
              <a:ext cx="2029841" cy="4060190"/>
            </a:xfrm>
            <a:custGeom>
              <a:avLst/>
              <a:gdLst/>
              <a:ahLst/>
              <a:cxnLst/>
              <a:rect r="r" b="b" t="t" l="l"/>
              <a:pathLst>
                <a:path h="4060190" w="2029841">
                  <a:moveTo>
                    <a:pt x="0" y="0"/>
                  </a:moveTo>
                  <a:lnTo>
                    <a:pt x="2029841" y="0"/>
                  </a:lnTo>
                  <a:lnTo>
                    <a:pt x="2029841" y="4060190"/>
                  </a:lnTo>
                  <a:lnTo>
                    <a:pt x="0" y="4060190"/>
                  </a:lnTo>
                  <a:close/>
                </a:path>
              </a:pathLst>
            </a:custGeom>
            <a:solidFill>
              <a:srgbClr val="385E88"/>
            </a:solidFill>
            <a:ln w="12700">
              <a:solidFill>
                <a:srgbClr val="000000"/>
              </a:solidFill>
            </a:ln>
          </p:spPr>
        </p:sp>
      </p:grpSp>
      <p:grpSp>
        <p:nvGrpSpPr>
          <p:cNvPr name="Group 9" id="9"/>
          <p:cNvGrpSpPr/>
          <p:nvPr/>
        </p:nvGrpSpPr>
        <p:grpSpPr>
          <a:xfrm rot="0">
            <a:off x="0" y="0"/>
            <a:ext cx="1522352" cy="3045152"/>
            <a:chOff x="0" y="0"/>
            <a:chExt cx="2029803" cy="4060203"/>
          </a:xfrm>
        </p:grpSpPr>
        <p:sp>
          <p:nvSpPr>
            <p:cNvPr name="Freeform 10" id="10"/>
            <p:cNvSpPr/>
            <p:nvPr/>
          </p:nvSpPr>
          <p:spPr>
            <a:xfrm flipH="false" flipV="false" rot="0">
              <a:off x="0" y="0"/>
              <a:ext cx="2029841" cy="4060190"/>
            </a:xfrm>
            <a:custGeom>
              <a:avLst/>
              <a:gdLst/>
              <a:ahLst/>
              <a:cxnLst/>
              <a:rect r="r" b="b" t="t" l="l"/>
              <a:pathLst>
                <a:path h="4060190" w="2029841">
                  <a:moveTo>
                    <a:pt x="0" y="0"/>
                  </a:moveTo>
                  <a:lnTo>
                    <a:pt x="2029841" y="0"/>
                  </a:lnTo>
                  <a:lnTo>
                    <a:pt x="2029841" y="4060190"/>
                  </a:lnTo>
                  <a:lnTo>
                    <a:pt x="0" y="4060190"/>
                  </a:lnTo>
                  <a:close/>
                </a:path>
              </a:pathLst>
            </a:custGeom>
            <a:solidFill>
              <a:srgbClr val="582156"/>
            </a:solidFill>
            <a:ln w="12700">
              <a:solidFill>
                <a:srgbClr val="000000"/>
              </a:solidFill>
            </a:ln>
          </p:spPr>
        </p:sp>
      </p:grpSp>
      <p:sp>
        <p:nvSpPr>
          <p:cNvPr name="Freeform 11" id="11"/>
          <p:cNvSpPr/>
          <p:nvPr/>
        </p:nvSpPr>
        <p:spPr>
          <a:xfrm flipH="false" flipV="false" rot="5400000">
            <a:off x="-694230" y="829437"/>
            <a:ext cx="2743200" cy="1357751"/>
          </a:xfrm>
          <a:custGeom>
            <a:avLst/>
            <a:gdLst/>
            <a:ahLst/>
            <a:cxnLst/>
            <a:rect r="r" b="b" t="t" l="l"/>
            <a:pathLst>
              <a:path h="1357751" w="2743200">
                <a:moveTo>
                  <a:pt x="0" y="0"/>
                </a:moveTo>
                <a:lnTo>
                  <a:pt x="2743200" y="0"/>
                </a:lnTo>
                <a:lnTo>
                  <a:pt x="2743200" y="1357751"/>
                </a:lnTo>
                <a:lnTo>
                  <a:pt x="0" y="1357751"/>
                </a:lnTo>
                <a:lnTo>
                  <a:pt x="0" y="0"/>
                </a:lnTo>
                <a:close/>
              </a:path>
            </a:pathLst>
          </a:custGeom>
          <a:blipFill>
            <a:blip r:embed="rId4"/>
            <a:stretch>
              <a:fillRect l="0" t="0" r="-327" b="0"/>
            </a:stretch>
          </a:blipFill>
        </p:spPr>
      </p:sp>
      <p:grpSp>
        <p:nvGrpSpPr>
          <p:cNvPr name="Group 12" id="12"/>
          <p:cNvGrpSpPr/>
          <p:nvPr/>
        </p:nvGrpSpPr>
        <p:grpSpPr>
          <a:xfrm rot="0">
            <a:off x="0" y="3044790"/>
            <a:ext cx="1522352" cy="1219495"/>
            <a:chOff x="0" y="0"/>
            <a:chExt cx="2029803" cy="1625994"/>
          </a:xfrm>
        </p:grpSpPr>
        <p:sp>
          <p:nvSpPr>
            <p:cNvPr name="Freeform 13" id="13"/>
            <p:cNvSpPr/>
            <p:nvPr/>
          </p:nvSpPr>
          <p:spPr>
            <a:xfrm flipH="false" flipV="false" rot="0">
              <a:off x="0" y="0"/>
              <a:ext cx="2029841" cy="1625981"/>
            </a:xfrm>
            <a:custGeom>
              <a:avLst/>
              <a:gdLst/>
              <a:ahLst/>
              <a:cxnLst/>
              <a:rect r="r" b="b" t="t" l="l"/>
              <a:pathLst>
                <a:path h="1625981" w="2029841">
                  <a:moveTo>
                    <a:pt x="0" y="0"/>
                  </a:moveTo>
                  <a:lnTo>
                    <a:pt x="2029841" y="0"/>
                  </a:lnTo>
                  <a:lnTo>
                    <a:pt x="2029841" y="1625981"/>
                  </a:lnTo>
                  <a:lnTo>
                    <a:pt x="0" y="1625981"/>
                  </a:lnTo>
                  <a:close/>
                </a:path>
              </a:pathLst>
            </a:custGeom>
            <a:solidFill>
              <a:srgbClr val="EC008C"/>
            </a:solidFill>
            <a:ln w="12700">
              <a:solidFill>
                <a:srgbClr val="000000"/>
              </a:solidFill>
            </a:ln>
          </p:spPr>
        </p:sp>
      </p:grpSp>
      <p:grpSp>
        <p:nvGrpSpPr>
          <p:cNvPr name="Group 14" id="14"/>
          <p:cNvGrpSpPr/>
          <p:nvPr/>
        </p:nvGrpSpPr>
        <p:grpSpPr>
          <a:xfrm rot="-10800000">
            <a:off x="152438" y="4399121"/>
            <a:ext cx="1370038" cy="2743200"/>
            <a:chOff x="0" y="0"/>
            <a:chExt cx="1826717" cy="3657600"/>
          </a:xfrm>
        </p:grpSpPr>
        <p:sp>
          <p:nvSpPr>
            <p:cNvPr name="Freeform 15" id="15"/>
            <p:cNvSpPr/>
            <p:nvPr/>
          </p:nvSpPr>
          <p:spPr>
            <a:xfrm flipH="false" flipV="false" rot="0">
              <a:off x="0" y="0"/>
              <a:ext cx="1826768" cy="3657600"/>
            </a:xfrm>
            <a:custGeom>
              <a:avLst/>
              <a:gdLst/>
              <a:ahLst/>
              <a:cxnLst/>
              <a:rect r="r" b="b" t="t" l="l"/>
              <a:pathLst>
                <a:path h="3657600" w="1826768">
                  <a:moveTo>
                    <a:pt x="2540" y="0"/>
                  </a:moveTo>
                  <a:cubicBezTo>
                    <a:pt x="1010031" y="0"/>
                    <a:pt x="1826768" y="818769"/>
                    <a:pt x="1826768" y="1828800"/>
                  </a:cubicBezTo>
                  <a:cubicBezTo>
                    <a:pt x="1826768" y="2838831"/>
                    <a:pt x="1010031" y="3657600"/>
                    <a:pt x="2540" y="3657600"/>
                  </a:cubicBezTo>
                  <a:lnTo>
                    <a:pt x="0" y="3657473"/>
                  </a:lnTo>
                  <a:lnTo>
                    <a:pt x="0" y="127"/>
                  </a:lnTo>
                  <a:close/>
                </a:path>
              </a:pathLst>
            </a:custGeom>
            <a:solidFill>
              <a:srgbClr val="D4D0D9"/>
            </a:solidFill>
            <a:ln w="12700">
              <a:solidFill>
                <a:srgbClr val="000000"/>
              </a:solidFill>
            </a:ln>
          </p:spPr>
        </p:sp>
      </p:grpSp>
      <p:sp>
        <p:nvSpPr>
          <p:cNvPr name="Freeform 16" id="16"/>
          <p:cNvSpPr/>
          <p:nvPr/>
        </p:nvSpPr>
        <p:spPr>
          <a:xfrm flipH="false" flipV="false" rot="5400000">
            <a:off x="-685800" y="8071142"/>
            <a:ext cx="2743200" cy="1371600"/>
          </a:xfrm>
          <a:custGeom>
            <a:avLst/>
            <a:gdLst/>
            <a:ahLst/>
            <a:cxnLst/>
            <a:rect r="r" b="b" t="t" l="l"/>
            <a:pathLst>
              <a:path h="1371600" w="2743200">
                <a:moveTo>
                  <a:pt x="0" y="0"/>
                </a:moveTo>
                <a:lnTo>
                  <a:pt x="2743200" y="0"/>
                </a:lnTo>
                <a:lnTo>
                  <a:pt x="2743200" y="1371600"/>
                </a:lnTo>
                <a:lnTo>
                  <a:pt x="0" y="1371600"/>
                </a:lnTo>
                <a:lnTo>
                  <a:pt x="0" y="0"/>
                </a:lnTo>
                <a:close/>
              </a:path>
            </a:pathLst>
          </a:custGeom>
          <a:blipFill>
            <a:blip r:embed="rId5"/>
            <a:stretch>
              <a:fillRect l="0" t="0" r="0" b="0"/>
            </a:stretch>
          </a:blipFill>
        </p:spPr>
      </p:sp>
      <p:grpSp>
        <p:nvGrpSpPr>
          <p:cNvPr name="Group 17" id="17"/>
          <p:cNvGrpSpPr/>
          <p:nvPr/>
        </p:nvGrpSpPr>
        <p:grpSpPr>
          <a:xfrm rot="0">
            <a:off x="1517009" y="4251236"/>
            <a:ext cx="3044952" cy="3044952"/>
            <a:chOff x="0" y="0"/>
            <a:chExt cx="4059936" cy="4059936"/>
          </a:xfrm>
        </p:grpSpPr>
        <p:sp>
          <p:nvSpPr>
            <p:cNvPr name="Freeform 18" id="18"/>
            <p:cNvSpPr/>
            <p:nvPr/>
          </p:nvSpPr>
          <p:spPr>
            <a:xfrm flipH="false" flipV="false" rot="0">
              <a:off x="0" y="0"/>
              <a:ext cx="4059936" cy="4059936"/>
            </a:xfrm>
            <a:custGeom>
              <a:avLst/>
              <a:gdLst/>
              <a:ahLst/>
              <a:cxnLst/>
              <a:rect r="r" b="b" t="t" l="l"/>
              <a:pathLst>
                <a:path h="4059936" w="4059936">
                  <a:moveTo>
                    <a:pt x="0" y="0"/>
                  </a:moveTo>
                  <a:lnTo>
                    <a:pt x="4059936" y="4059936"/>
                  </a:lnTo>
                  <a:lnTo>
                    <a:pt x="0" y="4059936"/>
                  </a:lnTo>
                  <a:lnTo>
                    <a:pt x="0" y="0"/>
                  </a:lnTo>
                  <a:close/>
                </a:path>
              </a:pathLst>
            </a:custGeom>
            <a:solidFill>
              <a:srgbClr val="AA2070"/>
            </a:solidFill>
            <a:ln w="12700">
              <a:solidFill>
                <a:srgbClr val="000000"/>
              </a:solidFill>
            </a:ln>
          </p:spPr>
        </p:sp>
      </p:grpSp>
      <p:grpSp>
        <p:nvGrpSpPr>
          <p:cNvPr name="Group 19" id="19"/>
          <p:cNvGrpSpPr/>
          <p:nvPr/>
        </p:nvGrpSpPr>
        <p:grpSpPr>
          <a:xfrm rot="0">
            <a:off x="16443036" y="9534525"/>
            <a:ext cx="685800" cy="547649"/>
            <a:chOff x="0" y="0"/>
            <a:chExt cx="914400" cy="730199"/>
          </a:xfrm>
        </p:grpSpPr>
        <p:sp>
          <p:nvSpPr>
            <p:cNvPr name="Freeform 20" id="20"/>
            <p:cNvSpPr/>
            <p:nvPr/>
          </p:nvSpPr>
          <p:spPr>
            <a:xfrm flipH="false" flipV="false" rot="0">
              <a:off x="0" y="0"/>
              <a:ext cx="914400" cy="730200"/>
            </a:xfrm>
            <a:custGeom>
              <a:avLst/>
              <a:gdLst/>
              <a:ahLst/>
              <a:cxnLst/>
              <a:rect r="r" b="b" t="t" l="l"/>
              <a:pathLst>
                <a:path h="730200" w="914400">
                  <a:moveTo>
                    <a:pt x="0" y="0"/>
                  </a:moveTo>
                  <a:lnTo>
                    <a:pt x="914400" y="0"/>
                  </a:lnTo>
                  <a:lnTo>
                    <a:pt x="914400" y="730200"/>
                  </a:lnTo>
                  <a:lnTo>
                    <a:pt x="0" y="730200"/>
                  </a:lnTo>
                  <a:close/>
                </a:path>
              </a:pathLst>
            </a:custGeom>
            <a:solidFill>
              <a:srgbClr val="000000">
                <a:alpha val="0"/>
              </a:srgbClr>
            </a:solidFill>
            <a:ln w="12700">
              <a:solidFill>
                <a:srgbClr val="000000"/>
              </a:solidFill>
            </a:ln>
          </p:spPr>
        </p:sp>
        <p:sp>
          <p:nvSpPr>
            <p:cNvPr name="TextBox 21" id="21"/>
            <p:cNvSpPr txBox="true"/>
            <p:nvPr/>
          </p:nvSpPr>
          <p:spPr>
            <a:xfrm>
              <a:off x="0" y="-28575"/>
              <a:ext cx="914400" cy="758774"/>
            </a:xfrm>
            <a:prstGeom prst="rect">
              <a:avLst/>
            </a:prstGeom>
          </p:spPr>
          <p:txBody>
            <a:bodyPr anchor="ctr" rtlCol="false" tIns="0" lIns="0" bIns="0" rIns="0"/>
            <a:lstStyle/>
            <a:p>
              <a:pPr algn="r">
                <a:lnSpc>
                  <a:spcPts val="1980"/>
                </a:lnSpc>
              </a:pPr>
              <a:r>
                <a:rPr lang="en-US" sz="1650">
                  <a:solidFill>
                    <a:srgbClr val="FFFFFF"/>
                  </a:solidFill>
                  <a:latin typeface="Avenir"/>
                  <a:ea typeface="Avenir"/>
                  <a:cs typeface="Avenir"/>
                  <a:sym typeface="Avenir"/>
                </a:rPr>
                <a:t>1</a:t>
              </a:r>
            </a:p>
          </p:txBody>
        </p:sp>
      </p:grpSp>
      <p:sp>
        <p:nvSpPr>
          <p:cNvPr name="TextBox 22" id="22"/>
          <p:cNvSpPr txBox="true"/>
          <p:nvPr/>
        </p:nvSpPr>
        <p:spPr>
          <a:xfrm rot="0">
            <a:off x="8936031" y="9689621"/>
            <a:ext cx="4688396" cy="400050"/>
          </a:xfrm>
          <a:prstGeom prst="rect">
            <a:avLst/>
          </a:prstGeom>
        </p:spPr>
        <p:txBody>
          <a:bodyPr anchor="t" rtlCol="false" tIns="0" lIns="0" bIns="0" rIns="0">
            <a:spAutoFit/>
          </a:bodyPr>
          <a:lstStyle/>
          <a:p>
            <a:pPr algn="ctr">
              <a:lnSpc>
                <a:spcPts val="2700"/>
              </a:lnSpc>
            </a:pPr>
            <a:r>
              <a:rPr lang="en-US" sz="2250">
                <a:solidFill>
                  <a:srgbClr val="000000"/>
                </a:solidFill>
                <a:latin typeface="Calibri (MS)"/>
                <a:ea typeface="Calibri (MS)"/>
                <a:cs typeface="Calibri (MS)"/>
                <a:sym typeface="Calibri (MS)"/>
              </a:rPr>
              <a:t>Review  I Date : 24ʳᵈ  JAN 2026</a:t>
            </a:r>
          </a:p>
        </p:txBody>
      </p:sp>
      <p:sp>
        <p:nvSpPr>
          <p:cNvPr name="TextBox 23" id="23"/>
          <p:cNvSpPr txBox="true"/>
          <p:nvPr/>
        </p:nvSpPr>
        <p:spPr>
          <a:xfrm rot="0">
            <a:off x="3657857" y="2177148"/>
            <a:ext cx="13008902" cy="1183224"/>
          </a:xfrm>
          <a:prstGeom prst="rect">
            <a:avLst/>
          </a:prstGeom>
        </p:spPr>
        <p:txBody>
          <a:bodyPr anchor="t" rtlCol="false" tIns="0" lIns="0" bIns="0" rIns="0">
            <a:spAutoFit/>
          </a:bodyPr>
          <a:lstStyle/>
          <a:p>
            <a:pPr algn="ctr">
              <a:lnSpc>
                <a:spcPts val="4320"/>
              </a:lnSpc>
            </a:pPr>
            <a:r>
              <a:rPr lang="en-US" b="true" sz="3600">
                <a:solidFill>
                  <a:srgbClr val="000000"/>
                </a:solidFill>
                <a:latin typeface="Times New Roman Bold"/>
                <a:ea typeface="Times New Roman Bold"/>
                <a:cs typeface="Times New Roman Bold"/>
                <a:sym typeface="Times New Roman Bold"/>
              </a:rPr>
              <a:t>DEPARTMENT ARTIFICIAL INTELLIGENCE AND MACHINE LEARNING </a:t>
            </a:r>
          </a:p>
        </p:txBody>
      </p:sp>
      <p:sp>
        <p:nvSpPr>
          <p:cNvPr name="TextBox 24" id="24"/>
          <p:cNvSpPr txBox="true"/>
          <p:nvPr/>
        </p:nvSpPr>
        <p:spPr>
          <a:xfrm rot="0">
            <a:off x="5895318" y="3722199"/>
            <a:ext cx="9454353" cy="504996"/>
          </a:xfrm>
          <a:prstGeom prst="rect">
            <a:avLst/>
          </a:prstGeom>
        </p:spPr>
        <p:txBody>
          <a:bodyPr anchor="t" rtlCol="false" tIns="0" lIns="0" bIns="0" rIns="0">
            <a:spAutoFit/>
          </a:bodyPr>
          <a:lstStyle/>
          <a:p>
            <a:pPr algn="l">
              <a:lnSpc>
                <a:spcPts val="3419"/>
              </a:lnSpc>
            </a:pPr>
            <a:r>
              <a:rPr lang="en-US" b="true" sz="2850">
                <a:solidFill>
                  <a:srgbClr val="000000"/>
                </a:solidFill>
                <a:latin typeface="Times New Roman Bold"/>
                <a:ea typeface="Times New Roman Bold"/>
                <a:cs typeface="Times New Roman Bold"/>
                <a:sym typeface="Times New Roman Bold"/>
              </a:rPr>
              <a:t>PROJECT PHASE II – REVIEW 1 PRESENTATION</a:t>
            </a:r>
          </a:p>
        </p:txBody>
      </p:sp>
      <p:sp>
        <p:nvSpPr>
          <p:cNvPr name="TextBox 25" id="25"/>
          <p:cNvSpPr txBox="true"/>
          <p:nvPr/>
        </p:nvSpPr>
        <p:spPr>
          <a:xfrm rot="0">
            <a:off x="4916072" y="6686569"/>
            <a:ext cx="7556354" cy="2554605"/>
          </a:xfrm>
          <a:prstGeom prst="rect">
            <a:avLst/>
          </a:prstGeom>
        </p:spPr>
        <p:txBody>
          <a:bodyPr anchor="t" rtlCol="false" tIns="0" lIns="0" bIns="0" rIns="0">
            <a:spAutoFit/>
          </a:bodyPr>
          <a:lstStyle/>
          <a:p>
            <a:pPr algn="l">
              <a:lnSpc>
                <a:spcPts val="5130"/>
              </a:lnSpc>
            </a:pPr>
            <a:r>
              <a:rPr lang="en-US" b="true" sz="2850">
                <a:solidFill>
                  <a:srgbClr val="000000"/>
                </a:solidFill>
                <a:latin typeface="Times New Roman Bold"/>
                <a:ea typeface="Times New Roman Bold"/>
                <a:cs typeface="Times New Roman Bold"/>
                <a:sym typeface="Times New Roman Bold"/>
              </a:rPr>
              <a:t>Batch Members :</a:t>
            </a:r>
          </a:p>
          <a:p>
            <a:pPr algn="l">
              <a:lnSpc>
                <a:spcPts val="5130"/>
              </a:lnSpc>
            </a:pPr>
            <a:r>
              <a:rPr lang="en-US" b="true" sz="2850">
                <a:solidFill>
                  <a:srgbClr val="000000"/>
                </a:solidFill>
                <a:latin typeface="Times New Roman Bold"/>
                <a:ea typeface="Times New Roman Bold"/>
                <a:cs typeface="Times New Roman Bold"/>
                <a:sym typeface="Times New Roman Bold"/>
              </a:rPr>
              <a:t>     1. HEENA MEHJABEEN K (221501043)</a:t>
            </a:r>
          </a:p>
          <a:p>
            <a:pPr algn="l">
              <a:lnSpc>
                <a:spcPts val="5130"/>
              </a:lnSpc>
            </a:pPr>
            <a:r>
              <a:rPr lang="en-US" b="true" sz="2850">
                <a:solidFill>
                  <a:srgbClr val="000000"/>
                </a:solidFill>
                <a:latin typeface="Times New Roman Bold"/>
                <a:ea typeface="Times New Roman Bold"/>
                <a:cs typeface="Times New Roman Bold"/>
                <a:sym typeface="Times New Roman Bold"/>
              </a:rPr>
              <a:t>     2. JAYA KARTHICK R (221501507)</a:t>
            </a:r>
          </a:p>
          <a:p>
            <a:pPr algn="l">
              <a:lnSpc>
                <a:spcPts val="5130"/>
              </a:lnSpc>
            </a:pPr>
            <a:r>
              <a:rPr lang="en-US" b="true" sz="2850">
                <a:solidFill>
                  <a:srgbClr val="000000"/>
                </a:solidFill>
                <a:latin typeface="Times New Roman Bold"/>
                <a:ea typeface="Times New Roman Bold"/>
                <a:cs typeface="Times New Roman Bold"/>
                <a:sym typeface="Times New Roman Bold"/>
              </a:rPr>
              <a:t>     3. YOGESWARAN S (221501511)</a:t>
            </a:r>
          </a:p>
        </p:txBody>
      </p:sp>
      <p:sp>
        <p:nvSpPr>
          <p:cNvPr name="TextBox 26" id="26"/>
          <p:cNvSpPr txBox="true"/>
          <p:nvPr/>
        </p:nvSpPr>
        <p:spPr>
          <a:xfrm rot="0">
            <a:off x="13514546" y="6686579"/>
            <a:ext cx="3867598" cy="2860224"/>
          </a:xfrm>
          <a:prstGeom prst="rect">
            <a:avLst/>
          </a:prstGeom>
        </p:spPr>
        <p:txBody>
          <a:bodyPr anchor="t" rtlCol="false" tIns="0" lIns="0" bIns="0" rIns="0">
            <a:spAutoFit/>
          </a:bodyPr>
          <a:lstStyle/>
          <a:p>
            <a:pPr algn="l">
              <a:lnSpc>
                <a:spcPts val="5130"/>
              </a:lnSpc>
            </a:pPr>
            <a:r>
              <a:rPr lang="en-US" b="true" sz="2850">
                <a:solidFill>
                  <a:srgbClr val="000000"/>
                </a:solidFill>
                <a:latin typeface="Times New Roman Bold"/>
                <a:ea typeface="Times New Roman Bold"/>
                <a:cs typeface="Times New Roman Bold"/>
                <a:sym typeface="Times New Roman Bold"/>
              </a:rPr>
              <a:t>Under the Guidance Of</a:t>
            </a:r>
          </a:p>
          <a:p>
            <a:pPr algn="l">
              <a:lnSpc>
                <a:spcPts val="5130"/>
              </a:lnSpc>
            </a:pPr>
          </a:p>
          <a:p>
            <a:pPr algn="l">
              <a:lnSpc>
                <a:spcPts val="3419"/>
              </a:lnSpc>
            </a:pPr>
            <a:r>
              <a:rPr lang="en-US" b="true" sz="2850">
                <a:solidFill>
                  <a:srgbClr val="000000"/>
                </a:solidFill>
                <a:latin typeface="Times New Roman Bold"/>
                <a:ea typeface="Times New Roman Bold"/>
                <a:cs typeface="Times New Roman Bold"/>
                <a:sym typeface="Times New Roman Bold"/>
              </a:rPr>
              <a:t>Dr.S.Poonkuzhali ,</a:t>
            </a:r>
          </a:p>
          <a:p>
            <a:pPr algn="l">
              <a:lnSpc>
                <a:spcPts val="3419"/>
              </a:lnSpc>
            </a:pPr>
            <a:r>
              <a:rPr lang="en-US" b="true" sz="2850">
                <a:solidFill>
                  <a:srgbClr val="000000"/>
                </a:solidFill>
                <a:latin typeface="Times New Roman Bold"/>
                <a:ea typeface="Times New Roman Bold"/>
                <a:cs typeface="Times New Roman Bold"/>
                <a:sym typeface="Times New Roman Bold"/>
              </a:rPr>
              <a:t> Professor</a:t>
            </a:r>
          </a:p>
          <a:p>
            <a:pPr algn="l">
              <a:lnSpc>
                <a:spcPts val="3419"/>
              </a:lnSpc>
            </a:pPr>
            <a:r>
              <a:rPr lang="en-US" sz="2850">
                <a:solidFill>
                  <a:srgbClr val="000000"/>
                </a:solidFill>
                <a:latin typeface="Calibri (MS)"/>
                <a:ea typeface="Calibri (MS)"/>
                <a:cs typeface="Calibri (MS)"/>
                <a:sym typeface="Calibri (MS)"/>
              </a:rPr>
              <a:t>      </a:t>
            </a:r>
          </a:p>
        </p:txBody>
      </p:sp>
      <p:sp>
        <p:nvSpPr>
          <p:cNvPr name="TextBox 27" id="27"/>
          <p:cNvSpPr txBox="true"/>
          <p:nvPr/>
        </p:nvSpPr>
        <p:spPr>
          <a:xfrm rot="0">
            <a:off x="3098463" y="4843377"/>
            <a:ext cx="14574784" cy="1816037"/>
          </a:xfrm>
          <a:prstGeom prst="rect">
            <a:avLst/>
          </a:prstGeom>
        </p:spPr>
        <p:txBody>
          <a:bodyPr anchor="t" rtlCol="false" tIns="0" lIns="0" bIns="0" rIns="0">
            <a:spAutoFit/>
          </a:bodyPr>
          <a:lstStyle/>
          <a:p>
            <a:pPr algn="ctr">
              <a:lnSpc>
                <a:spcPts val="4320"/>
              </a:lnSpc>
            </a:pPr>
            <a:r>
              <a:rPr lang="en-US" b="true" sz="3600">
                <a:solidFill>
                  <a:srgbClr val="000000"/>
                </a:solidFill>
                <a:latin typeface="Times New Roman Bold"/>
                <a:ea typeface="Times New Roman Bold"/>
                <a:cs typeface="Times New Roman Bold"/>
                <a:sym typeface="Times New Roman Bold"/>
              </a:rPr>
              <a:t>SUSTAINABLE HERITAGE TOURISM IN INDIA: AGENTIC MULTI-AGENT AI FOR CONTEXT-AWARE, CARBON-MINIMIZED ITINERARY OPTIMIZATION</a:t>
            </a:r>
          </a:p>
        </p:txBody>
      </p:sp>
      <p:sp>
        <p:nvSpPr>
          <p:cNvPr name="Freeform 28" id="28"/>
          <p:cNvSpPr/>
          <p:nvPr/>
        </p:nvSpPr>
        <p:spPr>
          <a:xfrm flipH="false" flipV="false" rot="0">
            <a:off x="6309227" y="240487"/>
            <a:ext cx="8010677" cy="1887188"/>
          </a:xfrm>
          <a:custGeom>
            <a:avLst/>
            <a:gdLst/>
            <a:ahLst/>
            <a:cxnLst/>
            <a:rect r="r" b="b" t="t" l="l"/>
            <a:pathLst>
              <a:path h="1887188" w="8010677">
                <a:moveTo>
                  <a:pt x="0" y="0"/>
                </a:moveTo>
                <a:lnTo>
                  <a:pt x="8010677" y="0"/>
                </a:lnTo>
                <a:lnTo>
                  <a:pt x="8010677" y="1887188"/>
                </a:lnTo>
                <a:lnTo>
                  <a:pt x="0" y="1887188"/>
                </a:lnTo>
                <a:lnTo>
                  <a:pt x="0" y="0"/>
                </a:lnTo>
                <a:close/>
              </a:path>
            </a:pathLst>
          </a:custGeom>
          <a:blipFill>
            <a:blip r:embed="rId6"/>
            <a:stretch>
              <a:fillRect l="-10059" t="0" r="-10959" b="-65162"/>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678" y="0"/>
            <a:ext cx="3826478" cy="10287000"/>
            <a:chOff x="0" y="0"/>
            <a:chExt cx="5101971" cy="13716000"/>
          </a:xfrm>
        </p:grpSpPr>
        <p:sp>
          <p:nvSpPr>
            <p:cNvPr name="Freeform 3" id="3"/>
            <p:cNvSpPr/>
            <p:nvPr/>
          </p:nvSpPr>
          <p:spPr>
            <a:xfrm flipH="false" flipV="false" rot="0">
              <a:off x="0" y="0"/>
              <a:ext cx="5101971" cy="13716000"/>
            </a:xfrm>
            <a:custGeom>
              <a:avLst/>
              <a:gdLst/>
              <a:ahLst/>
              <a:cxnLst/>
              <a:rect r="r" b="b" t="t" l="l"/>
              <a:pathLst>
                <a:path h="13716000" w="5101971">
                  <a:moveTo>
                    <a:pt x="5101971" y="0"/>
                  </a:moveTo>
                  <a:lnTo>
                    <a:pt x="0" y="0"/>
                  </a:lnTo>
                  <a:lnTo>
                    <a:pt x="0" y="13716000"/>
                  </a:lnTo>
                  <a:lnTo>
                    <a:pt x="5101971" y="13716000"/>
                  </a:lnTo>
                  <a:lnTo>
                    <a:pt x="5101971" y="0"/>
                  </a:lnTo>
                  <a:close/>
                </a:path>
              </a:pathLst>
            </a:custGeom>
            <a:solidFill>
              <a:srgbClr val="EC008C"/>
            </a:solidFill>
            <a:ln w="12700">
              <a:solidFill>
                <a:srgbClr val="000000"/>
              </a:solidFill>
            </a:ln>
          </p:spPr>
        </p:sp>
      </p:grpSp>
      <p:sp>
        <p:nvSpPr>
          <p:cNvPr name="Freeform 4" id="4"/>
          <p:cNvSpPr/>
          <p:nvPr/>
        </p:nvSpPr>
        <p:spPr>
          <a:xfrm flipH="false" flipV="false" rot="0">
            <a:off x="-14126" y="0"/>
            <a:ext cx="3822887" cy="3833441"/>
          </a:xfrm>
          <a:custGeom>
            <a:avLst/>
            <a:gdLst/>
            <a:ahLst/>
            <a:cxnLst/>
            <a:rect r="r" b="b" t="t" l="l"/>
            <a:pathLst>
              <a:path h="3833441" w="3822887">
                <a:moveTo>
                  <a:pt x="0" y="0"/>
                </a:moveTo>
                <a:lnTo>
                  <a:pt x="3822888" y="0"/>
                </a:lnTo>
                <a:lnTo>
                  <a:pt x="3822888" y="3833441"/>
                </a:lnTo>
                <a:lnTo>
                  <a:pt x="0" y="38334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14087" y="6462703"/>
            <a:ext cx="3826478" cy="3840661"/>
            <a:chOff x="0" y="0"/>
            <a:chExt cx="5101971" cy="5120881"/>
          </a:xfrm>
        </p:grpSpPr>
        <p:sp>
          <p:nvSpPr>
            <p:cNvPr name="Freeform 6" id="6"/>
            <p:cNvSpPr/>
            <p:nvPr/>
          </p:nvSpPr>
          <p:spPr>
            <a:xfrm flipH="false" flipV="false" rot="0">
              <a:off x="0" y="0"/>
              <a:ext cx="5101971" cy="5120894"/>
            </a:xfrm>
            <a:custGeom>
              <a:avLst/>
              <a:gdLst/>
              <a:ahLst/>
              <a:cxnLst/>
              <a:rect r="r" b="b" t="t" l="l"/>
              <a:pathLst>
                <a:path h="5120894" w="5101971">
                  <a:moveTo>
                    <a:pt x="5101971" y="5120894"/>
                  </a:moveTo>
                  <a:lnTo>
                    <a:pt x="0" y="5120894"/>
                  </a:lnTo>
                  <a:lnTo>
                    <a:pt x="0" y="0"/>
                  </a:lnTo>
                  <a:lnTo>
                    <a:pt x="5101971" y="5120894"/>
                  </a:lnTo>
                  <a:close/>
                </a:path>
              </a:pathLst>
            </a:custGeom>
            <a:solidFill>
              <a:srgbClr val="385E88">
                <a:alpha val="24314"/>
              </a:srgbClr>
            </a:solidFill>
            <a:ln w="12700">
              <a:solidFill>
                <a:srgbClr val="000000"/>
              </a:solidFill>
            </a:ln>
          </p:spPr>
        </p:sp>
      </p:grpSp>
      <p:grpSp>
        <p:nvGrpSpPr>
          <p:cNvPr name="Group 7" id="7"/>
          <p:cNvGrpSpPr/>
          <p:nvPr/>
        </p:nvGrpSpPr>
        <p:grpSpPr>
          <a:xfrm rot="0">
            <a:off x="-15926" y="6462703"/>
            <a:ext cx="3826478" cy="3840661"/>
            <a:chOff x="0" y="0"/>
            <a:chExt cx="5101971" cy="5120881"/>
          </a:xfrm>
        </p:grpSpPr>
        <p:sp>
          <p:nvSpPr>
            <p:cNvPr name="Freeform 8" id="8"/>
            <p:cNvSpPr/>
            <p:nvPr/>
          </p:nvSpPr>
          <p:spPr>
            <a:xfrm flipH="false" flipV="false" rot="0">
              <a:off x="0" y="0"/>
              <a:ext cx="5101971" cy="5120894"/>
            </a:xfrm>
            <a:custGeom>
              <a:avLst/>
              <a:gdLst/>
              <a:ahLst/>
              <a:cxnLst/>
              <a:rect r="r" b="b" t="t" l="l"/>
              <a:pathLst>
                <a:path h="5120894" w="5101971">
                  <a:moveTo>
                    <a:pt x="5101971" y="5120894"/>
                  </a:moveTo>
                  <a:lnTo>
                    <a:pt x="0" y="5120894"/>
                  </a:lnTo>
                  <a:lnTo>
                    <a:pt x="0" y="0"/>
                  </a:lnTo>
                  <a:lnTo>
                    <a:pt x="5101971" y="5120894"/>
                  </a:lnTo>
                  <a:close/>
                </a:path>
              </a:pathLst>
            </a:custGeom>
            <a:solidFill>
              <a:srgbClr val="224E7F"/>
            </a:solidFill>
            <a:ln w="12700">
              <a:solidFill>
                <a:srgbClr val="000000"/>
              </a:solidFill>
            </a:ln>
          </p:spPr>
        </p:sp>
      </p:grpSp>
      <p:grpSp>
        <p:nvGrpSpPr>
          <p:cNvPr name="Group 9" id="9"/>
          <p:cNvGrpSpPr/>
          <p:nvPr/>
        </p:nvGrpSpPr>
        <p:grpSpPr>
          <a:xfrm rot="0">
            <a:off x="3815801" y="0"/>
            <a:ext cx="3840509" cy="3840509"/>
            <a:chOff x="0" y="0"/>
            <a:chExt cx="5120678" cy="5120678"/>
          </a:xfrm>
        </p:grpSpPr>
        <p:sp>
          <p:nvSpPr>
            <p:cNvPr name="Freeform 10" id="10"/>
            <p:cNvSpPr/>
            <p:nvPr/>
          </p:nvSpPr>
          <p:spPr>
            <a:xfrm flipH="false" flipV="false" rot="0">
              <a:off x="0" y="0"/>
              <a:ext cx="5120640" cy="5120640"/>
            </a:xfrm>
            <a:custGeom>
              <a:avLst/>
              <a:gdLst/>
              <a:ahLst/>
              <a:cxnLst/>
              <a:rect r="r" b="b" t="t" l="l"/>
              <a:pathLst>
                <a:path h="5120640" w="5120640">
                  <a:moveTo>
                    <a:pt x="0" y="5120640"/>
                  </a:moveTo>
                  <a:cubicBezTo>
                    <a:pt x="2828163" y="5120640"/>
                    <a:pt x="5120640" y="2828163"/>
                    <a:pt x="5120640" y="0"/>
                  </a:cubicBezTo>
                  <a:lnTo>
                    <a:pt x="0" y="0"/>
                  </a:lnTo>
                  <a:lnTo>
                    <a:pt x="0" y="5120640"/>
                  </a:lnTo>
                  <a:close/>
                </a:path>
              </a:pathLst>
            </a:custGeom>
            <a:solidFill>
              <a:srgbClr val="DCE6F5">
                <a:alpha val="24314"/>
              </a:srgbClr>
            </a:solidFill>
            <a:ln w="12700">
              <a:solidFill>
                <a:srgbClr val="000000"/>
              </a:solidFill>
            </a:ln>
          </p:spPr>
        </p:sp>
      </p:grpSp>
      <p:grpSp>
        <p:nvGrpSpPr>
          <p:cNvPr name="Group 11" id="11"/>
          <p:cNvGrpSpPr/>
          <p:nvPr/>
        </p:nvGrpSpPr>
        <p:grpSpPr>
          <a:xfrm rot="0">
            <a:off x="4572000" y="779478"/>
            <a:ext cx="11948398" cy="1193854"/>
            <a:chOff x="0" y="0"/>
            <a:chExt cx="15931198" cy="1591805"/>
          </a:xfrm>
        </p:grpSpPr>
        <p:sp>
          <p:nvSpPr>
            <p:cNvPr name="Freeform 12" id="12"/>
            <p:cNvSpPr/>
            <p:nvPr/>
          </p:nvSpPr>
          <p:spPr>
            <a:xfrm flipH="false" flipV="false" rot="0">
              <a:off x="0" y="0"/>
              <a:ext cx="15931200" cy="1591800"/>
            </a:xfrm>
            <a:custGeom>
              <a:avLst/>
              <a:gdLst/>
              <a:ahLst/>
              <a:cxnLst/>
              <a:rect r="r" b="b" t="t" l="l"/>
              <a:pathLst>
                <a:path h="1591800" w="15931200">
                  <a:moveTo>
                    <a:pt x="0" y="0"/>
                  </a:moveTo>
                  <a:lnTo>
                    <a:pt x="15931200" y="0"/>
                  </a:lnTo>
                  <a:lnTo>
                    <a:pt x="15931200" y="1591800"/>
                  </a:lnTo>
                  <a:lnTo>
                    <a:pt x="0" y="1591800"/>
                  </a:lnTo>
                  <a:close/>
                </a:path>
              </a:pathLst>
            </a:custGeom>
            <a:solidFill>
              <a:srgbClr val="000000">
                <a:alpha val="0"/>
              </a:srgbClr>
            </a:solidFill>
            <a:ln w="12700">
              <a:solidFill>
                <a:srgbClr val="000000"/>
              </a:solidFill>
            </a:ln>
          </p:spPr>
        </p:sp>
        <p:sp>
          <p:nvSpPr>
            <p:cNvPr name="TextBox 13" id="13"/>
            <p:cNvSpPr txBox="true"/>
            <p:nvPr/>
          </p:nvSpPr>
          <p:spPr>
            <a:xfrm>
              <a:off x="0" y="-104775"/>
              <a:ext cx="15931198" cy="1696580"/>
            </a:xfrm>
            <a:prstGeom prst="rect">
              <a:avLst/>
            </a:prstGeom>
          </p:spPr>
          <p:txBody>
            <a:bodyPr anchor="b" rtlCol="false" tIns="0" lIns="0" bIns="0" rIns="0"/>
            <a:lstStyle/>
            <a:p>
              <a:pPr algn="l">
                <a:lnSpc>
                  <a:spcPts val="6480"/>
                </a:lnSpc>
              </a:pPr>
              <a:r>
                <a:rPr lang="en-US" b="true" sz="5400">
                  <a:solidFill>
                    <a:srgbClr val="000000"/>
                  </a:solidFill>
                  <a:latin typeface="Avenir Bold"/>
                  <a:ea typeface="Avenir Bold"/>
                  <a:cs typeface="Avenir Bold"/>
                  <a:sym typeface="Avenir Bold"/>
                </a:rPr>
                <a:t>DOMAIN</a:t>
              </a:r>
            </a:p>
          </p:txBody>
        </p:sp>
      </p:grpSp>
      <p:sp>
        <p:nvSpPr>
          <p:cNvPr name="TextBox 14" id="14"/>
          <p:cNvSpPr txBox="true"/>
          <p:nvPr/>
        </p:nvSpPr>
        <p:spPr>
          <a:xfrm rot="0">
            <a:off x="4442812" y="2524315"/>
            <a:ext cx="11626053" cy="7430262"/>
          </a:xfrm>
          <a:prstGeom prst="rect">
            <a:avLst/>
          </a:prstGeom>
        </p:spPr>
        <p:txBody>
          <a:bodyPr anchor="t" rtlCol="false" tIns="0" lIns="0" bIns="0" rIns="0">
            <a:spAutoFit/>
          </a:bodyPr>
          <a:lstStyle/>
          <a:p>
            <a:pPr algn="l">
              <a:lnSpc>
                <a:spcPts val="4554"/>
              </a:lnSpc>
            </a:pPr>
            <a:r>
              <a:rPr lang="en-US" b="true" sz="3300" u="sng">
                <a:solidFill>
                  <a:srgbClr val="000000"/>
                </a:solidFill>
                <a:latin typeface="Times New Roman Bold"/>
                <a:ea typeface="Times New Roman Bold"/>
                <a:cs typeface="Times New Roman Bold"/>
                <a:sym typeface="Times New Roman Bold"/>
              </a:rPr>
              <a:t>Domain:</a:t>
            </a:r>
            <a:r>
              <a:rPr lang="en-US" sz="3300">
                <a:solidFill>
                  <a:srgbClr val="000000"/>
                </a:solidFill>
                <a:latin typeface="Times New Roman"/>
                <a:ea typeface="Times New Roman"/>
                <a:cs typeface="Times New Roman"/>
                <a:sym typeface="Times New Roman"/>
              </a:rPr>
              <a:t> </a:t>
            </a:r>
          </a:p>
          <a:p>
            <a:pPr algn="l">
              <a:lnSpc>
                <a:spcPts val="4554"/>
              </a:lnSpc>
            </a:pPr>
            <a:r>
              <a:rPr lang="en-US" sz="3300">
                <a:solidFill>
                  <a:srgbClr val="000000"/>
                </a:solidFill>
                <a:latin typeface="Times New Roman"/>
                <a:ea typeface="Times New Roman"/>
                <a:cs typeface="Times New Roman"/>
                <a:sym typeface="Times New Roman"/>
              </a:rPr>
              <a:t>              Artificial Intelligence</a:t>
            </a:r>
          </a:p>
          <a:p>
            <a:pPr algn="l">
              <a:lnSpc>
                <a:spcPts val="4554"/>
              </a:lnSpc>
            </a:pPr>
          </a:p>
          <a:p>
            <a:pPr algn="l">
              <a:lnSpc>
                <a:spcPts val="4554"/>
              </a:lnSpc>
            </a:pPr>
            <a:r>
              <a:rPr lang="en-US" b="true" sz="3300" u="sng">
                <a:solidFill>
                  <a:srgbClr val="000000"/>
                </a:solidFill>
                <a:latin typeface="Times New Roman Bold"/>
                <a:ea typeface="Times New Roman Bold"/>
                <a:cs typeface="Times New Roman Bold"/>
                <a:sym typeface="Times New Roman Bold"/>
              </a:rPr>
              <a:t>Sub-Domains:</a:t>
            </a:r>
            <a:r>
              <a:rPr lang="en-US" b="true" sz="3300">
                <a:solidFill>
                  <a:srgbClr val="000000"/>
                </a:solidFill>
                <a:latin typeface="Times New Roman Bold"/>
                <a:ea typeface="Times New Roman Bold"/>
                <a:cs typeface="Times New Roman Bold"/>
                <a:sym typeface="Times New Roman Bold"/>
              </a:rPr>
              <a:t> </a:t>
            </a:r>
          </a:p>
          <a:p>
            <a:pPr algn="l">
              <a:lnSpc>
                <a:spcPts val="4554"/>
              </a:lnSpc>
            </a:pPr>
            <a:r>
              <a:rPr lang="en-US" sz="3300">
                <a:solidFill>
                  <a:srgbClr val="000000"/>
                </a:solidFill>
                <a:latin typeface="Times New Roman"/>
                <a:ea typeface="Times New Roman"/>
                <a:cs typeface="Times New Roman"/>
                <a:sym typeface="Times New Roman"/>
              </a:rPr>
              <a:t>              • Multi-Agent Systems</a:t>
            </a:r>
          </a:p>
          <a:p>
            <a:pPr algn="l">
              <a:lnSpc>
                <a:spcPts val="4554"/>
              </a:lnSpc>
            </a:pPr>
            <a:r>
              <a:rPr lang="en-US" sz="3300">
                <a:solidFill>
                  <a:srgbClr val="000000"/>
                </a:solidFill>
                <a:latin typeface="Times New Roman"/>
                <a:ea typeface="Times New Roman"/>
                <a:cs typeface="Times New Roman"/>
                <a:sym typeface="Times New Roman"/>
              </a:rPr>
              <a:t>              • Intelligent Recommendation Systems</a:t>
            </a:r>
          </a:p>
          <a:p>
            <a:pPr algn="l">
              <a:lnSpc>
                <a:spcPts val="4554"/>
              </a:lnSpc>
            </a:pPr>
            <a:r>
              <a:rPr lang="en-US" sz="3300">
                <a:solidFill>
                  <a:srgbClr val="000000"/>
                </a:solidFill>
                <a:latin typeface="Times New Roman"/>
                <a:ea typeface="Times New Roman"/>
                <a:cs typeface="Times New Roman"/>
                <a:sym typeface="Times New Roman"/>
              </a:rPr>
              <a:t>              • Swarm Intelligence</a:t>
            </a:r>
          </a:p>
          <a:p>
            <a:pPr algn="l">
              <a:lnSpc>
                <a:spcPts val="4554"/>
              </a:lnSpc>
            </a:pPr>
            <a:r>
              <a:rPr lang="en-US" sz="3300">
                <a:solidFill>
                  <a:srgbClr val="000000"/>
                </a:solidFill>
                <a:latin typeface="Times New Roman"/>
                <a:ea typeface="Times New Roman"/>
                <a:cs typeface="Times New Roman"/>
                <a:sym typeface="Times New Roman"/>
              </a:rPr>
              <a:t>              • Optimization Algorithms</a:t>
            </a:r>
          </a:p>
          <a:p>
            <a:pPr algn="l">
              <a:lnSpc>
                <a:spcPts val="4554"/>
              </a:lnSpc>
            </a:pPr>
            <a:r>
              <a:rPr lang="en-US" sz="3300">
                <a:solidFill>
                  <a:srgbClr val="000000"/>
                </a:solidFill>
                <a:latin typeface="Times New Roman"/>
                <a:ea typeface="Times New Roman"/>
                <a:cs typeface="Times New Roman"/>
                <a:sym typeface="Times New Roman"/>
              </a:rPr>
              <a:t>              • Sustainable AI</a:t>
            </a:r>
          </a:p>
          <a:p>
            <a:pPr algn="l">
              <a:lnSpc>
                <a:spcPts val="4554"/>
              </a:lnSpc>
            </a:pPr>
          </a:p>
          <a:p>
            <a:pPr algn="l">
              <a:lnSpc>
                <a:spcPts val="4554"/>
              </a:lnSpc>
            </a:pPr>
            <a:r>
              <a:rPr lang="en-US" b="true" sz="3300" u="sng">
                <a:solidFill>
                  <a:srgbClr val="000000"/>
                </a:solidFill>
                <a:latin typeface="Times New Roman Bold"/>
                <a:ea typeface="Times New Roman Bold"/>
                <a:cs typeface="Times New Roman Bold"/>
                <a:sym typeface="Times New Roman Bold"/>
              </a:rPr>
              <a:t>Application Area:</a:t>
            </a:r>
            <a:r>
              <a:rPr lang="en-US" b="true" sz="3300">
                <a:solidFill>
                  <a:srgbClr val="000000"/>
                </a:solidFill>
                <a:latin typeface="Times New Roman Bold"/>
                <a:ea typeface="Times New Roman Bold"/>
                <a:cs typeface="Times New Roman Bold"/>
                <a:sym typeface="Times New Roman Bold"/>
              </a:rPr>
              <a:t> </a:t>
            </a:r>
          </a:p>
          <a:p>
            <a:pPr algn="l">
              <a:lnSpc>
                <a:spcPts val="4554"/>
              </a:lnSpc>
            </a:pPr>
            <a:r>
              <a:rPr lang="en-US" b="true" sz="3300">
                <a:solidFill>
                  <a:srgbClr val="000000"/>
                </a:solidFill>
                <a:latin typeface="Times New Roman Bold"/>
                <a:ea typeface="Times New Roman Bold"/>
                <a:cs typeface="Times New Roman Bold"/>
                <a:sym typeface="Times New Roman Bold"/>
              </a:rPr>
              <a:t>              </a:t>
            </a:r>
            <a:r>
              <a:rPr lang="en-US" sz="3300">
                <a:solidFill>
                  <a:srgbClr val="000000"/>
                </a:solidFill>
                <a:latin typeface="Times New Roman"/>
                <a:ea typeface="Times New Roman"/>
                <a:cs typeface="Times New Roman"/>
                <a:sym typeface="Times New Roman"/>
              </a:rPr>
              <a:t>Smart Tourism, Sustainable Travel Planning</a:t>
            </a:r>
          </a:p>
          <a:p>
            <a:pPr algn="l">
              <a:lnSpc>
                <a:spcPts val="4554"/>
              </a:lnSpc>
            </a:pPr>
            <a:r>
              <a:rPr lang="en-US" sz="3300">
                <a:solidFill>
                  <a:srgbClr val="000000"/>
                </a:solidFill>
                <a:latin typeface="Times New Roman"/>
                <a:ea typeface="Times New Roman"/>
                <a:cs typeface="Times New Roman"/>
                <a:sym typeface="Times New Roman"/>
              </a:rPr>
              <a:t> </a:t>
            </a:r>
          </a:p>
        </p:txBody>
      </p:sp>
      <p:grpSp>
        <p:nvGrpSpPr>
          <p:cNvPr name="Group 15" id="15"/>
          <p:cNvGrpSpPr/>
          <p:nvPr/>
        </p:nvGrpSpPr>
        <p:grpSpPr>
          <a:xfrm rot="0">
            <a:off x="15537656" y="685800"/>
            <a:ext cx="1601553" cy="707403"/>
            <a:chOff x="0" y="0"/>
            <a:chExt cx="2135403" cy="943204"/>
          </a:xfrm>
        </p:grpSpPr>
        <p:sp>
          <p:nvSpPr>
            <p:cNvPr name="Freeform 16" id="16"/>
            <p:cNvSpPr/>
            <p:nvPr/>
          </p:nvSpPr>
          <p:spPr>
            <a:xfrm flipH="false" flipV="false" rot="0">
              <a:off x="0" y="0"/>
              <a:ext cx="2135400" cy="943200"/>
            </a:xfrm>
            <a:custGeom>
              <a:avLst/>
              <a:gdLst/>
              <a:ahLst/>
              <a:cxnLst/>
              <a:rect r="r" b="b" t="t" l="l"/>
              <a:pathLst>
                <a:path h="943200" w="2135400">
                  <a:moveTo>
                    <a:pt x="0" y="0"/>
                  </a:moveTo>
                  <a:lnTo>
                    <a:pt x="2135400" y="0"/>
                  </a:lnTo>
                  <a:lnTo>
                    <a:pt x="2135400" y="943200"/>
                  </a:lnTo>
                  <a:lnTo>
                    <a:pt x="0" y="943200"/>
                  </a:lnTo>
                  <a:close/>
                </a:path>
              </a:pathLst>
            </a:custGeom>
            <a:solidFill>
              <a:srgbClr val="000000">
                <a:alpha val="0"/>
              </a:srgbClr>
            </a:solidFill>
            <a:ln w="12700">
              <a:solidFill>
                <a:srgbClr val="000000"/>
              </a:solidFill>
            </a:ln>
          </p:spPr>
        </p:sp>
        <p:sp>
          <p:nvSpPr>
            <p:cNvPr name="TextBox 17" id="17"/>
            <p:cNvSpPr txBox="true"/>
            <p:nvPr/>
          </p:nvSpPr>
          <p:spPr>
            <a:xfrm>
              <a:off x="0" y="-9525"/>
              <a:ext cx="2135403" cy="952729"/>
            </a:xfrm>
            <a:prstGeom prst="rect">
              <a:avLst/>
            </a:prstGeom>
          </p:spPr>
          <p:txBody>
            <a:bodyPr anchor="ctr" rtlCol="false" tIns="0" lIns="0" bIns="0" rIns="0"/>
            <a:lstStyle/>
            <a:p>
              <a:pPr algn="r">
                <a:lnSpc>
                  <a:spcPts val="2879"/>
                </a:lnSpc>
              </a:pPr>
              <a:r>
                <a:rPr lang="en-US" sz="2400">
                  <a:solidFill>
                    <a:srgbClr val="958EA2"/>
                  </a:solidFill>
                  <a:latin typeface="Arial"/>
                  <a:ea typeface="Arial"/>
                  <a:cs typeface="Arial"/>
                  <a:sym typeface="Arial"/>
                </a:rPr>
                <a:t>2</a:t>
              </a:r>
            </a:p>
          </p:txBody>
        </p:sp>
      </p:gr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3484181" y="5141004"/>
            <a:ext cx="4803819" cy="5145996"/>
            <a:chOff x="0" y="0"/>
            <a:chExt cx="6405093" cy="6861327"/>
          </a:xfrm>
        </p:grpSpPr>
        <p:sp>
          <p:nvSpPr>
            <p:cNvPr name="Freeform 3" id="3"/>
            <p:cNvSpPr/>
            <p:nvPr/>
          </p:nvSpPr>
          <p:spPr>
            <a:xfrm flipH="false" flipV="false" rot="0">
              <a:off x="0" y="0"/>
              <a:ext cx="6405118" cy="6861302"/>
            </a:xfrm>
            <a:custGeom>
              <a:avLst/>
              <a:gdLst/>
              <a:ahLst/>
              <a:cxnLst/>
              <a:rect r="r" b="b" t="t" l="l"/>
              <a:pathLst>
                <a:path h="6861302" w="6405118">
                  <a:moveTo>
                    <a:pt x="0" y="0"/>
                  </a:moveTo>
                  <a:lnTo>
                    <a:pt x="6405118" y="0"/>
                  </a:lnTo>
                  <a:lnTo>
                    <a:pt x="6405118" y="6861302"/>
                  </a:lnTo>
                  <a:lnTo>
                    <a:pt x="0" y="6861302"/>
                  </a:lnTo>
                  <a:close/>
                </a:path>
              </a:pathLst>
            </a:custGeom>
            <a:solidFill>
              <a:srgbClr val="AA2070"/>
            </a:solidFill>
            <a:ln w="12700">
              <a:solidFill>
                <a:srgbClr val="000000"/>
              </a:solidFill>
            </a:ln>
          </p:spPr>
        </p:sp>
      </p:grpSp>
      <p:grpSp>
        <p:nvGrpSpPr>
          <p:cNvPr name="Group 4" id="4"/>
          <p:cNvGrpSpPr/>
          <p:nvPr/>
        </p:nvGrpSpPr>
        <p:grpSpPr>
          <a:xfrm rot="0">
            <a:off x="13484181" y="5481228"/>
            <a:ext cx="4803819" cy="4805782"/>
            <a:chOff x="0" y="0"/>
            <a:chExt cx="6405093" cy="6407709"/>
          </a:xfrm>
        </p:grpSpPr>
        <p:sp>
          <p:nvSpPr>
            <p:cNvPr name="Freeform 5" id="5"/>
            <p:cNvSpPr/>
            <p:nvPr/>
          </p:nvSpPr>
          <p:spPr>
            <a:xfrm flipH="false" flipV="false" rot="0">
              <a:off x="0" y="0"/>
              <a:ext cx="6405118" cy="6407658"/>
            </a:xfrm>
            <a:custGeom>
              <a:avLst/>
              <a:gdLst/>
              <a:ahLst/>
              <a:cxnLst/>
              <a:rect r="r" b="b" t="t" l="l"/>
              <a:pathLst>
                <a:path h="6407658" w="6405118">
                  <a:moveTo>
                    <a:pt x="6405118" y="0"/>
                  </a:moveTo>
                  <a:lnTo>
                    <a:pt x="6405118" y="6407658"/>
                  </a:lnTo>
                  <a:lnTo>
                    <a:pt x="0" y="6407658"/>
                  </a:lnTo>
                  <a:lnTo>
                    <a:pt x="0" y="6381369"/>
                  </a:lnTo>
                  <a:close/>
                </a:path>
              </a:pathLst>
            </a:custGeom>
            <a:solidFill>
              <a:srgbClr val="224E7F"/>
            </a:solidFill>
            <a:ln w="12700">
              <a:solidFill>
                <a:srgbClr val="000000"/>
              </a:solidFill>
            </a:ln>
          </p:spPr>
        </p:sp>
      </p:grpSp>
      <p:grpSp>
        <p:nvGrpSpPr>
          <p:cNvPr name="Group 6" id="6"/>
          <p:cNvGrpSpPr/>
          <p:nvPr/>
        </p:nvGrpSpPr>
        <p:grpSpPr>
          <a:xfrm rot="0">
            <a:off x="13484181" y="1"/>
            <a:ext cx="4803819" cy="5156016"/>
            <a:chOff x="0" y="0"/>
            <a:chExt cx="6405093" cy="6874688"/>
          </a:xfrm>
        </p:grpSpPr>
        <p:sp>
          <p:nvSpPr>
            <p:cNvPr name="Freeform 7" id="7"/>
            <p:cNvSpPr/>
            <p:nvPr/>
          </p:nvSpPr>
          <p:spPr>
            <a:xfrm flipH="false" flipV="false" rot="0">
              <a:off x="0" y="0"/>
              <a:ext cx="6405118" cy="6874637"/>
            </a:xfrm>
            <a:custGeom>
              <a:avLst/>
              <a:gdLst/>
              <a:ahLst/>
              <a:cxnLst/>
              <a:rect r="r" b="b" t="t" l="l"/>
              <a:pathLst>
                <a:path h="6874637" w="6405118">
                  <a:moveTo>
                    <a:pt x="0" y="0"/>
                  </a:moveTo>
                  <a:lnTo>
                    <a:pt x="6405118" y="0"/>
                  </a:lnTo>
                  <a:lnTo>
                    <a:pt x="6405118" y="6874637"/>
                  </a:lnTo>
                  <a:lnTo>
                    <a:pt x="0" y="6874637"/>
                  </a:lnTo>
                  <a:close/>
                </a:path>
              </a:pathLst>
            </a:custGeom>
            <a:solidFill>
              <a:srgbClr val="582156"/>
            </a:solidFill>
            <a:ln w="12700">
              <a:solidFill>
                <a:srgbClr val="000000"/>
              </a:solidFill>
            </a:ln>
          </p:spPr>
        </p:sp>
      </p:grpSp>
      <p:grpSp>
        <p:nvGrpSpPr>
          <p:cNvPr name="Group 8" id="8"/>
          <p:cNvGrpSpPr/>
          <p:nvPr/>
        </p:nvGrpSpPr>
        <p:grpSpPr>
          <a:xfrm rot="0">
            <a:off x="13484181" y="10020"/>
            <a:ext cx="4803819" cy="5154711"/>
            <a:chOff x="0" y="0"/>
            <a:chExt cx="6405093" cy="6872948"/>
          </a:xfrm>
        </p:grpSpPr>
        <p:sp>
          <p:nvSpPr>
            <p:cNvPr name="Freeform 9" id="9"/>
            <p:cNvSpPr/>
            <p:nvPr/>
          </p:nvSpPr>
          <p:spPr>
            <a:xfrm flipH="false" flipV="false" rot="0">
              <a:off x="0" y="0"/>
              <a:ext cx="6405118" cy="6872986"/>
            </a:xfrm>
            <a:custGeom>
              <a:avLst/>
              <a:gdLst/>
              <a:ahLst/>
              <a:cxnLst/>
              <a:rect r="r" b="b" t="t" l="l"/>
              <a:pathLst>
                <a:path h="6872986" w="6405118">
                  <a:moveTo>
                    <a:pt x="0" y="0"/>
                  </a:moveTo>
                  <a:lnTo>
                    <a:pt x="6405118" y="6428867"/>
                  </a:lnTo>
                  <a:lnTo>
                    <a:pt x="6405118" y="6872986"/>
                  </a:lnTo>
                  <a:lnTo>
                    <a:pt x="0" y="6872986"/>
                  </a:lnTo>
                  <a:close/>
                </a:path>
              </a:pathLst>
            </a:custGeom>
            <a:solidFill>
              <a:srgbClr val="224E7F"/>
            </a:solidFill>
            <a:ln w="12700">
              <a:solidFill>
                <a:srgbClr val="000000"/>
              </a:solidFill>
            </a:ln>
          </p:spPr>
        </p:sp>
      </p:grpSp>
      <p:grpSp>
        <p:nvGrpSpPr>
          <p:cNvPr name="Group 10" id="10"/>
          <p:cNvGrpSpPr/>
          <p:nvPr/>
        </p:nvGrpSpPr>
        <p:grpSpPr>
          <a:xfrm rot="0">
            <a:off x="1371600" y="685810"/>
            <a:ext cx="11694604" cy="1098004"/>
            <a:chOff x="0" y="0"/>
            <a:chExt cx="15592806" cy="1464005"/>
          </a:xfrm>
        </p:grpSpPr>
        <p:sp>
          <p:nvSpPr>
            <p:cNvPr name="Freeform 11" id="11"/>
            <p:cNvSpPr/>
            <p:nvPr/>
          </p:nvSpPr>
          <p:spPr>
            <a:xfrm flipH="false" flipV="false" rot="0">
              <a:off x="0" y="0"/>
              <a:ext cx="15592800" cy="1464000"/>
            </a:xfrm>
            <a:custGeom>
              <a:avLst/>
              <a:gdLst/>
              <a:ahLst/>
              <a:cxnLst/>
              <a:rect r="r" b="b" t="t" l="l"/>
              <a:pathLst>
                <a:path h="1464000" w="15592800">
                  <a:moveTo>
                    <a:pt x="0" y="0"/>
                  </a:moveTo>
                  <a:lnTo>
                    <a:pt x="15592800" y="0"/>
                  </a:lnTo>
                  <a:lnTo>
                    <a:pt x="15592800" y="1464000"/>
                  </a:lnTo>
                  <a:lnTo>
                    <a:pt x="0" y="1464000"/>
                  </a:lnTo>
                  <a:close/>
                </a:path>
              </a:pathLst>
            </a:custGeom>
            <a:solidFill>
              <a:srgbClr val="000000">
                <a:alpha val="0"/>
              </a:srgbClr>
            </a:solidFill>
            <a:ln w="12700">
              <a:solidFill>
                <a:srgbClr val="000000"/>
              </a:solidFill>
            </a:ln>
          </p:spPr>
        </p:sp>
        <p:sp>
          <p:nvSpPr>
            <p:cNvPr name="TextBox 12" id="12"/>
            <p:cNvSpPr txBox="true"/>
            <p:nvPr/>
          </p:nvSpPr>
          <p:spPr>
            <a:xfrm>
              <a:off x="0" y="-104775"/>
              <a:ext cx="15592806" cy="1568780"/>
            </a:xfrm>
            <a:prstGeom prst="rect">
              <a:avLst/>
            </a:prstGeom>
          </p:spPr>
          <p:txBody>
            <a:bodyPr anchor="b" rtlCol="false" tIns="0" lIns="0" bIns="0" rIns="0"/>
            <a:lstStyle/>
            <a:p>
              <a:pPr algn="l">
                <a:lnSpc>
                  <a:spcPts val="6480"/>
                </a:lnSpc>
              </a:pPr>
              <a:r>
                <a:rPr lang="en-US" b="true" sz="5400">
                  <a:solidFill>
                    <a:srgbClr val="000000"/>
                  </a:solidFill>
                  <a:latin typeface="Avenir Bold"/>
                  <a:ea typeface="Avenir Bold"/>
                  <a:cs typeface="Avenir Bold"/>
                  <a:sym typeface="Avenir Bold"/>
                </a:rPr>
                <a:t>INTRODUCTION</a:t>
              </a:r>
            </a:p>
          </p:txBody>
        </p:sp>
      </p:grpSp>
      <p:grpSp>
        <p:nvGrpSpPr>
          <p:cNvPr name="Group 13" id="13"/>
          <p:cNvGrpSpPr/>
          <p:nvPr/>
        </p:nvGrpSpPr>
        <p:grpSpPr>
          <a:xfrm rot="0">
            <a:off x="15657709" y="685800"/>
            <a:ext cx="1481404" cy="707403"/>
            <a:chOff x="0" y="0"/>
            <a:chExt cx="1975206" cy="943204"/>
          </a:xfrm>
        </p:grpSpPr>
        <p:sp>
          <p:nvSpPr>
            <p:cNvPr name="Freeform 14" id="14"/>
            <p:cNvSpPr/>
            <p:nvPr/>
          </p:nvSpPr>
          <p:spPr>
            <a:xfrm flipH="false" flipV="false" rot="0">
              <a:off x="0" y="0"/>
              <a:ext cx="1975200" cy="943200"/>
            </a:xfrm>
            <a:custGeom>
              <a:avLst/>
              <a:gdLst/>
              <a:ahLst/>
              <a:cxnLst/>
              <a:rect r="r" b="b" t="t" l="l"/>
              <a:pathLst>
                <a:path h="943200" w="1975200">
                  <a:moveTo>
                    <a:pt x="0" y="0"/>
                  </a:moveTo>
                  <a:lnTo>
                    <a:pt x="1975200" y="0"/>
                  </a:lnTo>
                  <a:lnTo>
                    <a:pt x="1975200" y="943200"/>
                  </a:lnTo>
                  <a:lnTo>
                    <a:pt x="0" y="943200"/>
                  </a:lnTo>
                  <a:close/>
                </a:path>
              </a:pathLst>
            </a:custGeom>
            <a:solidFill>
              <a:srgbClr val="000000">
                <a:alpha val="0"/>
              </a:srgbClr>
            </a:solidFill>
            <a:ln w="12700">
              <a:solidFill>
                <a:srgbClr val="000000"/>
              </a:solidFill>
            </a:ln>
          </p:spPr>
        </p:sp>
        <p:sp>
          <p:nvSpPr>
            <p:cNvPr name="TextBox 15" id="15"/>
            <p:cNvSpPr txBox="true"/>
            <p:nvPr/>
          </p:nvSpPr>
          <p:spPr>
            <a:xfrm>
              <a:off x="0" y="-9525"/>
              <a:ext cx="1975206" cy="952729"/>
            </a:xfrm>
            <a:prstGeom prst="rect">
              <a:avLst/>
            </a:prstGeom>
          </p:spPr>
          <p:txBody>
            <a:bodyPr anchor="ctr" rtlCol="false" tIns="0" lIns="0" bIns="0" rIns="0"/>
            <a:lstStyle/>
            <a:p>
              <a:pPr algn="r">
                <a:lnSpc>
                  <a:spcPts val="2879"/>
                </a:lnSpc>
              </a:pPr>
              <a:r>
                <a:rPr lang="en-US" sz="2400">
                  <a:solidFill>
                    <a:srgbClr val="958EA2"/>
                  </a:solidFill>
                  <a:latin typeface="Arial"/>
                  <a:ea typeface="Arial"/>
                  <a:cs typeface="Arial"/>
                  <a:sym typeface="Arial"/>
                </a:rPr>
                <a:t>3</a:t>
              </a:r>
            </a:p>
          </p:txBody>
        </p:sp>
      </p:grpSp>
      <p:grpSp>
        <p:nvGrpSpPr>
          <p:cNvPr name="Group 16" id="16"/>
          <p:cNvGrpSpPr/>
          <p:nvPr/>
        </p:nvGrpSpPr>
        <p:grpSpPr>
          <a:xfrm rot="0">
            <a:off x="1259548" y="2161804"/>
            <a:ext cx="11694604" cy="7061400"/>
            <a:chOff x="0" y="0"/>
            <a:chExt cx="15592806" cy="9415200"/>
          </a:xfrm>
        </p:grpSpPr>
        <p:sp>
          <p:nvSpPr>
            <p:cNvPr name="Freeform 17" id="17"/>
            <p:cNvSpPr/>
            <p:nvPr/>
          </p:nvSpPr>
          <p:spPr>
            <a:xfrm flipH="false" flipV="false" rot="0">
              <a:off x="0" y="0"/>
              <a:ext cx="15592800" cy="9415204"/>
            </a:xfrm>
            <a:custGeom>
              <a:avLst/>
              <a:gdLst/>
              <a:ahLst/>
              <a:cxnLst/>
              <a:rect r="r" b="b" t="t" l="l"/>
              <a:pathLst>
                <a:path h="9415204" w="15592800">
                  <a:moveTo>
                    <a:pt x="0" y="0"/>
                  </a:moveTo>
                  <a:lnTo>
                    <a:pt x="15592800" y="0"/>
                  </a:lnTo>
                  <a:lnTo>
                    <a:pt x="15592800" y="9415204"/>
                  </a:lnTo>
                  <a:lnTo>
                    <a:pt x="0" y="9415204"/>
                  </a:lnTo>
                  <a:close/>
                </a:path>
              </a:pathLst>
            </a:custGeom>
            <a:solidFill>
              <a:srgbClr val="000000">
                <a:alpha val="0"/>
              </a:srgbClr>
            </a:solidFill>
            <a:ln w="12700">
              <a:solidFill>
                <a:srgbClr val="000000"/>
              </a:solidFill>
            </a:ln>
          </p:spPr>
        </p:sp>
        <p:sp>
          <p:nvSpPr>
            <p:cNvPr name="TextBox 18" id="18"/>
            <p:cNvSpPr txBox="true"/>
            <p:nvPr/>
          </p:nvSpPr>
          <p:spPr>
            <a:xfrm>
              <a:off x="0" y="-352425"/>
              <a:ext cx="15592806" cy="9767625"/>
            </a:xfrm>
            <a:prstGeom prst="rect">
              <a:avLst/>
            </a:prstGeom>
          </p:spPr>
          <p:txBody>
            <a:bodyPr anchor="b" rtlCol="false" tIns="0" lIns="0" bIns="0" rIns="0"/>
            <a:lstStyle/>
            <a:p>
              <a:pPr algn="just">
                <a:lnSpc>
                  <a:spcPts val="6750"/>
                </a:lnSpc>
              </a:pPr>
              <a:r>
                <a:rPr lang="en-US" sz="2700">
                  <a:solidFill>
                    <a:srgbClr val="000000"/>
                  </a:solidFill>
                  <a:latin typeface="Times New Roman"/>
                  <a:ea typeface="Times New Roman"/>
                  <a:cs typeface="Times New Roman"/>
                  <a:sym typeface="Times New Roman"/>
                </a:rPr>
                <a:t>Tourists often struggle to balance convenience, cost, and environmental responsibility while planning their trips. The system addresses this by guiding travelers toward meaningful experiences that reduce environmental impact, support local communities, and ensure smoother crowd management across destinations. By encouraging travelers to explore responsibly, the system helps protect natural attractions, reduces strain on popular sites, and boosts lesser-known local areas. This creates a more enjoyable travel experience while promoting long-term sustainability for destinations.</a:t>
              </a:r>
            </a:p>
          </p:txBody>
        </p:sp>
      </p:gr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6100" y="-600"/>
            <a:ext cx="18324004" cy="5200650"/>
            <a:chOff x="0" y="0"/>
            <a:chExt cx="24432006" cy="6934200"/>
          </a:xfrm>
        </p:grpSpPr>
        <p:sp>
          <p:nvSpPr>
            <p:cNvPr name="Freeform 3" id="3"/>
            <p:cNvSpPr/>
            <p:nvPr/>
          </p:nvSpPr>
          <p:spPr>
            <a:xfrm flipH="false" flipV="false" rot="0">
              <a:off x="0" y="0"/>
              <a:ext cx="24432006" cy="6934200"/>
            </a:xfrm>
            <a:custGeom>
              <a:avLst/>
              <a:gdLst/>
              <a:ahLst/>
              <a:cxnLst/>
              <a:rect r="r" b="b" t="t" l="l"/>
              <a:pathLst>
                <a:path h="6934200" w="24432006">
                  <a:moveTo>
                    <a:pt x="0" y="0"/>
                  </a:moveTo>
                  <a:lnTo>
                    <a:pt x="24432006" y="0"/>
                  </a:lnTo>
                  <a:lnTo>
                    <a:pt x="24432006" y="6934200"/>
                  </a:lnTo>
                  <a:lnTo>
                    <a:pt x="0" y="6934200"/>
                  </a:lnTo>
                  <a:close/>
                </a:path>
              </a:pathLst>
            </a:custGeom>
            <a:solidFill>
              <a:srgbClr val="224E7F"/>
            </a:solidFill>
            <a:ln w="12700">
              <a:solidFill>
                <a:srgbClr val="000000"/>
              </a:solidFill>
            </a:ln>
          </p:spPr>
        </p:sp>
      </p:grpSp>
      <p:grpSp>
        <p:nvGrpSpPr>
          <p:cNvPr name="Group 4" id="4"/>
          <p:cNvGrpSpPr/>
          <p:nvPr/>
        </p:nvGrpSpPr>
        <p:grpSpPr>
          <a:xfrm rot="0">
            <a:off x="665016" y="630736"/>
            <a:ext cx="16957796" cy="9040054"/>
            <a:chOff x="0" y="0"/>
            <a:chExt cx="22610394" cy="12053405"/>
          </a:xfrm>
        </p:grpSpPr>
        <p:sp>
          <p:nvSpPr>
            <p:cNvPr name="Freeform 5" id="5"/>
            <p:cNvSpPr/>
            <p:nvPr/>
          </p:nvSpPr>
          <p:spPr>
            <a:xfrm flipH="false" flipV="false" rot="0">
              <a:off x="0" y="0"/>
              <a:ext cx="22610445" cy="12053443"/>
            </a:xfrm>
            <a:custGeom>
              <a:avLst/>
              <a:gdLst/>
              <a:ahLst/>
              <a:cxnLst/>
              <a:rect r="r" b="b" t="t" l="l"/>
              <a:pathLst>
                <a:path h="12053443" w="22610445">
                  <a:moveTo>
                    <a:pt x="0" y="0"/>
                  </a:moveTo>
                  <a:lnTo>
                    <a:pt x="22610445" y="0"/>
                  </a:lnTo>
                  <a:lnTo>
                    <a:pt x="22610445" y="12053443"/>
                  </a:lnTo>
                  <a:lnTo>
                    <a:pt x="0" y="12053443"/>
                  </a:lnTo>
                  <a:close/>
                </a:path>
              </a:pathLst>
            </a:custGeom>
            <a:solidFill>
              <a:srgbClr val="FFFFFF"/>
            </a:solidFill>
            <a:ln w="12700">
              <a:solidFill>
                <a:srgbClr val="000000"/>
              </a:solidFill>
            </a:ln>
          </p:spPr>
        </p:sp>
      </p:grpSp>
      <p:grpSp>
        <p:nvGrpSpPr>
          <p:cNvPr name="Group 6" id="6"/>
          <p:cNvGrpSpPr/>
          <p:nvPr/>
        </p:nvGrpSpPr>
        <p:grpSpPr>
          <a:xfrm rot="-5400000">
            <a:off x="8640032" y="5646696"/>
            <a:ext cx="4218537" cy="5091217"/>
            <a:chOff x="0" y="0"/>
            <a:chExt cx="5624716" cy="6788290"/>
          </a:xfrm>
        </p:grpSpPr>
        <p:sp>
          <p:nvSpPr>
            <p:cNvPr name="Freeform 7" id="7"/>
            <p:cNvSpPr/>
            <p:nvPr/>
          </p:nvSpPr>
          <p:spPr>
            <a:xfrm flipH="false" flipV="false" rot="0">
              <a:off x="0" y="0"/>
              <a:ext cx="5624703" cy="6788277"/>
            </a:xfrm>
            <a:custGeom>
              <a:avLst/>
              <a:gdLst/>
              <a:ahLst/>
              <a:cxnLst/>
              <a:rect r="r" b="b" t="t" l="l"/>
              <a:pathLst>
                <a:path h="6788277" w="5624703">
                  <a:moveTo>
                    <a:pt x="0" y="0"/>
                  </a:moveTo>
                  <a:lnTo>
                    <a:pt x="5624703" y="6788277"/>
                  </a:lnTo>
                  <a:lnTo>
                    <a:pt x="0" y="6788277"/>
                  </a:lnTo>
                  <a:close/>
                </a:path>
              </a:pathLst>
            </a:custGeom>
            <a:solidFill>
              <a:srgbClr val="ECEDD2">
                <a:alpha val="24314"/>
              </a:srgbClr>
            </a:solidFill>
            <a:ln w="12700">
              <a:solidFill>
                <a:srgbClr val="000000"/>
              </a:solidFill>
            </a:ln>
          </p:spPr>
        </p:sp>
      </p:grpSp>
      <p:grpSp>
        <p:nvGrpSpPr>
          <p:cNvPr name="Group 8" id="8"/>
          <p:cNvGrpSpPr/>
          <p:nvPr/>
        </p:nvGrpSpPr>
        <p:grpSpPr>
          <a:xfrm rot="0">
            <a:off x="0" y="5195783"/>
            <a:ext cx="652863" cy="5091217"/>
            <a:chOff x="0" y="0"/>
            <a:chExt cx="870483" cy="6788290"/>
          </a:xfrm>
        </p:grpSpPr>
        <p:sp>
          <p:nvSpPr>
            <p:cNvPr name="Freeform 9" id="9"/>
            <p:cNvSpPr/>
            <p:nvPr/>
          </p:nvSpPr>
          <p:spPr>
            <a:xfrm flipH="false" flipV="false" rot="0">
              <a:off x="0" y="0"/>
              <a:ext cx="870458" cy="6788277"/>
            </a:xfrm>
            <a:custGeom>
              <a:avLst/>
              <a:gdLst/>
              <a:ahLst/>
              <a:cxnLst/>
              <a:rect r="r" b="b" t="t" l="l"/>
              <a:pathLst>
                <a:path h="6788277" w="870458">
                  <a:moveTo>
                    <a:pt x="870458" y="0"/>
                  </a:moveTo>
                  <a:lnTo>
                    <a:pt x="870458" y="6788277"/>
                  </a:lnTo>
                  <a:lnTo>
                    <a:pt x="0" y="6788277"/>
                  </a:lnTo>
                  <a:lnTo>
                    <a:pt x="0" y="1046988"/>
                  </a:lnTo>
                  <a:close/>
                </a:path>
              </a:pathLst>
            </a:custGeom>
            <a:solidFill>
              <a:srgbClr val="AA2070"/>
            </a:solidFill>
            <a:ln w="12700">
              <a:solidFill>
                <a:srgbClr val="000000"/>
              </a:solidFill>
            </a:ln>
          </p:spPr>
        </p:sp>
      </p:grpSp>
      <p:grpSp>
        <p:nvGrpSpPr>
          <p:cNvPr name="Group 10" id="10"/>
          <p:cNvGrpSpPr/>
          <p:nvPr/>
        </p:nvGrpSpPr>
        <p:grpSpPr>
          <a:xfrm rot="0">
            <a:off x="1371600" y="1067962"/>
            <a:ext cx="7889396" cy="1183500"/>
            <a:chOff x="0" y="0"/>
            <a:chExt cx="10519194" cy="1578000"/>
          </a:xfrm>
        </p:grpSpPr>
        <p:sp>
          <p:nvSpPr>
            <p:cNvPr name="Freeform 11" id="11"/>
            <p:cNvSpPr/>
            <p:nvPr/>
          </p:nvSpPr>
          <p:spPr>
            <a:xfrm flipH="false" flipV="false" rot="0">
              <a:off x="0" y="0"/>
              <a:ext cx="10519200" cy="1578000"/>
            </a:xfrm>
            <a:custGeom>
              <a:avLst/>
              <a:gdLst/>
              <a:ahLst/>
              <a:cxnLst/>
              <a:rect r="r" b="b" t="t" l="l"/>
              <a:pathLst>
                <a:path h="1578000" w="10519200">
                  <a:moveTo>
                    <a:pt x="0" y="0"/>
                  </a:moveTo>
                  <a:lnTo>
                    <a:pt x="10519200" y="0"/>
                  </a:lnTo>
                  <a:lnTo>
                    <a:pt x="10519200" y="1578000"/>
                  </a:lnTo>
                  <a:lnTo>
                    <a:pt x="0" y="1578000"/>
                  </a:lnTo>
                  <a:close/>
                </a:path>
              </a:pathLst>
            </a:custGeom>
            <a:solidFill>
              <a:srgbClr val="000000">
                <a:alpha val="0"/>
              </a:srgbClr>
            </a:solidFill>
            <a:ln w="12700">
              <a:solidFill>
                <a:srgbClr val="000000"/>
              </a:solidFill>
            </a:ln>
          </p:spPr>
        </p:sp>
        <p:sp>
          <p:nvSpPr>
            <p:cNvPr name="TextBox 12" id="12"/>
            <p:cNvSpPr txBox="true"/>
            <p:nvPr/>
          </p:nvSpPr>
          <p:spPr>
            <a:xfrm>
              <a:off x="0" y="-104775"/>
              <a:ext cx="10519194" cy="1682775"/>
            </a:xfrm>
            <a:prstGeom prst="rect">
              <a:avLst/>
            </a:prstGeom>
          </p:spPr>
          <p:txBody>
            <a:bodyPr anchor="b" rtlCol="false" tIns="0" lIns="0" bIns="0" rIns="0"/>
            <a:lstStyle/>
            <a:p>
              <a:pPr algn="l">
                <a:lnSpc>
                  <a:spcPts val="6480"/>
                </a:lnSpc>
              </a:pPr>
              <a:r>
                <a:rPr lang="en-US" b="true" sz="5400">
                  <a:solidFill>
                    <a:srgbClr val="000000"/>
                  </a:solidFill>
                  <a:latin typeface="Avenir Bold"/>
                  <a:ea typeface="Avenir Bold"/>
                  <a:cs typeface="Avenir Bold"/>
                  <a:sym typeface="Avenir Bold"/>
                </a:rPr>
                <a:t>MOTIVATION</a:t>
              </a:r>
            </a:p>
          </p:txBody>
        </p:sp>
      </p:grpSp>
      <p:grpSp>
        <p:nvGrpSpPr>
          <p:cNvPr name="Group 13" id="13"/>
          <p:cNvGrpSpPr/>
          <p:nvPr/>
        </p:nvGrpSpPr>
        <p:grpSpPr>
          <a:xfrm rot="0">
            <a:off x="15657709" y="685800"/>
            <a:ext cx="1481404" cy="707403"/>
            <a:chOff x="0" y="0"/>
            <a:chExt cx="1975206" cy="943204"/>
          </a:xfrm>
        </p:grpSpPr>
        <p:sp>
          <p:nvSpPr>
            <p:cNvPr name="Freeform 14" id="14"/>
            <p:cNvSpPr/>
            <p:nvPr/>
          </p:nvSpPr>
          <p:spPr>
            <a:xfrm flipH="false" flipV="false" rot="0">
              <a:off x="0" y="0"/>
              <a:ext cx="1975200" cy="943200"/>
            </a:xfrm>
            <a:custGeom>
              <a:avLst/>
              <a:gdLst/>
              <a:ahLst/>
              <a:cxnLst/>
              <a:rect r="r" b="b" t="t" l="l"/>
              <a:pathLst>
                <a:path h="943200" w="1975200">
                  <a:moveTo>
                    <a:pt x="0" y="0"/>
                  </a:moveTo>
                  <a:lnTo>
                    <a:pt x="1975200" y="0"/>
                  </a:lnTo>
                  <a:lnTo>
                    <a:pt x="1975200" y="943200"/>
                  </a:lnTo>
                  <a:lnTo>
                    <a:pt x="0" y="943200"/>
                  </a:lnTo>
                  <a:close/>
                </a:path>
              </a:pathLst>
            </a:custGeom>
            <a:solidFill>
              <a:srgbClr val="000000">
                <a:alpha val="0"/>
              </a:srgbClr>
            </a:solidFill>
            <a:ln w="12700">
              <a:solidFill>
                <a:srgbClr val="000000"/>
              </a:solidFill>
            </a:ln>
          </p:spPr>
        </p:sp>
        <p:sp>
          <p:nvSpPr>
            <p:cNvPr name="TextBox 15" id="15"/>
            <p:cNvSpPr txBox="true"/>
            <p:nvPr/>
          </p:nvSpPr>
          <p:spPr>
            <a:xfrm>
              <a:off x="0" y="-9525"/>
              <a:ext cx="1975206" cy="952729"/>
            </a:xfrm>
            <a:prstGeom prst="rect">
              <a:avLst/>
            </a:prstGeom>
          </p:spPr>
          <p:txBody>
            <a:bodyPr anchor="ctr" rtlCol="false" tIns="0" lIns="0" bIns="0" rIns="0"/>
            <a:lstStyle/>
            <a:p>
              <a:pPr algn="r">
                <a:lnSpc>
                  <a:spcPts val="2879"/>
                </a:lnSpc>
              </a:pPr>
              <a:r>
                <a:rPr lang="en-US" sz="2400">
                  <a:solidFill>
                    <a:srgbClr val="888888"/>
                  </a:solidFill>
                  <a:latin typeface="Arial"/>
                  <a:ea typeface="Arial"/>
                  <a:cs typeface="Arial"/>
                  <a:sym typeface="Arial"/>
                </a:rPr>
                <a:t>4</a:t>
              </a:r>
            </a:p>
          </p:txBody>
        </p:sp>
      </p:grpSp>
      <p:sp>
        <p:nvSpPr>
          <p:cNvPr name="TextBox 16" id="16"/>
          <p:cNvSpPr txBox="true"/>
          <p:nvPr/>
        </p:nvSpPr>
        <p:spPr>
          <a:xfrm rot="0">
            <a:off x="1696212" y="2225554"/>
            <a:ext cx="13711428" cy="6822376"/>
          </a:xfrm>
          <a:prstGeom prst="rect">
            <a:avLst/>
          </a:prstGeom>
        </p:spPr>
        <p:txBody>
          <a:bodyPr anchor="t" rtlCol="false" tIns="0" lIns="0" bIns="0" rIns="0">
            <a:spAutoFit/>
          </a:bodyPr>
          <a:lstStyle/>
          <a:p>
            <a:pPr algn="just" marL="1307508" indent="-435836" lvl="2">
              <a:lnSpc>
                <a:spcPts val="7288"/>
              </a:lnSpc>
              <a:buFont typeface="Arial"/>
              <a:buChar char="⚬"/>
            </a:pPr>
            <a:r>
              <a:rPr lang="en-US" sz="3600">
                <a:solidFill>
                  <a:srgbClr val="000000"/>
                </a:solidFill>
                <a:latin typeface="Times New Roman"/>
                <a:ea typeface="Times New Roman"/>
                <a:cs typeface="Times New Roman"/>
                <a:sym typeface="Times New Roman"/>
              </a:rPr>
              <a:t>High carbon emissions from travel – Needs eco-friendly planning.</a:t>
            </a:r>
          </a:p>
          <a:p>
            <a:pPr algn="just" marL="1307508" indent="-435836" lvl="2">
              <a:lnSpc>
                <a:spcPts val="7288"/>
              </a:lnSpc>
              <a:buFont typeface="Arial"/>
              <a:buChar char="⚬"/>
            </a:pPr>
            <a:r>
              <a:rPr lang="en-US" sz="3600">
                <a:solidFill>
                  <a:srgbClr val="000000"/>
                </a:solidFill>
                <a:latin typeface="Times New Roman"/>
                <a:ea typeface="Times New Roman"/>
                <a:cs typeface="Times New Roman"/>
                <a:sym typeface="Times New Roman"/>
              </a:rPr>
              <a:t>Lack of smart, real-time itineraries – Most plans ignore crowds and sustainability.</a:t>
            </a:r>
          </a:p>
          <a:p>
            <a:pPr algn="just" marL="1307508" indent="-435836" lvl="2">
              <a:lnSpc>
                <a:spcPts val="7288"/>
              </a:lnSpc>
              <a:buFont typeface="Arial"/>
              <a:buChar char="⚬"/>
            </a:pPr>
            <a:r>
              <a:rPr lang="en-US" sz="3600">
                <a:solidFill>
                  <a:srgbClr val="000000"/>
                </a:solidFill>
                <a:latin typeface="Times New Roman"/>
                <a:ea typeface="Times New Roman"/>
                <a:cs typeface="Times New Roman"/>
                <a:sym typeface="Times New Roman"/>
              </a:rPr>
              <a:t>Missed local eco friendly experiences – Tourists need better cultural immersion.</a:t>
            </a:r>
          </a:p>
          <a:p>
            <a:pPr algn="just" marL="1307508" indent="-435836" lvl="2">
              <a:lnSpc>
                <a:spcPts val="7288"/>
              </a:lnSpc>
              <a:buFont typeface="Arial"/>
              <a:buChar char="⚬"/>
            </a:pPr>
            <a:r>
              <a:rPr lang="en-US" sz="3600">
                <a:solidFill>
                  <a:srgbClr val="000000"/>
                </a:solidFill>
                <a:latin typeface="Times New Roman"/>
                <a:ea typeface="Times New Roman"/>
                <a:cs typeface="Times New Roman"/>
                <a:sym typeface="Times New Roman"/>
              </a:rPr>
              <a:t>Need for responsible tourism – AI can guide smarter, greener travel.</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 y="0"/>
            <a:ext cx="2325843" cy="3818077"/>
            <a:chOff x="0" y="0"/>
            <a:chExt cx="3101124" cy="5090770"/>
          </a:xfrm>
        </p:grpSpPr>
        <p:sp>
          <p:nvSpPr>
            <p:cNvPr name="Freeform 3" id="3"/>
            <p:cNvSpPr/>
            <p:nvPr/>
          </p:nvSpPr>
          <p:spPr>
            <a:xfrm flipH="false" flipV="false" rot="0">
              <a:off x="0" y="0"/>
              <a:ext cx="3101086" cy="5090795"/>
            </a:xfrm>
            <a:custGeom>
              <a:avLst/>
              <a:gdLst/>
              <a:ahLst/>
              <a:cxnLst/>
              <a:rect r="r" b="b" t="t" l="l"/>
              <a:pathLst>
                <a:path h="5090795" w="3101086">
                  <a:moveTo>
                    <a:pt x="1366266" y="0"/>
                  </a:moveTo>
                  <a:lnTo>
                    <a:pt x="3101086" y="0"/>
                  </a:lnTo>
                  <a:lnTo>
                    <a:pt x="3101086" y="14478"/>
                  </a:lnTo>
                  <a:cubicBezTo>
                    <a:pt x="3101086" y="2045081"/>
                    <a:pt x="2040890" y="3827145"/>
                    <a:pt x="443738" y="4837430"/>
                  </a:cubicBezTo>
                  <a:lnTo>
                    <a:pt x="0" y="5090795"/>
                  </a:lnTo>
                  <a:lnTo>
                    <a:pt x="0" y="3001010"/>
                  </a:lnTo>
                  <a:lnTo>
                    <a:pt x="205105" y="2811018"/>
                  </a:lnTo>
                  <a:cubicBezTo>
                    <a:pt x="833120" y="2178558"/>
                    <a:pt x="1251331" y="1336167"/>
                    <a:pt x="1346073" y="400812"/>
                  </a:cubicBezTo>
                  <a:close/>
                </a:path>
              </a:pathLst>
            </a:custGeom>
            <a:solidFill>
              <a:srgbClr val="AA2070"/>
            </a:solidFill>
            <a:ln w="12700">
              <a:solidFill>
                <a:srgbClr val="000000"/>
              </a:solidFill>
            </a:ln>
          </p:spPr>
        </p:sp>
      </p:grpSp>
      <p:grpSp>
        <p:nvGrpSpPr>
          <p:cNvPr name="Group 4" id="4"/>
          <p:cNvGrpSpPr/>
          <p:nvPr/>
        </p:nvGrpSpPr>
        <p:grpSpPr>
          <a:xfrm rot="0">
            <a:off x="1" y="-19050"/>
            <a:ext cx="1024109" cy="2250072"/>
            <a:chOff x="0" y="0"/>
            <a:chExt cx="1365479" cy="3000096"/>
          </a:xfrm>
        </p:grpSpPr>
        <p:sp>
          <p:nvSpPr>
            <p:cNvPr name="Freeform 5" id="5"/>
            <p:cNvSpPr/>
            <p:nvPr/>
          </p:nvSpPr>
          <p:spPr>
            <a:xfrm flipH="false" flipV="false" rot="0">
              <a:off x="0" y="0"/>
              <a:ext cx="1365504" cy="3000121"/>
            </a:xfrm>
            <a:custGeom>
              <a:avLst/>
              <a:gdLst/>
              <a:ahLst/>
              <a:cxnLst/>
              <a:rect r="r" b="b" t="t" l="l"/>
              <a:pathLst>
                <a:path h="3000121" w="1365504">
                  <a:moveTo>
                    <a:pt x="0" y="0"/>
                  </a:moveTo>
                  <a:lnTo>
                    <a:pt x="1365504" y="0"/>
                  </a:lnTo>
                  <a:lnTo>
                    <a:pt x="1345311" y="400685"/>
                  </a:lnTo>
                  <a:cubicBezTo>
                    <a:pt x="1250569" y="1335913"/>
                    <a:pt x="832485" y="2178177"/>
                    <a:pt x="204597" y="2810510"/>
                  </a:cubicBezTo>
                  <a:lnTo>
                    <a:pt x="0" y="3000121"/>
                  </a:lnTo>
                  <a:close/>
                </a:path>
              </a:pathLst>
            </a:custGeom>
            <a:solidFill>
              <a:srgbClr val="224E7F"/>
            </a:solidFill>
            <a:ln w="12700">
              <a:solidFill>
                <a:srgbClr val="000000"/>
              </a:solidFill>
            </a:ln>
          </p:spPr>
        </p:sp>
      </p:grpSp>
      <p:grpSp>
        <p:nvGrpSpPr>
          <p:cNvPr name="Group 6" id="6"/>
          <p:cNvGrpSpPr/>
          <p:nvPr/>
        </p:nvGrpSpPr>
        <p:grpSpPr>
          <a:xfrm rot="0">
            <a:off x="255670" y="471287"/>
            <a:ext cx="1162536" cy="1162536"/>
            <a:chOff x="0" y="0"/>
            <a:chExt cx="1550048" cy="1550048"/>
          </a:xfrm>
        </p:grpSpPr>
        <p:sp>
          <p:nvSpPr>
            <p:cNvPr name="Freeform 7" id="7"/>
            <p:cNvSpPr/>
            <p:nvPr/>
          </p:nvSpPr>
          <p:spPr>
            <a:xfrm flipH="false" flipV="false" rot="0">
              <a:off x="0" y="0"/>
              <a:ext cx="1550162" cy="1550162"/>
            </a:xfrm>
            <a:custGeom>
              <a:avLst/>
              <a:gdLst/>
              <a:ahLst/>
              <a:cxnLst/>
              <a:rect r="r" b="b" t="t" l="l"/>
              <a:pathLst>
                <a:path h="1550162" w="1550162">
                  <a:moveTo>
                    <a:pt x="775081" y="1550035"/>
                  </a:moveTo>
                  <a:cubicBezTo>
                    <a:pt x="1203071" y="1550035"/>
                    <a:pt x="1550162" y="1203071"/>
                    <a:pt x="1550162" y="774954"/>
                  </a:cubicBezTo>
                  <a:cubicBezTo>
                    <a:pt x="1550162" y="346837"/>
                    <a:pt x="1203071" y="0"/>
                    <a:pt x="775081" y="0"/>
                  </a:cubicBezTo>
                  <a:cubicBezTo>
                    <a:pt x="347091" y="0"/>
                    <a:pt x="0" y="346964"/>
                    <a:pt x="0" y="775081"/>
                  </a:cubicBezTo>
                  <a:cubicBezTo>
                    <a:pt x="0" y="1203198"/>
                    <a:pt x="346964" y="1550162"/>
                    <a:pt x="775081" y="1550162"/>
                  </a:cubicBezTo>
                  <a:close/>
                </a:path>
              </a:pathLst>
            </a:custGeom>
            <a:solidFill>
              <a:srgbClr val="958EA2"/>
            </a:solidFill>
            <a:ln w="12700">
              <a:solidFill>
                <a:srgbClr val="000000"/>
              </a:solidFill>
            </a:ln>
          </p:spPr>
        </p:sp>
      </p:grpSp>
      <p:grpSp>
        <p:nvGrpSpPr>
          <p:cNvPr name="Group 8" id="8"/>
          <p:cNvGrpSpPr/>
          <p:nvPr/>
        </p:nvGrpSpPr>
        <p:grpSpPr>
          <a:xfrm rot="0">
            <a:off x="2347560" y="303886"/>
            <a:ext cx="15768904" cy="1471051"/>
            <a:chOff x="0" y="0"/>
            <a:chExt cx="21025206" cy="1961401"/>
          </a:xfrm>
        </p:grpSpPr>
        <p:sp>
          <p:nvSpPr>
            <p:cNvPr name="Freeform 9" id="9"/>
            <p:cNvSpPr/>
            <p:nvPr/>
          </p:nvSpPr>
          <p:spPr>
            <a:xfrm flipH="false" flipV="false" rot="0">
              <a:off x="0" y="0"/>
              <a:ext cx="21025200" cy="1961400"/>
            </a:xfrm>
            <a:custGeom>
              <a:avLst/>
              <a:gdLst/>
              <a:ahLst/>
              <a:cxnLst/>
              <a:rect r="r" b="b" t="t" l="l"/>
              <a:pathLst>
                <a:path h="1961400" w="21025200">
                  <a:moveTo>
                    <a:pt x="0" y="0"/>
                  </a:moveTo>
                  <a:lnTo>
                    <a:pt x="21025200" y="0"/>
                  </a:lnTo>
                  <a:lnTo>
                    <a:pt x="21025200" y="1961400"/>
                  </a:lnTo>
                  <a:lnTo>
                    <a:pt x="0" y="1961400"/>
                  </a:lnTo>
                  <a:close/>
                </a:path>
              </a:pathLst>
            </a:custGeom>
            <a:solidFill>
              <a:srgbClr val="000000">
                <a:alpha val="0"/>
              </a:srgbClr>
            </a:solidFill>
            <a:ln w="12700">
              <a:solidFill>
                <a:srgbClr val="000000"/>
              </a:solidFill>
            </a:ln>
          </p:spPr>
        </p:sp>
        <p:sp>
          <p:nvSpPr>
            <p:cNvPr name="TextBox 10" id="10"/>
            <p:cNvSpPr txBox="true"/>
            <p:nvPr/>
          </p:nvSpPr>
          <p:spPr>
            <a:xfrm>
              <a:off x="0" y="-95250"/>
              <a:ext cx="21025206" cy="2056651"/>
            </a:xfrm>
            <a:prstGeom prst="rect">
              <a:avLst/>
            </a:prstGeom>
          </p:spPr>
          <p:txBody>
            <a:bodyPr anchor="b" rtlCol="false" tIns="0" lIns="0" bIns="0" rIns="0"/>
            <a:lstStyle/>
            <a:p>
              <a:pPr algn="l">
                <a:lnSpc>
                  <a:spcPts val="5759"/>
                </a:lnSpc>
              </a:pPr>
              <a:r>
                <a:rPr lang="en-US" b="true" sz="4800">
                  <a:solidFill>
                    <a:srgbClr val="000000"/>
                  </a:solidFill>
                  <a:latin typeface="Avenir Bold"/>
                  <a:ea typeface="Avenir Bold"/>
                  <a:cs typeface="Avenir Bold"/>
                  <a:sym typeface="Avenir Bold"/>
                </a:rPr>
                <a:t>LITERATURE REVIEW</a:t>
              </a:r>
            </a:p>
          </p:txBody>
        </p:sp>
      </p:grpSp>
      <p:grpSp>
        <p:nvGrpSpPr>
          <p:cNvPr name="Group 11" id="11"/>
          <p:cNvGrpSpPr/>
          <p:nvPr/>
        </p:nvGrpSpPr>
        <p:grpSpPr>
          <a:xfrm rot="0">
            <a:off x="15537656" y="685800"/>
            <a:ext cx="1601381" cy="707231"/>
            <a:chOff x="0" y="0"/>
            <a:chExt cx="2135175" cy="942975"/>
          </a:xfrm>
        </p:grpSpPr>
        <p:sp>
          <p:nvSpPr>
            <p:cNvPr name="Freeform 12" id="12"/>
            <p:cNvSpPr/>
            <p:nvPr/>
          </p:nvSpPr>
          <p:spPr>
            <a:xfrm flipH="false" flipV="false" rot="0">
              <a:off x="0" y="0"/>
              <a:ext cx="2135178" cy="942978"/>
            </a:xfrm>
            <a:custGeom>
              <a:avLst/>
              <a:gdLst/>
              <a:ahLst/>
              <a:cxnLst/>
              <a:rect r="r" b="b" t="t" l="l"/>
              <a:pathLst>
                <a:path h="942978" w="2135178">
                  <a:moveTo>
                    <a:pt x="0" y="0"/>
                  </a:moveTo>
                  <a:lnTo>
                    <a:pt x="2135178" y="0"/>
                  </a:lnTo>
                  <a:lnTo>
                    <a:pt x="2135178" y="942978"/>
                  </a:lnTo>
                  <a:lnTo>
                    <a:pt x="0" y="942978"/>
                  </a:lnTo>
                  <a:close/>
                </a:path>
              </a:pathLst>
            </a:custGeom>
            <a:solidFill>
              <a:srgbClr val="000000">
                <a:alpha val="0"/>
              </a:srgbClr>
            </a:solidFill>
            <a:ln w="12700">
              <a:solidFill>
                <a:srgbClr val="000000"/>
              </a:solidFill>
            </a:ln>
          </p:spPr>
        </p:sp>
        <p:sp>
          <p:nvSpPr>
            <p:cNvPr name="TextBox 13" id="13"/>
            <p:cNvSpPr txBox="true"/>
            <p:nvPr/>
          </p:nvSpPr>
          <p:spPr>
            <a:xfrm>
              <a:off x="0" y="-9525"/>
              <a:ext cx="2135175" cy="952500"/>
            </a:xfrm>
            <a:prstGeom prst="rect">
              <a:avLst/>
            </a:prstGeom>
          </p:spPr>
          <p:txBody>
            <a:bodyPr anchor="ctr" rtlCol="false" tIns="0" lIns="0" bIns="0" rIns="0"/>
            <a:lstStyle/>
            <a:p>
              <a:pPr algn="r">
                <a:lnSpc>
                  <a:spcPts val="2879"/>
                </a:lnSpc>
              </a:pPr>
              <a:r>
                <a:rPr lang="en-US" sz="2400">
                  <a:solidFill>
                    <a:srgbClr val="958EA2"/>
                  </a:solidFill>
                  <a:latin typeface="Arial"/>
                  <a:ea typeface="Arial"/>
                  <a:cs typeface="Arial"/>
                  <a:sym typeface="Arial"/>
                </a:rPr>
                <a:t>5</a:t>
              </a:r>
            </a:p>
          </p:txBody>
        </p:sp>
      </p:grpSp>
      <p:graphicFrame>
        <p:nvGraphicFramePr>
          <p:cNvPr name="Table 14" id="14"/>
          <p:cNvGraphicFramePr>
            <a:graphicFrameLocks noGrp="true"/>
          </p:cNvGraphicFramePr>
          <p:nvPr/>
        </p:nvGraphicFramePr>
        <p:xfrm>
          <a:off x="1162923" y="2068850"/>
          <a:ext cx="16211550" cy="7754938"/>
        </p:xfrm>
        <a:graphic>
          <a:graphicData uri="http://schemas.openxmlformats.org/drawingml/2006/table">
            <a:tbl>
              <a:tblPr/>
              <a:tblGrid>
                <a:gridCol w="3494385"/>
                <a:gridCol w="1621439"/>
                <a:gridCol w="4038745"/>
                <a:gridCol w="3516494"/>
                <a:gridCol w="3540486"/>
              </a:tblGrid>
              <a:tr h="1154179">
                <a:tc>
                  <a:txBody>
                    <a:bodyPr anchor="t" rtlCol="false"/>
                    <a:lstStyle/>
                    <a:p>
                      <a:pPr algn="ctr">
                        <a:lnSpc>
                          <a:spcPts val="3240"/>
                        </a:lnSpc>
                        <a:defRPr/>
                      </a:pPr>
                      <a:r>
                        <a:rPr lang="en-US" b="true" sz="2700">
                          <a:solidFill>
                            <a:srgbClr val="000000"/>
                          </a:solidFill>
                          <a:latin typeface="Times New Roman Bold"/>
                          <a:ea typeface="Times New Roman Bold"/>
                          <a:cs typeface="Times New Roman Bold"/>
                          <a:sym typeface="Times New Roman Bold"/>
                        </a:rPr>
                        <a:t>Paper Title</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12700">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ctr">
                        <a:lnSpc>
                          <a:spcPts val="3240"/>
                        </a:lnSpc>
                        <a:defRPr/>
                      </a:pPr>
                      <a:r>
                        <a:rPr lang="en-US" b="true" sz="2700">
                          <a:solidFill>
                            <a:srgbClr val="000000"/>
                          </a:solidFill>
                          <a:latin typeface="Times New Roman Bold"/>
                          <a:ea typeface="Times New Roman Bold"/>
                          <a:cs typeface="Times New Roman Bold"/>
                          <a:sym typeface="Times New Roman Bold"/>
                        </a:rPr>
                        <a:t>Author &amp; year</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12700">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ctr">
                        <a:lnSpc>
                          <a:spcPts val="3240"/>
                        </a:lnSpc>
                        <a:defRPr/>
                      </a:pPr>
                      <a:r>
                        <a:rPr lang="en-US" b="true" sz="2700">
                          <a:solidFill>
                            <a:srgbClr val="000000"/>
                          </a:solidFill>
                          <a:latin typeface="Times New Roman Bold"/>
                          <a:ea typeface="Times New Roman Bold"/>
                          <a:cs typeface="Times New Roman Bold"/>
                          <a:sym typeface="Times New Roman Bold"/>
                        </a:rPr>
                        <a:t>Methodology</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12700">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ctr">
                        <a:lnSpc>
                          <a:spcPts val="3240"/>
                        </a:lnSpc>
                        <a:defRPr/>
                      </a:pPr>
                      <a:r>
                        <a:rPr lang="en-US" b="true" sz="2700">
                          <a:solidFill>
                            <a:srgbClr val="000000"/>
                          </a:solidFill>
                          <a:latin typeface="Times New Roman Bold"/>
                          <a:ea typeface="Times New Roman Bold"/>
                          <a:cs typeface="Times New Roman Bold"/>
                          <a:sym typeface="Times New Roman Bold"/>
                        </a:rPr>
                        <a:t>Inference</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12700">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ctr">
                        <a:lnSpc>
                          <a:spcPts val="3240"/>
                        </a:lnSpc>
                        <a:defRPr/>
                      </a:pPr>
                      <a:r>
                        <a:rPr lang="en-US" b="true" sz="2700">
                          <a:solidFill>
                            <a:srgbClr val="000000"/>
                          </a:solidFill>
                          <a:latin typeface="Times New Roman Bold"/>
                          <a:ea typeface="Times New Roman Bold"/>
                          <a:cs typeface="Times New Roman Bold"/>
                          <a:sym typeface="Times New Roman Bold"/>
                        </a:rPr>
                        <a:t>limitations</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12700">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r>
              <a:tr h="1640651">
                <a:tc>
                  <a:txBody>
                    <a:bodyPr anchor="t" rtlCol="false"/>
                    <a:lstStyle/>
                    <a:p>
                      <a:pPr algn="just">
                        <a:lnSpc>
                          <a:spcPts val="1800"/>
                        </a:lnSpc>
                        <a:defRPr/>
                      </a:pPr>
                      <a:r>
                        <a:rPr lang="en-US" sz="1500">
                          <a:solidFill>
                            <a:srgbClr val="000000"/>
                          </a:solidFill>
                          <a:latin typeface="Times New Roman"/>
                          <a:ea typeface="Times New Roman"/>
                          <a:cs typeface="Times New Roman"/>
                          <a:sym typeface="Times New Roman"/>
                        </a:rPr>
                        <a:t>Metaverse 3C framework Concept, Components, and Challenges in the travel and tourism domain</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l">
                        <a:lnSpc>
                          <a:spcPts val="1800"/>
                        </a:lnSpc>
                        <a:defRPr/>
                      </a:pPr>
                      <a:r>
                        <a:rPr lang="en-US" sz="1500">
                          <a:solidFill>
                            <a:srgbClr val="000000"/>
                          </a:solidFill>
                          <a:latin typeface="Times New Roman"/>
                          <a:ea typeface="Times New Roman"/>
                          <a:cs typeface="Times New Roman"/>
                          <a:sym typeface="Times New Roman"/>
                        </a:rPr>
                        <a:t>Poonkuzhali, 2023</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800"/>
                        </a:lnSpc>
                        <a:defRPr/>
                      </a:pPr>
                      <a:r>
                        <a:rPr lang="en-US" sz="1500">
                          <a:solidFill>
                            <a:srgbClr val="000000"/>
                          </a:solidFill>
                          <a:latin typeface="Times New Roman"/>
                          <a:ea typeface="Times New Roman"/>
                          <a:cs typeface="Times New Roman"/>
                          <a:sym typeface="Times New Roman"/>
                        </a:rPr>
                        <a:t>The study aimed to interpret the metaverse’s role in creating immersive virtual tourism experiences through technologies such as VR, AR, and blockchain. A conceptual and analytical methodology identified core technical components.</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800"/>
                        </a:lnSpc>
                        <a:defRPr/>
                      </a:pPr>
                      <a:r>
                        <a:rPr lang="en-US" sz="1500">
                          <a:solidFill>
                            <a:srgbClr val="000000"/>
                          </a:solidFill>
                          <a:latin typeface="Times New Roman"/>
                          <a:ea typeface="Times New Roman"/>
                          <a:cs typeface="Times New Roman"/>
                          <a:sym typeface="Times New Roman"/>
                        </a:rPr>
                        <a:t>Results highlighted the framework’s capacity to enhance user immersion and interactivity, yet high infrastructural cost and interoperability issues limit adoption.</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800"/>
                        </a:lnSpc>
                        <a:defRPr/>
                      </a:pPr>
                      <a:r>
                        <a:rPr lang="en-US" sz="1500">
                          <a:solidFill>
                            <a:srgbClr val="000000"/>
                          </a:solidFill>
                          <a:latin typeface="Times New Roman"/>
                          <a:ea typeface="Times New Roman"/>
                          <a:cs typeface="Times New Roman"/>
                          <a:sym typeface="Times New Roman"/>
                        </a:rPr>
                        <a:t>Prototype stage with limited field validation and depends on availability/quality of real-time context data (queues, sensor feeds)</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r>
              <a:tr h="1411723">
                <a:tc>
                  <a:txBody>
                    <a:bodyPr anchor="t" rtlCol="false"/>
                    <a:lstStyle/>
                    <a:p>
                      <a:pPr algn="just">
                        <a:lnSpc>
                          <a:spcPts val="1800"/>
                        </a:lnSpc>
                        <a:defRPr/>
                      </a:pPr>
                      <a:r>
                        <a:rPr lang="en-US" sz="1500">
                          <a:solidFill>
                            <a:srgbClr val="000000"/>
                          </a:solidFill>
                          <a:latin typeface="Times New Roman"/>
                          <a:ea typeface="Times New Roman"/>
                          <a:cs typeface="Times New Roman"/>
                          <a:sym typeface="Times New Roman"/>
                        </a:rPr>
                        <a:t>Sentiment Classification of Indian Tourist Reviews Using Deep Learning Techniques</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l">
                        <a:lnSpc>
                          <a:spcPts val="1800"/>
                        </a:lnSpc>
                        <a:defRPr/>
                      </a:pPr>
                      <a:r>
                        <a:rPr lang="en-US" sz="1500">
                          <a:solidFill>
                            <a:srgbClr val="000000"/>
                          </a:solidFill>
                          <a:latin typeface="Times New Roman"/>
                          <a:ea typeface="Times New Roman"/>
                          <a:cs typeface="Times New Roman"/>
                          <a:sym typeface="Times New Roman"/>
                        </a:rPr>
                        <a:t>G. Ratnakanth and</a:t>
                      </a:r>
                      <a:endParaRPr lang="en-US" sz="1100"/>
                    </a:p>
                    <a:p>
                      <a:pPr algn="l">
                        <a:lnSpc>
                          <a:spcPts val="1800"/>
                        </a:lnSpc>
                      </a:pPr>
                      <a:r>
                        <a:rPr lang="en-US" sz="1500">
                          <a:solidFill>
                            <a:srgbClr val="000000"/>
                          </a:solidFill>
                          <a:latin typeface="Times New Roman"/>
                          <a:ea typeface="Times New Roman"/>
                          <a:cs typeface="Times New Roman"/>
                          <a:sym typeface="Times New Roman"/>
                        </a:rPr>
                        <a:t> S. Poonkuzhali, 2023</a:t>
                      </a:r>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800"/>
                        </a:lnSpc>
                        <a:defRPr/>
                      </a:pPr>
                      <a:r>
                        <a:rPr lang="en-US" sz="1500">
                          <a:solidFill>
                            <a:srgbClr val="000000"/>
                          </a:solidFill>
                          <a:latin typeface="Times New Roman"/>
                          <a:ea typeface="Times New Roman"/>
                          <a:cs typeface="Times New Roman"/>
                          <a:sym typeface="Times New Roman"/>
                        </a:rPr>
                        <a:t>Sentiment Analysis accuracy was improved for multilingual tourism data through hybrid CNN-LSTM networks</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800"/>
                        </a:lnSpc>
                        <a:defRPr/>
                      </a:pPr>
                      <a:r>
                        <a:rPr lang="en-US" sz="1500">
                          <a:solidFill>
                            <a:srgbClr val="000000"/>
                          </a:solidFill>
                          <a:latin typeface="Times New Roman"/>
                          <a:ea typeface="Times New Roman"/>
                          <a:cs typeface="Times New Roman"/>
                          <a:sym typeface="Times New Roman"/>
                        </a:rPr>
                        <a:t>The model produced higher classification precision compared to traditional text-based approaches. The study contributes to developing culturally adaptive models for tourism analytics.</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800"/>
                        </a:lnSpc>
                        <a:defRPr/>
                      </a:pPr>
                      <a:r>
                        <a:rPr lang="en-US" sz="1500">
                          <a:solidFill>
                            <a:srgbClr val="000000"/>
                          </a:solidFill>
                          <a:latin typeface="Times New Roman"/>
                          <a:ea typeface="Times New Roman"/>
                          <a:cs typeface="Times New Roman"/>
                          <a:sym typeface="Times New Roman"/>
                        </a:rPr>
                        <a:t>Limited linguistic resources and data imbalance were observed; thus, the model lacked in resources</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r>
              <a:tr h="1182795">
                <a:tc>
                  <a:txBody>
                    <a:bodyPr anchor="t" rtlCol="false"/>
                    <a:lstStyle/>
                    <a:p>
                      <a:pPr algn="just">
                        <a:lnSpc>
                          <a:spcPts val="1800"/>
                        </a:lnSpc>
                        <a:defRPr/>
                      </a:pPr>
                      <a:r>
                        <a:rPr lang="en-US" sz="1500">
                          <a:solidFill>
                            <a:srgbClr val="000000"/>
                          </a:solidFill>
                          <a:latin typeface="Times New Roman"/>
                          <a:ea typeface="Times New Roman"/>
                          <a:cs typeface="Times New Roman"/>
                          <a:sym typeface="Times New Roman"/>
                        </a:rPr>
                        <a:t>Indian Tourist Recommendation System Using Collaborative Filtering and Deep Autoencoder.</a:t>
                      </a:r>
                      <a:endParaRPr lang="en-US" sz="1100"/>
                    </a:p>
                    <a:p>
                      <a:pPr algn="just">
                        <a:lnSpc>
                          <a:spcPts val="1800"/>
                        </a:lnSpc>
                      </a:pPr>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l">
                        <a:lnSpc>
                          <a:spcPts val="1800"/>
                        </a:lnSpc>
                        <a:defRPr/>
                      </a:pPr>
                      <a:r>
                        <a:rPr lang="en-US" sz="1500">
                          <a:solidFill>
                            <a:srgbClr val="000000"/>
                          </a:solidFill>
                          <a:latin typeface="Times New Roman"/>
                          <a:ea typeface="Times New Roman"/>
                          <a:cs typeface="Times New Roman"/>
                          <a:sym typeface="Times New Roman"/>
                        </a:rPr>
                        <a:t>G.RatnaKanth and S.Poonkuzhal, 2023</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800"/>
                        </a:lnSpc>
                        <a:defRPr/>
                      </a:pPr>
                      <a:r>
                        <a:rPr lang="en-US" sz="1500">
                          <a:solidFill>
                            <a:srgbClr val="000000"/>
                          </a:solidFill>
                          <a:latin typeface="Times New Roman"/>
                          <a:ea typeface="Times New Roman"/>
                          <a:cs typeface="Times New Roman"/>
                          <a:sym typeface="Times New Roman"/>
                        </a:rPr>
                        <a:t>The approach extracted latent relations between visitors and destinations from historical datasets. Results revealed higher recommendation accuracy and adaptability to dynamic trends.</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800"/>
                        </a:lnSpc>
                        <a:defRPr/>
                      </a:pPr>
                      <a:r>
                        <a:rPr lang="en-US" sz="1500">
                          <a:solidFill>
                            <a:srgbClr val="000000"/>
                          </a:solidFill>
                          <a:latin typeface="Times New Roman"/>
                          <a:ea typeface="Times New Roman"/>
                          <a:cs typeface="Times New Roman"/>
                          <a:sym typeface="Times New Roman"/>
                        </a:rPr>
                        <a:t>Results showed higher recommendation and adaptability to dynamic trends when compared with standard matrix factorization.</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800"/>
                        </a:lnSpc>
                        <a:defRPr/>
                      </a:pPr>
                      <a:r>
                        <a:rPr lang="en-US" sz="1500">
                          <a:solidFill>
                            <a:srgbClr val="000000"/>
                          </a:solidFill>
                          <a:latin typeface="Times New Roman"/>
                          <a:ea typeface="Times New Roman"/>
                          <a:cs typeface="Times New Roman"/>
                          <a:sym typeface="Times New Roman"/>
                        </a:rPr>
                        <a:t>Cold-Start problems and sparse user data were constraints. It only offers regional tourism recommendations</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r>
              <a:tr h="1182795">
                <a:tc>
                  <a:txBody>
                    <a:bodyPr anchor="t" rtlCol="false"/>
                    <a:lstStyle/>
                    <a:p>
                      <a:pPr algn="just">
                        <a:lnSpc>
                          <a:spcPts val="1800"/>
                        </a:lnSpc>
                        <a:defRPr/>
                      </a:pPr>
                      <a:r>
                        <a:rPr lang="en-US" sz="1500">
                          <a:solidFill>
                            <a:srgbClr val="000000"/>
                          </a:solidFill>
                          <a:latin typeface="Times New Roman"/>
                          <a:ea typeface="Times New Roman"/>
                          <a:cs typeface="Times New Roman"/>
                          <a:sym typeface="Times New Roman"/>
                        </a:rPr>
                        <a:t>Agent-Based Modelling for Sustainable Tourism</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l">
                        <a:lnSpc>
                          <a:spcPts val="1800"/>
                        </a:lnSpc>
                        <a:defRPr/>
                      </a:pPr>
                      <a:r>
                        <a:rPr lang="en-US" sz="1500">
                          <a:solidFill>
                            <a:srgbClr val="000000"/>
                          </a:solidFill>
                          <a:latin typeface="Times New Roman"/>
                          <a:ea typeface="Times New Roman"/>
                          <a:cs typeface="Times New Roman"/>
                          <a:sym typeface="Times New Roman"/>
                        </a:rPr>
                        <a:t>Stefanie Wallinger, 2022</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800"/>
                        </a:lnSpc>
                        <a:defRPr/>
                      </a:pPr>
                      <a:r>
                        <a:rPr lang="en-US" sz="1500">
                          <a:solidFill>
                            <a:srgbClr val="000000"/>
                          </a:solidFill>
                          <a:latin typeface="Times New Roman"/>
                          <a:ea typeface="Times New Roman"/>
                          <a:cs typeface="Times New Roman"/>
                          <a:sym typeface="Times New Roman"/>
                        </a:rPr>
                        <a:t>Survey + case studies demonstrating agent-based models (ABM) to simulate visitor flows, stakeholder behaviors, and policy interventions at destinations.</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800"/>
                        </a:lnSpc>
                        <a:defRPr/>
                      </a:pPr>
                      <a:r>
                        <a:rPr lang="en-US" sz="1500">
                          <a:solidFill>
                            <a:srgbClr val="000000"/>
                          </a:solidFill>
                          <a:latin typeface="Times New Roman"/>
                          <a:ea typeface="Times New Roman"/>
                          <a:cs typeface="Times New Roman"/>
                          <a:sym typeface="Times New Roman"/>
                        </a:rPr>
                        <a:t>ABM is effective for exploring emergent crowding patterns and testing management interventions (time-slots, capacity limits, alternative routing).</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800"/>
                        </a:lnSpc>
                        <a:defRPr/>
                      </a:pPr>
                      <a:r>
                        <a:rPr lang="en-US" sz="1500">
                          <a:solidFill>
                            <a:srgbClr val="000000"/>
                          </a:solidFill>
                          <a:latin typeface="Times New Roman"/>
                          <a:ea typeface="Times New Roman"/>
                          <a:cs typeface="Times New Roman"/>
                          <a:sym typeface="Times New Roman"/>
                        </a:rPr>
                        <a:t>ABM requires careful calibration and detailed local data; transferability between sites is limited without re-parameterization.</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r>
              <a:tr h="1182795">
                <a:tc>
                  <a:txBody>
                    <a:bodyPr anchor="t" rtlCol="false"/>
                    <a:lstStyle/>
                    <a:p>
                      <a:pPr algn="just">
                        <a:lnSpc>
                          <a:spcPts val="1800"/>
                        </a:lnSpc>
                        <a:defRPr/>
                      </a:pPr>
                      <a:r>
                        <a:rPr lang="en-US" sz="1500">
                          <a:solidFill>
                            <a:srgbClr val="000000"/>
                          </a:solidFill>
                          <a:latin typeface="Times New Roman"/>
                          <a:ea typeface="Times New Roman"/>
                          <a:cs typeface="Times New Roman"/>
                          <a:sym typeface="Times New Roman"/>
                        </a:rPr>
                        <a:t>]survey on personalized itinerary recommendation: From optimisation to deep learning</a:t>
                      </a:r>
                      <a:endParaRPr lang="en-US" sz="1100"/>
                    </a:p>
                    <a:p>
                      <a:pPr algn="just">
                        <a:lnSpc>
                          <a:spcPts val="1800"/>
                        </a:lnSpc>
                      </a:pPr>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l">
                        <a:lnSpc>
                          <a:spcPts val="1800"/>
                        </a:lnSpc>
                        <a:defRPr/>
                      </a:pPr>
                      <a:r>
                        <a:rPr lang="en-US" sz="1500">
                          <a:solidFill>
                            <a:srgbClr val="000000"/>
                          </a:solidFill>
                          <a:latin typeface="Times New Roman"/>
                          <a:ea typeface="Times New Roman"/>
                          <a:cs typeface="Times New Roman"/>
                          <a:sym typeface="Times New Roman"/>
                        </a:rPr>
                        <a:t>Sajal Halder, 2023</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800"/>
                        </a:lnSpc>
                        <a:defRPr/>
                      </a:pPr>
                      <a:r>
                        <a:rPr lang="en-US" sz="1500">
                          <a:solidFill>
                            <a:srgbClr val="000000"/>
                          </a:solidFill>
                          <a:latin typeface="Times New Roman"/>
                          <a:ea typeface="Times New Roman"/>
                          <a:cs typeface="Times New Roman"/>
                          <a:sym typeface="Times New Roman"/>
                        </a:rPr>
                        <a:t>Systematic survey of POI/itinerary recommendation techniques — sequence modeling, constraint solving, hybrid knowledge-based + ML approaches.</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800"/>
                        </a:lnSpc>
                        <a:defRPr/>
                      </a:pPr>
                      <a:r>
                        <a:rPr lang="en-US" sz="1500">
                          <a:solidFill>
                            <a:srgbClr val="000000"/>
                          </a:solidFill>
                          <a:latin typeface="Times New Roman"/>
                          <a:ea typeface="Times New Roman"/>
                          <a:cs typeface="Times New Roman"/>
                          <a:sym typeface="Times New Roman"/>
                        </a:rPr>
                        <a:t>Combining temporal user behavior models with constraint optimization yields the best balance between personalization and feasibility for itinerary generation.</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800"/>
                        </a:lnSpc>
                        <a:defRPr/>
                      </a:pPr>
                      <a:r>
                        <a:rPr lang="en-US" sz="1500">
                          <a:solidFill>
                            <a:srgbClr val="000000"/>
                          </a:solidFill>
                          <a:latin typeface="Times New Roman"/>
                          <a:ea typeface="Times New Roman"/>
                          <a:cs typeface="Times New Roman"/>
                          <a:sym typeface="Times New Roman"/>
                        </a:rPr>
                        <a:t>Gaps remain in integrating real-time sustainability signals (carbon, congestion) and in end-to-end deployment case studies.</a:t>
                      </a:r>
                      <a:endParaRPr lang="en-US" sz="1100"/>
                    </a:p>
                  </a:txBody>
                  <a:tcPr marL="91429" marR="91429" marT="91429" marB="91429"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 y="0"/>
            <a:ext cx="2325843" cy="3818077"/>
            <a:chOff x="0" y="0"/>
            <a:chExt cx="3101124" cy="5090770"/>
          </a:xfrm>
        </p:grpSpPr>
        <p:sp>
          <p:nvSpPr>
            <p:cNvPr name="Freeform 3" id="3"/>
            <p:cNvSpPr/>
            <p:nvPr/>
          </p:nvSpPr>
          <p:spPr>
            <a:xfrm flipH="false" flipV="false" rot="0">
              <a:off x="0" y="0"/>
              <a:ext cx="3101086" cy="5090795"/>
            </a:xfrm>
            <a:custGeom>
              <a:avLst/>
              <a:gdLst/>
              <a:ahLst/>
              <a:cxnLst/>
              <a:rect r="r" b="b" t="t" l="l"/>
              <a:pathLst>
                <a:path h="5090795" w="3101086">
                  <a:moveTo>
                    <a:pt x="1366266" y="0"/>
                  </a:moveTo>
                  <a:lnTo>
                    <a:pt x="3101086" y="0"/>
                  </a:lnTo>
                  <a:lnTo>
                    <a:pt x="3101086" y="14478"/>
                  </a:lnTo>
                  <a:cubicBezTo>
                    <a:pt x="3101086" y="2045081"/>
                    <a:pt x="2040890" y="3827145"/>
                    <a:pt x="443738" y="4837430"/>
                  </a:cubicBezTo>
                  <a:lnTo>
                    <a:pt x="0" y="5090795"/>
                  </a:lnTo>
                  <a:lnTo>
                    <a:pt x="0" y="3001010"/>
                  </a:lnTo>
                  <a:lnTo>
                    <a:pt x="205105" y="2811018"/>
                  </a:lnTo>
                  <a:cubicBezTo>
                    <a:pt x="833120" y="2178558"/>
                    <a:pt x="1251331" y="1336167"/>
                    <a:pt x="1346073" y="400812"/>
                  </a:cubicBezTo>
                  <a:close/>
                </a:path>
              </a:pathLst>
            </a:custGeom>
            <a:solidFill>
              <a:srgbClr val="AA2070"/>
            </a:solidFill>
            <a:ln w="12700">
              <a:solidFill>
                <a:srgbClr val="000000"/>
              </a:solidFill>
            </a:ln>
          </p:spPr>
        </p:sp>
      </p:grpSp>
      <p:grpSp>
        <p:nvGrpSpPr>
          <p:cNvPr name="Group 4" id="4"/>
          <p:cNvGrpSpPr/>
          <p:nvPr/>
        </p:nvGrpSpPr>
        <p:grpSpPr>
          <a:xfrm rot="0">
            <a:off x="1" y="-19050"/>
            <a:ext cx="1024109" cy="2250072"/>
            <a:chOff x="0" y="0"/>
            <a:chExt cx="1365479" cy="3000096"/>
          </a:xfrm>
        </p:grpSpPr>
        <p:sp>
          <p:nvSpPr>
            <p:cNvPr name="Freeform 5" id="5"/>
            <p:cNvSpPr/>
            <p:nvPr/>
          </p:nvSpPr>
          <p:spPr>
            <a:xfrm flipH="false" flipV="false" rot="0">
              <a:off x="0" y="0"/>
              <a:ext cx="1365504" cy="3000121"/>
            </a:xfrm>
            <a:custGeom>
              <a:avLst/>
              <a:gdLst/>
              <a:ahLst/>
              <a:cxnLst/>
              <a:rect r="r" b="b" t="t" l="l"/>
              <a:pathLst>
                <a:path h="3000121" w="1365504">
                  <a:moveTo>
                    <a:pt x="0" y="0"/>
                  </a:moveTo>
                  <a:lnTo>
                    <a:pt x="1365504" y="0"/>
                  </a:lnTo>
                  <a:lnTo>
                    <a:pt x="1345311" y="400685"/>
                  </a:lnTo>
                  <a:cubicBezTo>
                    <a:pt x="1250569" y="1335913"/>
                    <a:pt x="832485" y="2178177"/>
                    <a:pt x="204597" y="2810510"/>
                  </a:cubicBezTo>
                  <a:lnTo>
                    <a:pt x="0" y="3000121"/>
                  </a:lnTo>
                  <a:close/>
                </a:path>
              </a:pathLst>
            </a:custGeom>
            <a:solidFill>
              <a:srgbClr val="224E7F"/>
            </a:solidFill>
            <a:ln w="12700">
              <a:solidFill>
                <a:srgbClr val="000000"/>
              </a:solidFill>
            </a:ln>
          </p:spPr>
        </p:sp>
      </p:grpSp>
      <p:grpSp>
        <p:nvGrpSpPr>
          <p:cNvPr name="Group 6" id="6"/>
          <p:cNvGrpSpPr/>
          <p:nvPr/>
        </p:nvGrpSpPr>
        <p:grpSpPr>
          <a:xfrm rot="0">
            <a:off x="255670" y="471287"/>
            <a:ext cx="1162536" cy="1162536"/>
            <a:chOff x="0" y="0"/>
            <a:chExt cx="1550048" cy="1550048"/>
          </a:xfrm>
        </p:grpSpPr>
        <p:sp>
          <p:nvSpPr>
            <p:cNvPr name="Freeform 7" id="7"/>
            <p:cNvSpPr/>
            <p:nvPr/>
          </p:nvSpPr>
          <p:spPr>
            <a:xfrm flipH="false" flipV="false" rot="0">
              <a:off x="0" y="0"/>
              <a:ext cx="1550162" cy="1550162"/>
            </a:xfrm>
            <a:custGeom>
              <a:avLst/>
              <a:gdLst/>
              <a:ahLst/>
              <a:cxnLst/>
              <a:rect r="r" b="b" t="t" l="l"/>
              <a:pathLst>
                <a:path h="1550162" w="1550162">
                  <a:moveTo>
                    <a:pt x="775081" y="1550035"/>
                  </a:moveTo>
                  <a:cubicBezTo>
                    <a:pt x="1203071" y="1550035"/>
                    <a:pt x="1550162" y="1203071"/>
                    <a:pt x="1550162" y="774954"/>
                  </a:cubicBezTo>
                  <a:cubicBezTo>
                    <a:pt x="1550162" y="346837"/>
                    <a:pt x="1203071" y="0"/>
                    <a:pt x="775081" y="0"/>
                  </a:cubicBezTo>
                  <a:cubicBezTo>
                    <a:pt x="347091" y="0"/>
                    <a:pt x="0" y="346964"/>
                    <a:pt x="0" y="775081"/>
                  </a:cubicBezTo>
                  <a:cubicBezTo>
                    <a:pt x="0" y="1203198"/>
                    <a:pt x="346964" y="1550162"/>
                    <a:pt x="775081" y="1550162"/>
                  </a:cubicBezTo>
                  <a:close/>
                </a:path>
              </a:pathLst>
            </a:custGeom>
            <a:solidFill>
              <a:srgbClr val="958EA2"/>
            </a:solidFill>
            <a:ln w="12700">
              <a:solidFill>
                <a:srgbClr val="000000"/>
              </a:solidFill>
            </a:ln>
          </p:spPr>
        </p:sp>
      </p:grpSp>
      <p:grpSp>
        <p:nvGrpSpPr>
          <p:cNvPr name="Group 8" id="8"/>
          <p:cNvGrpSpPr/>
          <p:nvPr/>
        </p:nvGrpSpPr>
        <p:grpSpPr>
          <a:xfrm rot="0">
            <a:off x="2347560" y="485604"/>
            <a:ext cx="15768904" cy="1471051"/>
            <a:chOff x="0" y="0"/>
            <a:chExt cx="21025206" cy="1961401"/>
          </a:xfrm>
        </p:grpSpPr>
        <p:sp>
          <p:nvSpPr>
            <p:cNvPr name="Freeform 9" id="9"/>
            <p:cNvSpPr/>
            <p:nvPr/>
          </p:nvSpPr>
          <p:spPr>
            <a:xfrm flipH="false" flipV="false" rot="0">
              <a:off x="0" y="0"/>
              <a:ext cx="21025200" cy="1961400"/>
            </a:xfrm>
            <a:custGeom>
              <a:avLst/>
              <a:gdLst/>
              <a:ahLst/>
              <a:cxnLst/>
              <a:rect r="r" b="b" t="t" l="l"/>
              <a:pathLst>
                <a:path h="1961400" w="21025200">
                  <a:moveTo>
                    <a:pt x="0" y="0"/>
                  </a:moveTo>
                  <a:lnTo>
                    <a:pt x="21025200" y="0"/>
                  </a:lnTo>
                  <a:lnTo>
                    <a:pt x="21025200" y="1961400"/>
                  </a:lnTo>
                  <a:lnTo>
                    <a:pt x="0" y="1961400"/>
                  </a:lnTo>
                  <a:close/>
                </a:path>
              </a:pathLst>
            </a:custGeom>
            <a:solidFill>
              <a:srgbClr val="000000">
                <a:alpha val="0"/>
              </a:srgbClr>
            </a:solidFill>
            <a:ln w="12700">
              <a:solidFill>
                <a:srgbClr val="000000"/>
              </a:solidFill>
            </a:ln>
          </p:spPr>
        </p:sp>
        <p:sp>
          <p:nvSpPr>
            <p:cNvPr name="TextBox 10" id="10"/>
            <p:cNvSpPr txBox="true"/>
            <p:nvPr/>
          </p:nvSpPr>
          <p:spPr>
            <a:xfrm>
              <a:off x="0" y="-95250"/>
              <a:ext cx="21025206" cy="2056651"/>
            </a:xfrm>
            <a:prstGeom prst="rect">
              <a:avLst/>
            </a:prstGeom>
          </p:spPr>
          <p:txBody>
            <a:bodyPr anchor="b" rtlCol="false" tIns="0" lIns="0" bIns="0" rIns="0"/>
            <a:lstStyle/>
            <a:p>
              <a:pPr algn="l">
                <a:lnSpc>
                  <a:spcPts val="5759"/>
                </a:lnSpc>
              </a:pPr>
              <a:r>
                <a:rPr lang="en-US" b="true" sz="4800">
                  <a:solidFill>
                    <a:srgbClr val="000000"/>
                  </a:solidFill>
                  <a:latin typeface="Avenir Bold"/>
                  <a:ea typeface="Avenir Bold"/>
                  <a:cs typeface="Avenir Bold"/>
                  <a:sym typeface="Avenir Bold"/>
                </a:rPr>
                <a:t>LITERATURE REVIEW</a:t>
              </a:r>
              <a:r>
                <a:rPr lang="en-US" b="true" sz="4800">
                  <a:solidFill>
                    <a:srgbClr val="958EA2"/>
                  </a:solidFill>
                  <a:latin typeface="Avenir Bold"/>
                  <a:ea typeface="Avenir Bold"/>
                  <a:cs typeface="Avenir Bold"/>
                  <a:sym typeface="Avenir Bold"/>
                </a:rPr>
                <a:t>  </a:t>
              </a:r>
            </a:p>
          </p:txBody>
        </p:sp>
      </p:grpSp>
      <p:grpSp>
        <p:nvGrpSpPr>
          <p:cNvPr name="Group 11" id="11"/>
          <p:cNvGrpSpPr/>
          <p:nvPr/>
        </p:nvGrpSpPr>
        <p:grpSpPr>
          <a:xfrm rot="0">
            <a:off x="15537656" y="685800"/>
            <a:ext cx="1601553" cy="707403"/>
            <a:chOff x="0" y="0"/>
            <a:chExt cx="2135403" cy="943204"/>
          </a:xfrm>
        </p:grpSpPr>
        <p:sp>
          <p:nvSpPr>
            <p:cNvPr name="Freeform 12" id="12"/>
            <p:cNvSpPr/>
            <p:nvPr/>
          </p:nvSpPr>
          <p:spPr>
            <a:xfrm flipH="false" flipV="false" rot="0">
              <a:off x="0" y="0"/>
              <a:ext cx="2135400" cy="943200"/>
            </a:xfrm>
            <a:custGeom>
              <a:avLst/>
              <a:gdLst/>
              <a:ahLst/>
              <a:cxnLst/>
              <a:rect r="r" b="b" t="t" l="l"/>
              <a:pathLst>
                <a:path h="943200" w="2135400">
                  <a:moveTo>
                    <a:pt x="0" y="0"/>
                  </a:moveTo>
                  <a:lnTo>
                    <a:pt x="2135400" y="0"/>
                  </a:lnTo>
                  <a:lnTo>
                    <a:pt x="2135400" y="943200"/>
                  </a:lnTo>
                  <a:lnTo>
                    <a:pt x="0" y="943200"/>
                  </a:lnTo>
                  <a:close/>
                </a:path>
              </a:pathLst>
            </a:custGeom>
            <a:solidFill>
              <a:srgbClr val="000000">
                <a:alpha val="0"/>
              </a:srgbClr>
            </a:solidFill>
            <a:ln w="12700">
              <a:solidFill>
                <a:srgbClr val="000000"/>
              </a:solidFill>
            </a:ln>
          </p:spPr>
        </p:sp>
        <p:sp>
          <p:nvSpPr>
            <p:cNvPr name="TextBox 13" id="13"/>
            <p:cNvSpPr txBox="true"/>
            <p:nvPr/>
          </p:nvSpPr>
          <p:spPr>
            <a:xfrm>
              <a:off x="0" y="-9525"/>
              <a:ext cx="2135403" cy="952729"/>
            </a:xfrm>
            <a:prstGeom prst="rect">
              <a:avLst/>
            </a:prstGeom>
          </p:spPr>
          <p:txBody>
            <a:bodyPr anchor="ctr" rtlCol="false" tIns="0" lIns="0" bIns="0" rIns="0"/>
            <a:lstStyle/>
            <a:p>
              <a:pPr algn="r">
                <a:lnSpc>
                  <a:spcPts val="2879"/>
                </a:lnSpc>
              </a:pPr>
              <a:r>
                <a:rPr lang="en-US" sz="2400">
                  <a:solidFill>
                    <a:srgbClr val="958EA2"/>
                  </a:solidFill>
                  <a:latin typeface="Arial"/>
                  <a:ea typeface="Arial"/>
                  <a:cs typeface="Arial"/>
                  <a:sym typeface="Arial"/>
                </a:rPr>
                <a:t>6</a:t>
              </a:r>
            </a:p>
          </p:txBody>
        </p:sp>
      </p:grpSp>
      <p:graphicFrame>
        <p:nvGraphicFramePr>
          <p:cNvPr name="Table 14" id="14"/>
          <p:cNvGraphicFramePr>
            <a:graphicFrameLocks noGrp="true"/>
          </p:cNvGraphicFramePr>
          <p:nvPr/>
        </p:nvGraphicFramePr>
        <p:xfrm>
          <a:off x="693037" y="2050061"/>
          <a:ext cx="17125950" cy="7725412"/>
        </p:xfrm>
        <a:graphic>
          <a:graphicData uri="http://schemas.openxmlformats.org/drawingml/2006/table">
            <a:tbl>
              <a:tblPr/>
              <a:tblGrid>
                <a:gridCol w="2885322"/>
                <a:gridCol w="1502511"/>
                <a:gridCol w="4480995"/>
                <a:gridCol w="4393767"/>
                <a:gridCol w="3863356"/>
              </a:tblGrid>
              <a:tr h="1096727">
                <a:tc>
                  <a:txBody>
                    <a:bodyPr anchor="t" rtlCol="false"/>
                    <a:lstStyle/>
                    <a:p>
                      <a:pPr algn="ctr">
                        <a:lnSpc>
                          <a:spcPts val="3311"/>
                        </a:lnSpc>
                        <a:defRPr/>
                      </a:pPr>
                      <a:r>
                        <a:rPr lang="en-US" b="true" sz="2400">
                          <a:solidFill>
                            <a:srgbClr val="000000"/>
                          </a:solidFill>
                          <a:latin typeface="Times New Roman Bold"/>
                          <a:ea typeface="Times New Roman Bold"/>
                          <a:cs typeface="Times New Roman Bold"/>
                          <a:sym typeface="Times New Roman Bold"/>
                        </a:rPr>
                        <a:t>Paper Title</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ctr">
                        <a:lnSpc>
                          <a:spcPts val="3311"/>
                        </a:lnSpc>
                        <a:defRPr/>
                      </a:pPr>
                      <a:r>
                        <a:rPr lang="en-US" b="true" sz="2400">
                          <a:solidFill>
                            <a:srgbClr val="000000"/>
                          </a:solidFill>
                          <a:latin typeface="Times New Roman Bold"/>
                          <a:ea typeface="Times New Roman Bold"/>
                          <a:cs typeface="Times New Roman Bold"/>
                          <a:sym typeface="Times New Roman Bold"/>
                        </a:rPr>
                        <a:t>Author &amp; Year</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ctr">
                        <a:lnSpc>
                          <a:spcPts val="3311"/>
                        </a:lnSpc>
                        <a:defRPr/>
                      </a:pPr>
                      <a:r>
                        <a:rPr lang="en-US" b="true" sz="2400">
                          <a:solidFill>
                            <a:srgbClr val="000000"/>
                          </a:solidFill>
                          <a:latin typeface="Times New Roman Bold"/>
                          <a:ea typeface="Times New Roman Bold"/>
                          <a:cs typeface="Times New Roman Bold"/>
                          <a:sym typeface="Times New Roman Bold"/>
                        </a:rPr>
                        <a:t>Methodology</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ctr">
                        <a:lnSpc>
                          <a:spcPts val="3311"/>
                        </a:lnSpc>
                        <a:defRPr/>
                      </a:pPr>
                      <a:r>
                        <a:rPr lang="en-US" b="true" sz="2400">
                          <a:solidFill>
                            <a:srgbClr val="000000"/>
                          </a:solidFill>
                          <a:latin typeface="Times New Roman Bold"/>
                          <a:ea typeface="Times New Roman Bold"/>
                          <a:cs typeface="Times New Roman Bold"/>
                          <a:sym typeface="Times New Roman Bold"/>
                        </a:rPr>
                        <a:t>Inference</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ctr">
                        <a:lnSpc>
                          <a:spcPts val="3311"/>
                        </a:lnSpc>
                        <a:defRPr/>
                      </a:pPr>
                      <a:r>
                        <a:rPr lang="en-US" b="true" sz="2400">
                          <a:solidFill>
                            <a:srgbClr val="000000"/>
                          </a:solidFill>
                          <a:latin typeface="Times New Roman Bold"/>
                          <a:ea typeface="Times New Roman Bold"/>
                          <a:cs typeface="Times New Roman Bold"/>
                          <a:sym typeface="Times New Roman Bold"/>
                        </a:rPr>
                        <a:t>Limitations</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r>
              <a:tr h="1524101">
                <a:tc>
                  <a:txBody>
                    <a:bodyPr anchor="t" rtlCol="false"/>
                    <a:lstStyle/>
                    <a:p>
                      <a:pPr algn="l">
                        <a:lnSpc>
                          <a:spcPts val="1980"/>
                        </a:lnSpc>
                        <a:defRPr/>
                      </a:pPr>
                      <a:r>
                        <a:rPr lang="en-US" sz="1650">
                          <a:solidFill>
                            <a:srgbClr val="000000"/>
                          </a:solidFill>
                          <a:latin typeface="Times New Roman"/>
                          <a:ea typeface="Times New Roman"/>
                          <a:cs typeface="Times New Roman"/>
                          <a:sym typeface="Times New Roman"/>
                        </a:rPr>
                        <a:t>Enhancing tourism recommender systems for sustainable city trips using retrieval-augmented generation</a:t>
                      </a:r>
                      <a:endParaRPr lang="en-US" sz="1100"/>
                    </a:p>
                    <a:p>
                      <a:pPr algn="l">
                        <a:lnSpc>
                          <a:spcPts val="1980"/>
                        </a:lnSpc>
                      </a:pPr>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l">
                        <a:lnSpc>
                          <a:spcPts val="1980"/>
                        </a:lnSpc>
                        <a:defRPr/>
                      </a:pPr>
                      <a:r>
                        <a:rPr lang="en-US" sz="1650">
                          <a:solidFill>
                            <a:srgbClr val="000000"/>
                          </a:solidFill>
                          <a:latin typeface="Times New Roman"/>
                          <a:ea typeface="Times New Roman"/>
                          <a:cs typeface="Times New Roman"/>
                          <a:sym typeface="Times New Roman"/>
                        </a:rPr>
                        <a:t>Ashmi Banerjee, 2024</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980"/>
                        </a:lnSpc>
                        <a:defRPr/>
                      </a:pPr>
                      <a:r>
                        <a:rPr lang="en-US" sz="1650">
                          <a:solidFill>
                            <a:srgbClr val="000000"/>
                          </a:solidFill>
                          <a:latin typeface="Times New Roman"/>
                          <a:ea typeface="Times New Roman"/>
                          <a:cs typeface="Times New Roman"/>
                          <a:sym typeface="Times New Roman"/>
                        </a:rPr>
                        <a:t>Augments Retrieval-Augmented Generation (RAG) pipelines and reranking with a sustainability metric (Sustainability-Augmented Reranking, SAR) to bias LLM recommendations toward low-impact choices.</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980"/>
                        </a:lnSpc>
                        <a:defRPr/>
                      </a:pPr>
                      <a:r>
                        <a:rPr lang="en-US" sz="1650">
                          <a:solidFill>
                            <a:srgbClr val="000000"/>
                          </a:solidFill>
                          <a:latin typeface="Times New Roman"/>
                          <a:ea typeface="Times New Roman"/>
                          <a:cs typeface="Times New Roman"/>
                          <a:sym typeface="Times New Roman"/>
                        </a:rPr>
                        <a:t>LLMs can be steered to recommend more sustainable options when the retrieval/reranking stage encodes explicit sustainability features, improving both relevance and eco-alignment.</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980"/>
                        </a:lnSpc>
                        <a:defRPr/>
                      </a:pPr>
                      <a:r>
                        <a:rPr lang="en-US" sz="1650">
                          <a:solidFill>
                            <a:srgbClr val="000000"/>
                          </a:solidFill>
                          <a:latin typeface="Times New Roman"/>
                          <a:ea typeface="Times New Roman"/>
                          <a:cs typeface="Times New Roman"/>
                          <a:sym typeface="Times New Roman"/>
                        </a:rPr>
                        <a:t>Sustainability metric design is context sensitive; LLM outputs require verification to avoid factual errors and greenwashing.</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r>
              <a:tr h="1276146">
                <a:tc>
                  <a:txBody>
                    <a:bodyPr anchor="t" rtlCol="false"/>
                    <a:lstStyle/>
                    <a:p>
                      <a:pPr algn="l">
                        <a:lnSpc>
                          <a:spcPts val="1980"/>
                        </a:lnSpc>
                        <a:defRPr/>
                      </a:pPr>
                      <a:r>
                        <a:rPr lang="en-US" sz="1650">
                          <a:solidFill>
                            <a:srgbClr val="000000"/>
                          </a:solidFill>
                          <a:latin typeface="Times New Roman"/>
                          <a:ea typeface="Times New Roman"/>
                          <a:cs typeface="Times New Roman"/>
                          <a:sym typeface="Times New Roman"/>
                        </a:rPr>
                        <a:t>Personalized tourism recommendation model based on temporal multilayer sequential neural network</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l">
                        <a:lnSpc>
                          <a:spcPts val="1980"/>
                        </a:lnSpc>
                        <a:defRPr/>
                      </a:pPr>
                      <a:r>
                        <a:rPr lang="en-US" sz="1650">
                          <a:solidFill>
                            <a:srgbClr val="000000"/>
                          </a:solidFill>
                          <a:latin typeface="Times New Roman"/>
                          <a:ea typeface="Times New Roman"/>
                          <a:cs typeface="Times New Roman"/>
                          <a:sym typeface="Times New Roman"/>
                        </a:rPr>
                        <a:t>XueFei Xiao, 2024</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980"/>
                        </a:lnSpc>
                        <a:defRPr/>
                      </a:pPr>
                      <a:r>
                        <a:rPr lang="en-US" sz="1650">
                          <a:solidFill>
                            <a:srgbClr val="000000"/>
                          </a:solidFill>
                          <a:latin typeface="Times New Roman"/>
                          <a:ea typeface="Times New Roman"/>
                          <a:cs typeface="Times New Roman"/>
                          <a:sym typeface="Times New Roman"/>
                        </a:rPr>
                        <a:t>Proposed TMS-Net that segments tourist trajectories and models temporal patterns for personalized route recommendation, validated on large trajectory datasets.</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980"/>
                        </a:lnSpc>
                        <a:defRPr/>
                      </a:pPr>
                      <a:r>
                        <a:rPr lang="en-US" sz="1650">
                          <a:solidFill>
                            <a:srgbClr val="000000"/>
                          </a:solidFill>
                          <a:latin typeface="Times New Roman"/>
                          <a:ea typeface="Times New Roman"/>
                          <a:cs typeface="Times New Roman"/>
                          <a:sym typeface="Times New Roman"/>
                        </a:rPr>
                        <a:t>Temporal multilayer models improve route personalization and handle long spatiotemporal spans, which is critical for realistic itinerary planning.</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980"/>
                        </a:lnSpc>
                        <a:defRPr/>
                      </a:pPr>
                      <a:r>
                        <a:rPr lang="en-US" sz="1650">
                          <a:solidFill>
                            <a:srgbClr val="000000"/>
                          </a:solidFill>
                          <a:latin typeface="Times New Roman"/>
                          <a:ea typeface="Times New Roman"/>
                          <a:cs typeface="Times New Roman"/>
                          <a:sym typeface="Times New Roman"/>
                        </a:rPr>
                        <a:t>Focuses on personalization/accuracy; does not explicitly model carbon emissions or real-time congestion in the base formulation.</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r>
              <a:tr h="1276146">
                <a:tc>
                  <a:txBody>
                    <a:bodyPr anchor="t" rtlCol="false"/>
                    <a:lstStyle/>
                    <a:p>
                      <a:pPr algn="l">
                        <a:lnSpc>
                          <a:spcPts val="1980"/>
                        </a:lnSpc>
                        <a:defRPr/>
                      </a:pPr>
                      <a:r>
                        <a:rPr lang="en-US" sz="1650">
                          <a:solidFill>
                            <a:srgbClr val="000000"/>
                          </a:solidFill>
                          <a:latin typeface="Times New Roman"/>
                          <a:ea typeface="Times New Roman"/>
                          <a:cs typeface="Times New Roman"/>
                          <a:sym typeface="Times New Roman"/>
                        </a:rPr>
                        <a:t>Recommender systems for sustainability: overview and research issues</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l">
                        <a:lnSpc>
                          <a:spcPts val="1980"/>
                        </a:lnSpc>
                        <a:defRPr/>
                      </a:pPr>
                      <a:r>
                        <a:rPr lang="en-US" sz="1650">
                          <a:solidFill>
                            <a:srgbClr val="000000"/>
                          </a:solidFill>
                          <a:latin typeface="Times New Roman"/>
                          <a:ea typeface="Times New Roman"/>
                          <a:cs typeface="Times New Roman"/>
                          <a:sym typeface="Times New Roman"/>
                        </a:rPr>
                        <a:t>Alexander Felfernig, 2024</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980"/>
                        </a:lnSpc>
                        <a:defRPr/>
                      </a:pPr>
                      <a:r>
                        <a:rPr lang="en-US" sz="1650">
                          <a:solidFill>
                            <a:srgbClr val="000000"/>
                          </a:solidFill>
                          <a:latin typeface="Times New Roman"/>
                          <a:ea typeface="Times New Roman"/>
                          <a:cs typeface="Times New Roman"/>
                          <a:sym typeface="Times New Roman"/>
                        </a:rPr>
                        <a:t>Comprehensive review of RS approaches applied to sustainability problems across domains, identifying techniques (XAI, constraint reasoning) and open issues.</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980"/>
                        </a:lnSpc>
                        <a:defRPr/>
                      </a:pPr>
                      <a:r>
                        <a:rPr lang="en-US" sz="1650">
                          <a:solidFill>
                            <a:srgbClr val="000000"/>
                          </a:solidFill>
                          <a:latin typeface="Times New Roman"/>
                          <a:ea typeface="Times New Roman"/>
                          <a:cs typeface="Times New Roman"/>
                          <a:sym typeface="Times New Roman"/>
                        </a:rPr>
                        <a:t>RS can be repurposed to promote sustainable choices but require explainability, multi-objective optimization, and domain-specific sustainability indicators.</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980"/>
                        </a:lnSpc>
                        <a:defRPr/>
                      </a:pPr>
                      <a:r>
                        <a:rPr lang="en-US" sz="1650">
                          <a:solidFill>
                            <a:srgbClr val="000000"/>
                          </a:solidFill>
                          <a:latin typeface="Times New Roman"/>
                          <a:ea typeface="Times New Roman"/>
                          <a:cs typeface="Times New Roman"/>
                          <a:sym typeface="Times New Roman"/>
                        </a:rPr>
                        <a:t>Broad scope; specific operational recipes for tourism (carbon accounting, crowd control) require further applied research.</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r>
              <a:tr h="1276146">
                <a:tc>
                  <a:txBody>
                    <a:bodyPr anchor="t" rtlCol="false"/>
                    <a:lstStyle/>
                    <a:p>
                      <a:pPr algn="l">
                        <a:lnSpc>
                          <a:spcPts val="1980"/>
                        </a:lnSpc>
                        <a:defRPr/>
                      </a:pPr>
                      <a:r>
                        <a:rPr lang="en-US" sz="1650">
                          <a:solidFill>
                            <a:srgbClr val="000000"/>
                          </a:solidFill>
                          <a:latin typeface="Times New Roman"/>
                          <a:ea typeface="Times New Roman"/>
                          <a:cs typeface="Times New Roman"/>
                          <a:sym typeface="Times New Roman"/>
                        </a:rPr>
                        <a:t>High-Frequency Tourist Flow Forecasting with Gated Recurrent Units and Attention Mechanisms</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l">
                        <a:lnSpc>
                          <a:spcPts val="1980"/>
                        </a:lnSpc>
                        <a:defRPr/>
                      </a:pPr>
                      <a:r>
                        <a:rPr lang="en-US" sz="1650">
                          <a:solidFill>
                            <a:srgbClr val="000000"/>
                          </a:solidFill>
                          <a:latin typeface="Times New Roman"/>
                          <a:ea typeface="Times New Roman"/>
                          <a:cs typeface="Times New Roman"/>
                          <a:sym typeface="Times New Roman"/>
                        </a:rPr>
                        <a:t>Changlong Wang, 2025</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980"/>
                        </a:lnSpc>
                        <a:defRPr/>
                      </a:pPr>
                      <a:r>
                        <a:rPr lang="en-US" sz="1650">
                          <a:solidFill>
                            <a:srgbClr val="000000"/>
                          </a:solidFill>
                          <a:latin typeface="Times New Roman"/>
                          <a:ea typeface="Times New Roman"/>
                          <a:cs typeface="Times New Roman"/>
                          <a:sym typeface="Times New Roman"/>
                        </a:rPr>
                        <a:t>Uses high-frequency time-series models (GRU/LSTM variants) to predict short-term tourist flows at POIs, enabling near-real-time crowd management.</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980"/>
                        </a:lnSpc>
                        <a:defRPr/>
                      </a:pPr>
                      <a:r>
                        <a:rPr lang="en-US" sz="1650">
                          <a:solidFill>
                            <a:srgbClr val="000000"/>
                          </a:solidFill>
                          <a:latin typeface="Times New Roman"/>
                          <a:ea typeface="Times New Roman"/>
                          <a:cs typeface="Times New Roman"/>
                          <a:sym typeface="Times New Roman"/>
                        </a:rPr>
                        <a:t>Accurate high-frequency forecasting materially helps operational crowd control and can feed planners/agents for congestion-aware routing.</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980"/>
                        </a:lnSpc>
                        <a:defRPr/>
                      </a:pPr>
                      <a:r>
                        <a:rPr lang="en-US" sz="1650">
                          <a:solidFill>
                            <a:srgbClr val="000000"/>
                          </a:solidFill>
                          <a:latin typeface="Times New Roman"/>
                          <a:ea typeface="Times New Roman"/>
                          <a:cs typeface="Times New Roman"/>
                          <a:sym typeface="Times New Roman"/>
                        </a:rPr>
                        <a:t>Requires continuous, high-quality sensor or visitation data; performance drops if data gaps or seasonality shifts are severe.</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r>
              <a:tr h="1276146">
                <a:tc>
                  <a:txBody>
                    <a:bodyPr anchor="t" rtlCol="false"/>
                    <a:lstStyle/>
                    <a:p>
                      <a:pPr algn="l">
                        <a:lnSpc>
                          <a:spcPts val="1980"/>
                        </a:lnSpc>
                        <a:defRPr/>
                      </a:pPr>
                      <a:r>
                        <a:rPr lang="en-US" sz="1650">
                          <a:solidFill>
                            <a:srgbClr val="000000"/>
                          </a:solidFill>
                          <a:latin typeface="Times New Roman"/>
                          <a:ea typeface="Times New Roman"/>
                          <a:cs typeface="Times New Roman"/>
                          <a:sym typeface="Times New Roman"/>
                        </a:rPr>
                        <a:t>Multi-agent deep reinforcement learning based real-time planning (route/bus scheduling)</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l">
                        <a:lnSpc>
                          <a:spcPts val="1980"/>
                        </a:lnSpc>
                        <a:defRPr/>
                      </a:pPr>
                      <a:r>
                        <a:rPr lang="en-US" sz="1650">
                          <a:solidFill>
                            <a:srgbClr val="000000"/>
                          </a:solidFill>
                          <a:latin typeface="Times New Roman"/>
                          <a:ea typeface="Times New Roman"/>
                          <a:cs typeface="Times New Roman"/>
                          <a:sym typeface="Times New Roman"/>
                        </a:rPr>
                        <a:t>Binglin Wu, 2023</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980"/>
                        </a:lnSpc>
                        <a:defRPr/>
                      </a:pPr>
                      <a:r>
                        <a:rPr lang="en-US" sz="1650">
                          <a:solidFill>
                            <a:srgbClr val="000000"/>
                          </a:solidFill>
                          <a:latin typeface="Times New Roman"/>
                          <a:ea typeface="Times New Roman"/>
                          <a:cs typeface="Times New Roman"/>
                          <a:sym typeface="Times New Roman"/>
                        </a:rPr>
                        <a:t> Multi-agent deep RL framework for real-time planning and routing with competing objectives (service level, cost); experiments on customized routing problems.</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980"/>
                        </a:lnSpc>
                        <a:defRPr/>
                      </a:pPr>
                      <a:r>
                        <a:rPr lang="en-US" sz="1650">
                          <a:solidFill>
                            <a:srgbClr val="000000"/>
                          </a:solidFill>
                          <a:latin typeface="Times New Roman"/>
                          <a:ea typeface="Times New Roman"/>
                          <a:cs typeface="Times New Roman"/>
                          <a:sym typeface="Times New Roman"/>
                        </a:rPr>
                        <a:t>Multi-agent RL can coordinate decentralized planners to produce adaptive, near-optimal plans in dynamic environments — applicable to itinerary optimization under changing conditions.</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1980"/>
                        </a:lnSpc>
                        <a:defRPr/>
                      </a:pPr>
                      <a:r>
                        <a:rPr lang="en-US" sz="1650">
                          <a:solidFill>
                            <a:srgbClr val="000000"/>
                          </a:solidFill>
                          <a:latin typeface="Times New Roman"/>
                          <a:ea typeface="Times New Roman"/>
                          <a:cs typeface="Times New Roman"/>
                          <a:sym typeface="Times New Roman"/>
                        </a:rPr>
                        <a:t>High sample complexity and training cost; transfer from simulated environments to real world requires domain randomization and careful validation.</a:t>
                      </a:r>
                      <a:endParaRPr lang="en-US" sz="1100"/>
                    </a:p>
                  </a:txBody>
                  <a:tcPr marL="91437" marR="91437" marT="91437" marB="91437"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 y="0"/>
            <a:ext cx="2325843" cy="3818077"/>
            <a:chOff x="0" y="0"/>
            <a:chExt cx="3101124" cy="5090770"/>
          </a:xfrm>
        </p:grpSpPr>
        <p:sp>
          <p:nvSpPr>
            <p:cNvPr name="Freeform 3" id="3"/>
            <p:cNvSpPr/>
            <p:nvPr/>
          </p:nvSpPr>
          <p:spPr>
            <a:xfrm flipH="false" flipV="false" rot="0">
              <a:off x="0" y="0"/>
              <a:ext cx="3101086" cy="5090795"/>
            </a:xfrm>
            <a:custGeom>
              <a:avLst/>
              <a:gdLst/>
              <a:ahLst/>
              <a:cxnLst/>
              <a:rect r="r" b="b" t="t" l="l"/>
              <a:pathLst>
                <a:path h="5090795" w="3101086">
                  <a:moveTo>
                    <a:pt x="1366266" y="0"/>
                  </a:moveTo>
                  <a:lnTo>
                    <a:pt x="3101086" y="0"/>
                  </a:lnTo>
                  <a:lnTo>
                    <a:pt x="3101086" y="14478"/>
                  </a:lnTo>
                  <a:cubicBezTo>
                    <a:pt x="3101086" y="2045081"/>
                    <a:pt x="2040890" y="3827145"/>
                    <a:pt x="443738" y="4837430"/>
                  </a:cubicBezTo>
                  <a:lnTo>
                    <a:pt x="0" y="5090795"/>
                  </a:lnTo>
                  <a:lnTo>
                    <a:pt x="0" y="3001010"/>
                  </a:lnTo>
                  <a:lnTo>
                    <a:pt x="205105" y="2811018"/>
                  </a:lnTo>
                  <a:cubicBezTo>
                    <a:pt x="833120" y="2178558"/>
                    <a:pt x="1251331" y="1336167"/>
                    <a:pt x="1346073" y="400812"/>
                  </a:cubicBezTo>
                  <a:close/>
                </a:path>
              </a:pathLst>
            </a:custGeom>
            <a:solidFill>
              <a:srgbClr val="AA2070"/>
            </a:solidFill>
            <a:ln w="12700">
              <a:solidFill>
                <a:srgbClr val="000000"/>
              </a:solidFill>
            </a:ln>
          </p:spPr>
        </p:sp>
      </p:grpSp>
      <p:grpSp>
        <p:nvGrpSpPr>
          <p:cNvPr name="Group 4" id="4"/>
          <p:cNvGrpSpPr/>
          <p:nvPr/>
        </p:nvGrpSpPr>
        <p:grpSpPr>
          <a:xfrm rot="0">
            <a:off x="1" y="-19050"/>
            <a:ext cx="1024109" cy="2250072"/>
            <a:chOff x="0" y="0"/>
            <a:chExt cx="1365479" cy="3000096"/>
          </a:xfrm>
        </p:grpSpPr>
        <p:sp>
          <p:nvSpPr>
            <p:cNvPr name="Freeform 5" id="5"/>
            <p:cNvSpPr/>
            <p:nvPr/>
          </p:nvSpPr>
          <p:spPr>
            <a:xfrm flipH="false" flipV="false" rot="0">
              <a:off x="0" y="0"/>
              <a:ext cx="1365504" cy="3000121"/>
            </a:xfrm>
            <a:custGeom>
              <a:avLst/>
              <a:gdLst/>
              <a:ahLst/>
              <a:cxnLst/>
              <a:rect r="r" b="b" t="t" l="l"/>
              <a:pathLst>
                <a:path h="3000121" w="1365504">
                  <a:moveTo>
                    <a:pt x="0" y="0"/>
                  </a:moveTo>
                  <a:lnTo>
                    <a:pt x="1365504" y="0"/>
                  </a:lnTo>
                  <a:lnTo>
                    <a:pt x="1345311" y="400685"/>
                  </a:lnTo>
                  <a:cubicBezTo>
                    <a:pt x="1250569" y="1335913"/>
                    <a:pt x="832485" y="2178177"/>
                    <a:pt x="204597" y="2810510"/>
                  </a:cubicBezTo>
                  <a:lnTo>
                    <a:pt x="0" y="3000121"/>
                  </a:lnTo>
                  <a:close/>
                </a:path>
              </a:pathLst>
            </a:custGeom>
            <a:solidFill>
              <a:srgbClr val="224E7F"/>
            </a:solidFill>
            <a:ln w="12700">
              <a:solidFill>
                <a:srgbClr val="000000"/>
              </a:solidFill>
            </a:ln>
          </p:spPr>
        </p:sp>
      </p:grpSp>
      <p:grpSp>
        <p:nvGrpSpPr>
          <p:cNvPr name="Group 6" id="6"/>
          <p:cNvGrpSpPr/>
          <p:nvPr/>
        </p:nvGrpSpPr>
        <p:grpSpPr>
          <a:xfrm rot="0">
            <a:off x="255670" y="471287"/>
            <a:ext cx="1162536" cy="1162536"/>
            <a:chOff x="0" y="0"/>
            <a:chExt cx="1550048" cy="1550048"/>
          </a:xfrm>
        </p:grpSpPr>
        <p:sp>
          <p:nvSpPr>
            <p:cNvPr name="Freeform 7" id="7"/>
            <p:cNvSpPr/>
            <p:nvPr/>
          </p:nvSpPr>
          <p:spPr>
            <a:xfrm flipH="false" flipV="false" rot="0">
              <a:off x="0" y="0"/>
              <a:ext cx="1550162" cy="1550162"/>
            </a:xfrm>
            <a:custGeom>
              <a:avLst/>
              <a:gdLst/>
              <a:ahLst/>
              <a:cxnLst/>
              <a:rect r="r" b="b" t="t" l="l"/>
              <a:pathLst>
                <a:path h="1550162" w="1550162">
                  <a:moveTo>
                    <a:pt x="775081" y="1550035"/>
                  </a:moveTo>
                  <a:cubicBezTo>
                    <a:pt x="1203071" y="1550035"/>
                    <a:pt x="1550162" y="1203071"/>
                    <a:pt x="1550162" y="774954"/>
                  </a:cubicBezTo>
                  <a:cubicBezTo>
                    <a:pt x="1550162" y="346837"/>
                    <a:pt x="1203071" y="0"/>
                    <a:pt x="775081" y="0"/>
                  </a:cubicBezTo>
                  <a:cubicBezTo>
                    <a:pt x="347091" y="0"/>
                    <a:pt x="0" y="346964"/>
                    <a:pt x="0" y="775081"/>
                  </a:cubicBezTo>
                  <a:cubicBezTo>
                    <a:pt x="0" y="1203198"/>
                    <a:pt x="346964" y="1550162"/>
                    <a:pt x="775081" y="1550162"/>
                  </a:cubicBezTo>
                  <a:close/>
                </a:path>
              </a:pathLst>
            </a:custGeom>
            <a:solidFill>
              <a:srgbClr val="958EA2"/>
            </a:solidFill>
            <a:ln w="12700">
              <a:solidFill>
                <a:srgbClr val="000000"/>
              </a:solidFill>
            </a:ln>
          </p:spPr>
        </p:sp>
      </p:grpSp>
      <p:grpSp>
        <p:nvGrpSpPr>
          <p:cNvPr name="Group 8" id="8"/>
          <p:cNvGrpSpPr/>
          <p:nvPr/>
        </p:nvGrpSpPr>
        <p:grpSpPr>
          <a:xfrm rot="0">
            <a:off x="2347560" y="485604"/>
            <a:ext cx="15768904" cy="1471051"/>
            <a:chOff x="0" y="0"/>
            <a:chExt cx="21025206" cy="1961401"/>
          </a:xfrm>
        </p:grpSpPr>
        <p:sp>
          <p:nvSpPr>
            <p:cNvPr name="Freeform 9" id="9"/>
            <p:cNvSpPr/>
            <p:nvPr/>
          </p:nvSpPr>
          <p:spPr>
            <a:xfrm flipH="false" flipV="false" rot="0">
              <a:off x="0" y="0"/>
              <a:ext cx="21025200" cy="1961400"/>
            </a:xfrm>
            <a:custGeom>
              <a:avLst/>
              <a:gdLst/>
              <a:ahLst/>
              <a:cxnLst/>
              <a:rect r="r" b="b" t="t" l="l"/>
              <a:pathLst>
                <a:path h="1961400" w="21025200">
                  <a:moveTo>
                    <a:pt x="0" y="0"/>
                  </a:moveTo>
                  <a:lnTo>
                    <a:pt x="21025200" y="0"/>
                  </a:lnTo>
                  <a:lnTo>
                    <a:pt x="21025200" y="1961400"/>
                  </a:lnTo>
                  <a:lnTo>
                    <a:pt x="0" y="1961400"/>
                  </a:lnTo>
                  <a:close/>
                </a:path>
              </a:pathLst>
            </a:custGeom>
            <a:solidFill>
              <a:srgbClr val="000000">
                <a:alpha val="0"/>
              </a:srgbClr>
            </a:solidFill>
            <a:ln w="12700">
              <a:solidFill>
                <a:srgbClr val="000000"/>
              </a:solidFill>
            </a:ln>
          </p:spPr>
        </p:sp>
        <p:sp>
          <p:nvSpPr>
            <p:cNvPr name="TextBox 10" id="10"/>
            <p:cNvSpPr txBox="true"/>
            <p:nvPr/>
          </p:nvSpPr>
          <p:spPr>
            <a:xfrm>
              <a:off x="0" y="-95250"/>
              <a:ext cx="21025206" cy="2056651"/>
            </a:xfrm>
            <a:prstGeom prst="rect">
              <a:avLst/>
            </a:prstGeom>
          </p:spPr>
          <p:txBody>
            <a:bodyPr anchor="b" rtlCol="false" tIns="0" lIns="0" bIns="0" rIns="0"/>
            <a:lstStyle/>
            <a:p>
              <a:pPr algn="l">
                <a:lnSpc>
                  <a:spcPts val="5759"/>
                </a:lnSpc>
              </a:pPr>
              <a:r>
                <a:rPr lang="en-US" b="true" sz="4800">
                  <a:solidFill>
                    <a:srgbClr val="000000"/>
                  </a:solidFill>
                  <a:latin typeface="Avenir Bold"/>
                  <a:ea typeface="Avenir Bold"/>
                  <a:cs typeface="Avenir Bold"/>
                  <a:sym typeface="Avenir Bold"/>
                </a:rPr>
                <a:t>LITERATURE REVIEW</a:t>
              </a:r>
              <a:r>
                <a:rPr lang="en-US" b="true" sz="4800">
                  <a:solidFill>
                    <a:srgbClr val="958EA2"/>
                  </a:solidFill>
                  <a:latin typeface="Avenir Bold"/>
                  <a:ea typeface="Avenir Bold"/>
                  <a:cs typeface="Avenir Bold"/>
                  <a:sym typeface="Avenir Bold"/>
                </a:rPr>
                <a:t>  </a:t>
              </a:r>
            </a:p>
          </p:txBody>
        </p:sp>
      </p:grpSp>
      <p:grpSp>
        <p:nvGrpSpPr>
          <p:cNvPr name="Group 11" id="11"/>
          <p:cNvGrpSpPr/>
          <p:nvPr/>
        </p:nvGrpSpPr>
        <p:grpSpPr>
          <a:xfrm rot="0">
            <a:off x="15537656" y="685800"/>
            <a:ext cx="1601553" cy="707403"/>
            <a:chOff x="0" y="0"/>
            <a:chExt cx="2135403" cy="943204"/>
          </a:xfrm>
        </p:grpSpPr>
        <p:sp>
          <p:nvSpPr>
            <p:cNvPr name="Freeform 12" id="12"/>
            <p:cNvSpPr/>
            <p:nvPr/>
          </p:nvSpPr>
          <p:spPr>
            <a:xfrm flipH="false" flipV="false" rot="0">
              <a:off x="0" y="0"/>
              <a:ext cx="2135400" cy="943200"/>
            </a:xfrm>
            <a:custGeom>
              <a:avLst/>
              <a:gdLst/>
              <a:ahLst/>
              <a:cxnLst/>
              <a:rect r="r" b="b" t="t" l="l"/>
              <a:pathLst>
                <a:path h="943200" w="2135400">
                  <a:moveTo>
                    <a:pt x="0" y="0"/>
                  </a:moveTo>
                  <a:lnTo>
                    <a:pt x="2135400" y="0"/>
                  </a:lnTo>
                  <a:lnTo>
                    <a:pt x="2135400" y="943200"/>
                  </a:lnTo>
                  <a:lnTo>
                    <a:pt x="0" y="943200"/>
                  </a:lnTo>
                  <a:close/>
                </a:path>
              </a:pathLst>
            </a:custGeom>
            <a:solidFill>
              <a:srgbClr val="000000">
                <a:alpha val="0"/>
              </a:srgbClr>
            </a:solidFill>
            <a:ln w="12700">
              <a:solidFill>
                <a:srgbClr val="000000"/>
              </a:solidFill>
            </a:ln>
          </p:spPr>
        </p:sp>
        <p:sp>
          <p:nvSpPr>
            <p:cNvPr name="TextBox 13" id="13"/>
            <p:cNvSpPr txBox="true"/>
            <p:nvPr/>
          </p:nvSpPr>
          <p:spPr>
            <a:xfrm>
              <a:off x="0" y="-9525"/>
              <a:ext cx="2135403" cy="952729"/>
            </a:xfrm>
            <a:prstGeom prst="rect">
              <a:avLst/>
            </a:prstGeom>
          </p:spPr>
          <p:txBody>
            <a:bodyPr anchor="ctr" rtlCol="false" tIns="0" lIns="0" bIns="0" rIns="0"/>
            <a:lstStyle/>
            <a:p>
              <a:pPr algn="r">
                <a:lnSpc>
                  <a:spcPts val="2879"/>
                </a:lnSpc>
              </a:pPr>
              <a:r>
                <a:rPr lang="en-US" sz="2400">
                  <a:solidFill>
                    <a:srgbClr val="958EA2"/>
                  </a:solidFill>
                  <a:latin typeface="Arial"/>
                  <a:ea typeface="Arial"/>
                  <a:cs typeface="Arial"/>
                  <a:sym typeface="Arial"/>
                </a:rPr>
                <a:t>7</a:t>
              </a:r>
            </a:p>
          </p:txBody>
        </p:sp>
      </p:grpSp>
      <p:graphicFrame>
        <p:nvGraphicFramePr>
          <p:cNvPr name="Table 14" id="14"/>
          <p:cNvGraphicFramePr>
            <a:graphicFrameLocks noGrp="true"/>
          </p:cNvGraphicFramePr>
          <p:nvPr/>
        </p:nvGraphicFramePr>
        <p:xfrm>
          <a:off x="1216800" y="2408720"/>
          <a:ext cx="16706850" cy="7243034"/>
        </p:xfrm>
        <a:graphic>
          <a:graphicData uri="http://schemas.openxmlformats.org/drawingml/2006/table">
            <a:tbl>
              <a:tblPr/>
              <a:tblGrid>
                <a:gridCol w="3406033"/>
                <a:gridCol w="2372363"/>
                <a:gridCol w="3599255"/>
                <a:gridCol w="4016517"/>
                <a:gridCol w="3312682"/>
              </a:tblGrid>
              <a:tr h="690742">
                <a:tc>
                  <a:txBody>
                    <a:bodyPr anchor="t" rtlCol="false"/>
                    <a:lstStyle/>
                    <a:p>
                      <a:pPr algn="ctr">
                        <a:lnSpc>
                          <a:spcPts val="3311"/>
                        </a:lnSpc>
                        <a:defRPr/>
                      </a:pPr>
                      <a:r>
                        <a:rPr lang="en-US" b="true" sz="2400">
                          <a:solidFill>
                            <a:srgbClr val="000000"/>
                          </a:solidFill>
                          <a:latin typeface="Times New Roman Bold"/>
                          <a:ea typeface="Times New Roman Bold"/>
                          <a:cs typeface="Times New Roman Bold"/>
                          <a:sym typeface="Times New Roman Bold"/>
                        </a:rPr>
                        <a:t>Paper Title</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ctr">
                        <a:lnSpc>
                          <a:spcPts val="3311"/>
                        </a:lnSpc>
                        <a:defRPr/>
                      </a:pPr>
                      <a:r>
                        <a:rPr lang="en-US" b="true" sz="2400">
                          <a:solidFill>
                            <a:srgbClr val="000000"/>
                          </a:solidFill>
                          <a:latin typeface="Times New Roman Bold"/>
                          <a:ea typeface="Times New Roman Bold"/>
                          <a:cs typeface="Times New Roman Bold"/>
                          <a:sym typeface="Times New Roman Bold"/>
                        </a:rPr>
                        <a:t>Author &amp; Year</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ctr">
                        <a:lnSpc>
                          <a:spcPts val="3311"/>
                        </a:lnSpc>
                        <a:defRPr/>
                      </a:pPr>
                      <a:r>
                        <a:rPr lang="en-US" b="true" sz="2400">
                          <a:solidFill>
                            <a:srgbClr val="000000"/>
                          </a:solidFill>
                          <a:latin typeface="Times New Roman Bold"/>
                          <a:ea typeface="Times New Roman Bold"/>
                          <a:cs typeface="Times New Roman Bold"/>
                          <a:sym typeface="Times New Roman Bold"/>
                        </a:rPr>
                        <a:t>Methodology</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ctr">
                        <a:lnSpc>
                          <a:spcPts val="3311"/>
                        </a:lnSpc>
                        <a:defRPr/>
                      </a:pPr>
                      <a:r>
                        <a:rPr lang="en-US" b="true" sz="2400">
                          <a:solidFill>
                            <a:srgbClr val="000000"/>
                          </a:solidFill>
                          <a:latin typeface="Times New Roman Bold"/>
                          <a:ea typeface="Times New Roman Bold"/>
                          <a:cs typeface="Times New Roman Bold"/>
                          <a:sym typeface="Times New Roman Bold"/>
                        </a:rPr>
                        <a:t>Inference</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ctr">
                        <a:lnSpc>
                          <a:spcPts val="3311"/>
                        </a:lnSpc>
                        <a:defRPr/>
                      </a:pPr>
                      <a:r>
                        <a:rPr lang="en-US" b="true" sz="2400">
                          <a:solidFill>
                            <a:srgbClr val="000000"/>
                          </a:solidFill>
                          <a:latin typeface="Times New Roman Bold"/>
                          <a:ea typeface="Times New Roman Bold"/>
                          <a:cs typeface="Times New Roman Bold"/>
                          <a:sym typeface="Times New Roman Bold"/>
                        </a:rPr>
                        <a:t>Limitations</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r>
              <a:tr h="1363869">
                <a:tc>
                  <a:txBody>
                    <a:bodyPr anchor="t" rtlCol="false"/>
                    <a:lstStyle/>
                    <a:p>
                      <a:pPr algn="just">
                        <a:lnSpc>
                          <a:spcPts val="2160"/>
                        </a:lnSpc>
                        <a:defRPr/>
                      </a:pPr>
                      <a:r>
                        <a:rPr lang="en-US" sz="1800">
                          <a:solidFill>
                            <a:srgbClr val="000000"/>
                          </a:solidFill>
                          <a:latin typeface="EB Garamond"/>
                          <a:ea typeface="EB Garamond"/>
                          <a:cs typeface="EB Garamond"/>
                          <a:sym typeface="EB Garamond"/>
                        </a:rPr>
                        <a:t>Tour: Recommending personalized itineraries for smart tourism</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l">
                        <a:lnSpc>
                          <a:spcPts val="2160"/>
                        </a:lnSpc>
                        <a:defRPr/>
                      </a:pPr>
                      <a:r>
                        <a:rPr lang="en-US" sz="1800">
                          <a:solidFill>
                            <a:srgbClr val="000000"/>
                          </a:solidFill>
                          <a:latin typeface="EB Garamond"/>
                          <a:ea typeface="EB Garamond"/>
                          <a:cs typeface="EB Garamond"/>
                          <a:sym typeface="EB Garamond"/>
                        </a:rPr>
                        <a:t>João Paulo Esper et al., 2025</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EB Garamond"/>
                          <a:ea typeface="EB Garamond"/>
                          <a:cs typeface="EB Garamond"/>
                          <a:sym typeface="EB Garamond"/>
                        </a:rPr>
                        <a:t>Itinerary recommendation integrated with Multi-access Edge Computing (MEC), optimizing POIs, preferences, and app constraints</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EB Garamond"/>
                          <a:ea typeface="EB Garamond"/>
                          <a:cs typeface="EB Garamond"/>
                          <a:sym typeface="EB Garamond"/>
                        </a:rPr>
                        <a:t>Provides joint optimization of itineraries with resource awareness, suitable for real-time smart tourism apps</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EB Garamond"/>
                          <a:ea typeface="EB Garamond"/>
                          <a:cs typeface="EB Garamond"/>
                          <a:sym typeface="EB Garamond"/>
                        </a:rPr>
                        <a:t>Focuses heavily on MEC resource allocation; limited validation in diverse tourism contexts</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r>
              <a:tr h="1363869">
                <a:tc>
                  <a:txBody>
                    <a:bodyPr anchor="t" rtlCol="false"/>
                    <a:lstStyle/>
                    <a:p>
                      <a:pPr algn="just">
                        <a:lnSpc>
                          <a:spcPts val="2160"/>
                        </a:lnSpc>
                        <a:defRPr/>
                      </a:pPr>
                      <a:r>
                        <a:rPr lang="en-US" sz="1800">
                          <a:solidFill>
                            <a:srgbClr val="000000"/>
                          </a:solidFill>
                          <a:latin typeface="EB Garamond"/>
                          <a:ea typeface="EB Garamond"/>
                          <a:cs typeface="EB Garamond"/>
                          <a:sym typeface="EB Garamond"/>
                        </a:rPr>
                        <a:t>Modeling sustainable city trips: integrating  emissions, popularity, and seasonality into tourism recommender systems</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l">
                        <a:lnSpc>
                          <a:spcPts val="2160"/>
                        </a:lnSpc>
                        <a:defRPr/>
                      </a:pPr>
                      <a:r>
                        <a:rPr lang="en-US" sz="1800">
                          <a:solidFill>
                            <a:srgbClr val="000000"/>
                          </a:solidFill>
                          <a:latin typeface="EB Garamond"/>
                          <a:ea typeface="EB Garamond"/>
                          <a:cs typeface="EB Garamond"/>
                          <a:sym typeface="EB Garamond"/>
                        </a:rPr>
                        <a:t>Ashmi Banerjee et al., 2024</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EB Garamond"/>
                          <a:ea typeface="EB Garamond"/>
                          <a:cs typeface="EB Garamond"/>
                          <a:sym typeface="EB Garamond"/>
                        </a:rPr>
                        <a:t>Builds a sustainability score combining emissions, popularity, and seasonality, tested in a recommender system</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EB Garamond"/>
                          <a:ea typeface="EB Garamond"/>
                          <a:cs typeface="EB Garamond"/>
                          <a:sym typeface="EB Garamond"/>
                        </a:rPr>
                        <a:t>Shows how CO₂, demand, and popularity can be balanced in city trip planning</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EB Garamond"/>
                          <a:ea typeface="EB Garamond"/>
                          <a:cs typeface="EB Garamond"/>
                          <a:sym typeface="EB Garamond"/>
                        </a:rPr>
                        <a:t>Evaluated only in urban tourism; does not address multi-day heritage itineraries</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r>
              <a:tr h="1096817">
                <a:tc>
                  <a:txBody>
                    <a:bodyPr anchor="t" rtlCol="false"/>
                    <a:lstStyle/>
                    <a:p>
                      <a:pPr algn="just">
                        <a:lnSpc>
                          <a:spcPts val="2160"/>
                        </a:lnSpc>
                        <a:defRPr/>
                      </a:pPr>
                      <a:r>
                        <a:rPr lang="en-US" sz="1800">
                          <a:solidFill>
                            <a:srgbClr val="000000"/>
                          </a:solidFill>
                          <a:latin typeface="EB Garamond"/>
                          <a:ea typeface="EB Garamond"/>
                          <a:cs typeface="EB Garamond"/>
                          <a:sym typeface="EB Garamond"/>
                        </a:rPr>
                        <a:t>A User Interface Study on Sustainable City Trip Recommendations</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l">
                        <a:lnSpc>
                          <a:spcPts val="2160"/>
                        </a:lnSpc>
                        <a:defRPr/>
                      </a:pPr>
                      <a:r>
                        <a:rPr lang="en-US" sz="1800">
                          <a:solidFill>
                            <a:srgbClr val="000000"/>
                          </a:solidFill>
                          <a:latin typeface="EB Garamond"/>
                          <a:ea typeface="EB Garamond"/>
                          <a:cs typeface="EB Garamond"/>
                          <a:sym typeface="EB Garamond"/>
                        </a:rPr>
                        <a:t>A Banerjee el at ,2024</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EB Garamond"/>
                          <a:ea typeface="EB Garamond"/>
                          <a:cs typeface="EB Garamond"/>
                          <a:sym typeface="EB Garamond"/>
                        </a:rPr>
                        <a:t>User study evaluating how sustainability labels and popularity info affect traveler decisions</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EB Garamond"/>
                          <a:ea typeface="EB Garamond"/>
                          <a:cs typeface="EB Garamond"/>
                          <a:sym typeface="EB Garamond"/>
                        </a:rPr>
                        <a:t>Demonstrates that clear sustainability cues increase eco-friendly travel choices</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EB Garamond"/>
                          <a:ea typeface="EB Garamond"/>
                          <a:cs typeface="EB Garamond"/>
                          <a:sym typeface="EB Garamond"/>
                        </a:rPr>
                        <a:t>Limited to UI factors; backend optimization for carbon/crowd not addressed</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r>
              <a:tr h="1363869">
                <a:tc>
                  <a:txBody>
                    <a:bodyPr anchor="t" rtlCol="false"/>
                    <a:lstStyle/>
                    <a:p>
                      <a:pPr algn="just">
                        <a:lnSpc>
                          <a:spcPts val="2160"/>
                        </a:lnSpc>
                        <a:defRPr/>
                      </a:pPr>
                      <a:r>
                        <a:rPr lang="en-US" sz="1800">
                          <a:solidFill>
                            <a:srgbClr val="000000"/>
                          </a:solidFill>
                          <a:latin typeface="EB Garamond"/>
                          <a:ea typeface="EB Garamond"/>
                          <a:cs typeface="EB Garamond"/>
                          <a:sym typeface="EB Garamond"/>
                        </a:rPr>
                        <a:t>Promoting sustainable tourism by recommending sequences of attractions with deep reinforcement learning</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l">
                        <a:lnSpc>
                          <a:spcPts val="2160"/>
                        </a:lnSpc>
                        <a:defRPr/>
                      </a:pPr>
                      <a:r>
                        <a:rPr lang="en-US" sz="1800">
                          <a:solidFill>
                            <a:srgbClr val="000000"/>
                          </a:solidFill>
                          <a:latin typeface="EB Garamond"/>
                          <a:ea typeface="EB Garamond"/>
                          <a:cs typeface="EB Garamond"/>
                          <a:sym typeface="EB Garamond"/>
                        </a:rPr>
                        <a:t>Anna Dalla Vecchia, 2023</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EB Garamond"/>
                          <a:ea typeface="EB Garamond"/>
                          <a:cs typeface="EB Garamond"/>
                          <a:sym typeface="EB Garamond"/>
                        </a:rPr>
                        <a:t>Applies DRL to generate sustainable itineraries considering context like time, weather, and congestion</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EB Garamond"/>
                          <a:ea typeface="EB Garamond"/>
                          <a:cs typeface="EB Garamond"/>
                          <a:sym typeface="EB Garamond"/>
                        </a:rPr>
                        <a:t>Reinforcement learning effectively produces adaptive attraction sequences</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EB Garamond"/>
                          <a:ea typeface="EB Garamond"/>
                          <a:cs typeface="EB Garamond"/>
                          <a:sym typeface="EB Garamond"/>
                        </a:rPr>
                        <a:t>High computation cost; requires extensive training data from real tourism scenarios</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r>
              <a:tr h="1363869">
                <a:tc>
                  <a:txBody>
                    <a:bodyPr anchor="t" rtlCol="false"/>
                    <a:lstStyle/>
                    <a:p>
                      <a:pPr algn="just">
                        <a:lnSpc>
                          <a:spcPts val="2160"/>
                        </a:lnSpc>
                        <a:defRPr/>
                      </a:pPr>
                      <a:r>
                        <a:rPr lang="en-US" sz="1800">
                          <a:solidFill>
                            <a:srgbClr val="000000"/>
                          </a:solidFill>
                          <a:latin typeface="EB Garamond"/>
                          <a:ea typeface="EB Garamond"/>
                          <a:cs typeface="EB Garamond"/>
                          <a:sym typeface="EB Garamond"/>
                        </a:rPr>
                        <a:t>Multi-objective fuzzy tourist trip design problem with heterogeneous preferences and sustainable itineraries</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l">
                        <a:lnSpc>
                          <a:spcPts val="2160"/>
                        </a:lnSpc>
                        <a:defRPr/>
                      </a:pPr>
                      <a:r>
                        <a:rPr lang="en-US" sz="1800">
                          <a:solidFill>
                            <a:srgbClr val="000000"/>
                          </a:solidFill>
                          <a:latin typeface="EB Garamond"/>
                          <a:ea typeface="EB Garamond"/>
                          <a:cs typeface="EB Garamond"/>
                          <a:sym typeface="EB Garamond"/>
                        </a:rPr>
                        <a:t>J Ruiz-Meza,2021</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EB Garamond"/>
                          <a:ea typeface="EB Garamond"/>
                          <a:cs typeface="EB Garamond"/>
                          <a:sym typeface="EB Garamond"/>
                        </a:rPr>
                        <a:t>Uses fuzzy logic and multi-objective optimization to balance heterogeneous tourist preferences</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EB Garamond"/>
                          <a:ea typeface="EB Garamond"/>
                          <a:cs typeface="EB Garamond"/>
                          <a:sym typeface="EB Garamond"/>
                        </a:rPr>
                        <a:t>Handles uncertainty in user interests and provides flexible itinerary recommendations</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EB Garamond"/>
                          <a:ea typeface="EB Garamond"/>
                          <a:cs typeface="EB Garamond"/>
                          <a:sym typeface="EB Garamond"/>
                        </a:rPr>
                        <a:t>Complexity increases with number of tourists; not optimized for real-time systems</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 y="0"/>
            <a:ext cx="2325843" cy="3818077"/>
            <a:chOff x="0" y="0"/>
            <a:chExt cx="3101124" cy="5090770"/>
          </a:xfrm>
        </p:grpSpPr>
        <p:sp>
          <p:nvSpPr>
            <p:cNvPr name="Freeform 3" id="3"/>
            <p:cNvSpPr/>
            <p:nvPr/>
          </p:nvSpPr>
          <p:spPr>
            <a:xfrm flipH="false" flipV="false" rot="0">
              <a:off x="0" y="0"/>
              <a:ext cx="3101086" cy="5090795"/>
            </a:xfrm>
            <a:custGeom>
              <a:avLst/>
              <a:gdLst/>
              <a:ahLst/>
              <a:cxnLst/>
              <a:rect r="r" b="b" t="t" l="l"/>
              <a:pathLst>
                <a:path h="5090795" w="3101086">
                  <a:moveTo>
                    <a:pt x="1366266" y="0"/>
                  </a:moveTo>
                  <a:lnTo>
                    <a:pt x="3101086" y="0"/>
                  </a:lnTo>
                  <a:lnTo>
                    <a:pt x="3101086" y="14478"/>
                  </a:lnTo>
                  <a:cubicBezTo>
                    <a:pt x="3101086" y="2045081"/>
                    <a:pt x="2040890" y="3827145"/>
                    <a:pt x="443738" y="4837430"/>
                  </a:cubicBezTo>
                  <a:lnTo>
                    <a:pt x="0" y="5090795"/>
                  </a:lnTo>
                  <a:lnTo>
                    <a:pt x="0" y="3001010"/>
                  </a:lnTo>
                  <a:lnTo>
                    <a:pt x="205105" y="2811018"/>
                  </a:lnTo>
                  <a:cubicBezTo>
                    <a:pt x="833120" y="2178558"/>
                    <a:pt x="1251331" y="1336167"/>
                    <a:pt x="1346073" y="400812"/>
                  </a:cubicBezTo>
                  <a:close/>
                </a:path>
              </a:pathLst>
            </a:custGeom>
            <a:solidFill>
              <a:srgbClr val="AA2070"/>
            </a:solidFill>
            <a:ln w="12700">
              <a:solidFill>
                <a:srgbClr val="000000"/>
              </a:solidFill>
            </a:ln>
          </p:spPr>
        </p:sp>
      </p:grpSp>
      <p:grpSp>
        <p:nvGrpSpPr>
          <p:cNvPr name="Group 4" id="4"/>
          <p:cNvGrpSpPr/>
          <p:nvPr/>
        </p:nvGrpSpPr>
        <p:grpSpPr>
          <a:xfrm rot="0">
            <a:off x="1" y="-19050"/>
            <a:ext cx="1024109" cy="2250072"/>
            <a:chOff x="0" y="0"/>
            <a:chExt cx="1365479" cy="3000096"/>
          </a:xfrm>
        </p:grpSpPr>
        <p:sp>
          <p:nvSpPr>
            <p:cNvPr name="Freeform 5" id="5"/>
            <p:cNvSpPr/>
            <p:nvPr/>
          </p:nvSpPr>
          <p:spPr>
            <a:xfrm flipH="false" flipV="false" rot="0">
              <a:off x="0" y="0"/>
              <a:ext cx="1365504" cy="3000121"/>
            </a:xfrm>
            <a:custGeom>
              <a:avLst/>
              <a:gdLst/>
              <a:ahLst/>
              <a:cxnLst/>
              <a:rect r="r" b="b" t="t" l="l"/>
              <a:pathLst>
                <a:path h="3000121" w="1365504">
                  <a:moveTo>
                    <a:pt x="0" y="0"/>
                  </a:moveTo>
                  <a:lnTo>
                    <a:pt x="1365504" y="0"/>
                  </a:lnTo>
                  <a:lnTo>
                    <a:pt x="1345311" y="400685"/>
                  </a:lnTo>
                  <a:cubicBezTo>
                    <a:pt x="1250569" y="1335913"/>
                    <a:pt x="832485" y="2178177"/>
                    <a:pt x="204597" y="2810510"/>
                  </a:cubicBezTo>
                  <a:lnTo>
                    <a:pt x="0" y="3000121"/>
                  </a:lnTo>
                  <a:close/>
                </a:path>
              </a:pathLst>
            </a:custGeom>
            <a:solidFill>
              <a:srgbClr val="224E7F"/>
            </a:solidFill>
            <a:ln w="12700">
              <a:solidFill>
                <a:srgbClr val="000000"/>
              </a:solidFill>
            </a:ln>
          </p:spPr>
        </p:sp>
      </p:grpSp>
      <p:grpSp>
        <p:nvGrpSpPr>
          <p:cNvPr name="Group 6" id="6"/>
          <p:cNvGrpSpPr/>
          <p:nvPr/>
        </p:nvGrpSpPr>
        <p:grpSpPr>
          <a:xfrm rot="0">
            <a:off x="255670" y="471287"/>
            <a:ext cx="1162536" cy="1162536"/>
            <a:chOff x="0" y="0"/>
            <a:chExt cx="1550048" cy="1550048"/>
          </a:xfrm>
        </p:grpSpPr>
        <p:sp>
          <p:nvSpPr>
            <p:cNvPr name="Freeform 7" id="7"/>
            <p:cNvSpPr/>
            <p:nvPr/>
          </p:nvSpPr>
          <p:spPr>
            <a:xfrm flipH="false" flipV="false" rot="0">
              <a:off x="0" y="0"/>
              <a:ext cx="1550162" cy="1550162"/>
            </a:xfrm>
            <a:custGeom>
              <a:avLst/>
              <a:gdLst/>
              <a:ahLst/>
              <a:cxnLst/>
              <a:rect r="r" b="b" t="t" l="l"/>
              <a:pathLst>
                <a:path h="1550162" w="1550162">
                  <a:moveTo>
                    <a:pt x="775081" y="1550035"/>
                  </a:moveTo>
                  <a:cubicBezTo>
                    <a:pt x="1203071" y="1550035"/>
                    <a:pt x="1550162" y="1203071"/>
                    <a:pt x="1550162" y="774954"/>
                  </a:cubicBezTo>
                  <a:cubicBezTo>
                    <a:pt x="1550162" y="346837"/>
                    <a:pt x="1203071" y="0"/>
                    <a:pt x="775081" y="0"/>
                  </a:cubicBezTo>
                  <a:cubicBezTo>
                    <a:pt x="347091" y="0"/>
                    <a:pt x="0" y="346964"/>
                    <a:pt x="0" y="775081"/>
                  </a:cubicBezTo>
                  <a:cubicBezTo>
                    <a:pt x="0" y="1203198"/>
                    <a:pt x="346964" y="1550162"/>
                    <a:pt x="775081" y="1550162"/>
                  </a:cubicBezTo>
                  <a:close/>
                </a:path>
              </a:pathLst>
            </a:custGeom>
            <a:solidFill>
              <a:srgbClr val="958EA2"/>
            </a:solidFill>
            <a:ln w="12700">
              <a:solidFill>
                <a:srgbClr val="000000"/>
              </a:solidFill>
            </a:ln>
          </p:spPr>
        </p:sp>
      </p:grpSp>
      <p:grpSp>
        <p:nvGrpSpPr>
          <p:cNvPr name="Group 8" id="8"/>
          <p:cNvGrpSpPr/>
          <p:nvPr/>
        </p:nvGrpSpPr>
        <p:grpSpPr>
          <a:xfrm rot="0">
            <a:off x="2347560" y="485604"/>
            <a:ext cx="15768904" cy="1471051"/>
            <a:chOff x="0" y="0"/>
            <a:chExt cx="21025206" cy="1961401"/>
          </a:xfrm>
        </p:grpSpPr>
        <p:sp>
          <p:nvSpPr>
            <p:cNvPr name="Freeform 9" id="9"/>
            <p:cNvSpPr/>
            <p:nvPr/>
          </p:nvSpPr>
          <p:spPr>
            <a:xfrm flipH="false" flipV="false" rot="0">
              <a:off x="0" y="0"/>
              <a:ext cx="21025200" cy="1961400"/>
            </a:xfrm>
            <a:custGeom>
              <a:avLst/>
              <a:gdLst/>
              <a:ahLst/>
              <a:cxnLst/>
              <a:rect r="r" b="b" t="t" l="l"/>
              <a:pathLst>
                <a:path h="1961400" w="21025200">
                  <a:moveTo>
                    <a:pt x="0" y="0"/>
                  </a:moveTo>
                  <a:lnTo>
                    <a:pt x="21025200" y="0"/>
                  </a:lnTo>
                  <a:lnTo>
                    <a:pt x="21025200" y="1961400"/>
                  </a:lnTo>
                  <a:lnTo>
                    <a:pt x="0" y="1961400"/>
                  </a:lnTo>
                  <a:close/>
                </a:path>
              </a:pathLst>
            </a:custGeom>
            <a:solidFill>
              <a:srgbClr val="000000">
                <a:alpha val="0"/>
              </a:srgbClr>
            </a:solidFill>
            <a:ln w="12700">
              <a:solidFill>
                <a:srgbClr val="000000"/>
              </a:solidFill>
            </a:ln>
          </p:spPr>
        </p:sp>
        <p:sp>
          <p:nvSpPr>
            <p:cNvPr name="TextBox 10" id="10"/>
            <p:cNvSpPr txBox="true"/>
            <p:nvPr/>
          </p:nvSpPr>
          <p:spPr>
            <a:xfrm>
              <a:off x="0" y="-95250"/>
              <a:ext cx="21025206" cy="2056651"/>
            </a:xfrm>
            <a:prstGeom prst="rect">
              <a:avLst/>
            </a:prstGeom>
          </p:spPr>
          <p:txBody>
            <a:bodyPr anchor="b" rtlCol="false" tIns="0" lIns="0" bIns="0" rIns="0"/>
            <a:lstStyle/>
            <a:p>
              <a:pPr algn="l">
                <a:lnSpc>
                  <a:spcPts val="5759"/>
                </a:lnSpc>
              </a:pPr>
              <a:r>
                <a:rPr lang="en-US" b="true" sz="4800">
                  <a:solidFill>
                    <a:srgbClr val="000000"/>
                  </a:solidFill>
                  <a:latin typeface="Avenir Bold"/>
                  <a:ea typeface="Avenir Bold"/>
                  <a:cs typeface="Avenir Bold"/>
                  <a:sym typeface="Avenir Bold"/>
                </a:rPr>
                <a:t>LITERATURE REVIEW</a:t>
              </a:r>
              <a:r>
                <a:rPr lang="en-US" b="true" sz="4800">
                  <a:solidFill>
                    <a:srgbClr val="958EA2"/>
                  </a:solidFill>
                  <a:latin typeface="Avenir Bold"/>
                  <a:ea typeface="Avenir Bold"/>
                  <a:cs typeface="Avenir Bold"/>
                  <a:sym typeface="Avenir Bold"/>
                </a:rPr>
                <a:t>  </a:t>
              </a:r>
            </a:p>
          </p:txBody>
        </p:sp>
      </p:grpSp>
      <p:grpSp>
        <p:nvGrpSpPr>
          <p:cNvPr name="Group 11" id="11"/>
          <p:cNvGrpSpPr/>
          <p:nvPr/>
        </p:nvGrpSpPr>
        <p:grpSpPr>
          <a:xfrm rot="0">
            <a:off x="15537656" y="685800"/>
            <a:ext cx="1601553" cy="707403"/>
            <a:chOff x="0" y="0"/>
            <a:chExt cx="2135403" cy="943204"/>
          </a:xfrm>
        </p:grpSpPr>
        <p:sp>
          <p:nvSpPr>
            <p:cNvPr name="Freeform 12" id="12"/>
            <p:cNvSpPr/>
            <p:nvPr/>
          </p:nvSpPr>
          <p:spPr>
            <a:xfrm flipH="false" flipV="false" rot="0">
              <a:off x="0" y="0"/>
              <a:ext cx="2135400" cy="943200"/>
            </a:xfrm>
            <a:custGeom>
              <a:avLst/>
              <a:gdLst/>
              <a:ahLst/>
              <a:cxnLst/>
              <a:rect r="r" b="b" t="t" l="l"/>
              <a:pathLst>
                <a:path h="943200" w="2135400">
                  <a:moveTo>
                    <a:pt x="0" y="0"/>
                  </a:moveTo>
                  <a:lnTo>
                    <a:pt x="2135400" y="0"/>
                  </a:lnTo>
                  <a:lnTo>
                    <a:pt x="2135400" y="943200"/>
                  </a:lnTo>
                  <a:lnTo>
                    <a:pt x="0" y="943200"/>
                  </a:lnTo>
                  <a:close/>
                </a:path>
              </a:pathLst>
            </a:custGeom>
            <a:solidFill>
              <a:srgbClr val="000000">
                <a:alpha val="0"/>
              </a:srgbClr>
            </a:solidFill>
            <a:ln w="12700">
              <a:solidFill>
                <a:srgbClr val="000000"/>
              </a:solidFill>
            </a:ln>
          </p:spPr>
        </p:sp>
        <p:sp>
          <p:nvSpPr>
            <p:cNvPr name="TextBox 13" id="13"/>
            <p:cNvSpPr txBox="true"/>
            <p:nvPr/>
          </p:nvSpPr>
          <p:spPr>
            <a:xfrm>
              <a:off x="0" y="-9525"/>
              <a:ext cx="2135403" cy="952729"/>
            </a:xfrm>
            <a:prstGeom prst="rect">
              <a:avLst/>
            </a:prstGeom>
          </p:spPr>
          <p:txBody>
            <a:bodyPr anchor="ctr" rtlCol="false" tIns="0" lIns="0" bIns="0" rIns="0"/>
            <a:lstStyle/>
            <a:p>
              <a:pPr algn="r">
                <a:lnSpc>
                  <a:spcPts val="2879"/>
                </a:lnSpc>
              </a:pPr>
              <a:r>
                <a:rPr lang="en-US" sz="2400">
                  <a:solidFill>
                    <a:srgbClr val="958EA2"/>
                  </a:solidFill>
                  <a:latin typeface="Arial"/>
                  <a:ea typeface="Arial"/>
                  <a:cs typeface="Arial"/>
                  <a:sym typeface="Arial"/>
                </a:rPr>
                <a:t>8</a:t>
              </a:r>
            </a:p>
          </p:txBody>
        </p:sp>
      </p:grpSp>
      <p:graphicFrame>
        <p:nvGraphicFramePr>
          <p:cNvPr name="Table 14" id="14"/>
          <p:cNvGraphicFramePr>
            <a:graphicFrameLocks noGrp="true"/>
          </p:cNvGraphicFramePr>
          <p:nvPr/>
        </p:nvGraphicFramePr>
        <p:xfrm>
          <a:off x="521495" y="2354850"/>
          <a:ext cx="17564100" cy="7640086"/>
        </p:xfrm>
        <a:graphic>
          <a:graphicData uri="http://schemas.openxmlformats.org/drawingml/2006/table">
            <a:tbl>
              <a:tblPr/>
              <a:tblGrid>
                <a:gridCol w="3863323"/>
                <a:gridCol w="2087637"/>
                <a:gridCol w="3722404"/>
                <a:gridCol w="3859758"/>
                <a:gridCol w="4030977"/>
              </a:tblGrid>
              <a:tr h="1096742">
                <a:tc>
                  <a:txBody>
                    <a:bodyPr anchor="t" rtlCol="false"/>
                    <a:lstStyle/>
                    <a:p>
                      <a:pPr algn="ctr">
                        <a:lnSpc>
                          <a:spcPts val="3311"/>
                        </a:lnSpc>
                        <a:defRPr/>
                      </a:pPr>
                      <a:r>
                        <a:rPr lang="en-US" b="true" sz="2400">
                          <a:solidFill>
                            <a:srgbClr val="000000"/>
                          </a:solidFill>
                          <a:latin typeface="Times New Roman Bold"/>
                          <a:ea typeface="Times New Roman Bold"/>
                          <a:cs typeface="Times New Roman Bold"/>
                          <a:sym typeface="Times New Roman Bold"/>
                        </a:rPr>
                        <a:t>Paper Title</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ctr">
                        <a:lnSpc>
                          <a:spcPts val="3311"/>
                        </a:lnSpc>
                        <a:defRPr/>
                      </a:pPr>
                      <a:r>
                        <a:rPr lang="en-US" b="true" sz="2400">
                          <a:solidFill>
                            <a:srgbClr val="000000"/>
                          </a:solidFill>
                          <a:latin typeface="Times New Roman Bold"/>
                          <a:ea typeface="Times New Roman Bold"/>
                          <a:cs typeface="Times New Roman Bold"/>
                          <a:sym typeface="Times New Roman Bold"/>
                        </a:rPr>
                        <a:t>Author &amp; Year</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ctr">
                        <a:lnSpc>
                          <a:spcPts val="3311"/>
                        </a:lnSpc>
                        <a:defRPr/>
                      </a:pPr>
                      <a:r>
                        <a:rPr lang="en-US" b="true" sz="2400">
                          <a:solidFill>
                            <a:srgbClr val="000000"/>
                          </a:solidFill>
                          <a:latin typeface="Times New Roman Bold"/>
                          <a:ea typeface="Times New Roman Bold"/>
                          <a:cs typeface="Times New Roman Bold"/>
                          <a:sym typeface="Times New Roman Bold"/>
                        </a:rPr>
                        <a:t>Methodology</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ctr">
                        <a:lnSpc>
                          <a:spcPts val="3311"/>
                        </a:lnSpc>
                        <a:defRPr/>
                      </a:pPr>
                      <a:r>
                        <a:rPr lang="en-US" b="true" sz="2400">
                          <a:solidFill>
                            <a:srgbClr val="000000"/>
                          </a:solidFill>
                          <a:latin typeface="Times New Roman Bold"/>
                          <a:ea typeface="Times New Roman Bold"/>
                          <a:cs typeface="Times New Roman Bold"/>
                          <a:sym typeface="Times New Roman Bold"/>
                        </a:rPr>
                        <a:t>Inference</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ctr">
                        <a:lnSpc>
                          <a:spcPts val="3311"/>
                        </a:lnSpc>
                        <a:defRPr/>
                      </a:pPr>
                      <a:r>
                        <a:rPr lang="en-US" b="true" sz="2400">
                          <a:solidFill>
                            <a:srgbClr val="000000"/>
                          </a:solidFill>
                          <a:latin typeface="Times New Roman Bold"/>
                          <a:ea typeface="Times New Roman Bold"/>
                          <a:cs typeface="Times New Roman Bold"/>
                          <a:sym typeface="Times New Roman Bold"/>
                        </a:rPr>
                        <a:t>Limitations</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r>
              <a:tr h="1096638">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rPr>
                        <a:t>Tourism demand forecasting using stacking ensemble model with adaptive fuzzy combiner</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rPr>
                        <a:t>S Cankurt., 2022</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rPr>
                        <a:t>Ensemble ML model combining time series, fuzzy logic, and adaptive weights for prediction</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rPr>
                        <a:t>Provides accurate demand forecasts for tourist flows</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rPr>
                        <a:t>Focused on demand forecasting only; does not connect forecasts to actual itineraries</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r>
              <a:tr h="1096638">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rPr>
                        <a:t>Research on optimization of tourist attraction route planning through multiple big data</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rPr>
                        <a:t>M Dong., 2024</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rPr>
                        <a:t>Combines POI data, road networks, and GA-PSO hybrid algorithm for route planning</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rPr>
                        <a:t>Produces optimized travel routes based on big data patterns</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rPr>
                        <a:t>Primarily emphasizes algorithmic optimization; lacks sustainability focus</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r>
              <a:tr h="1888304">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rPr>
                        <a:t>A carbon aware ant colony system for the sustainable generalized traveling salesman problem</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hlinkClick r:id="rId3" tooltip="https://www.nature.com/articles/s41598-025-08276-9#auth-Marina-Lin-Aff1"/>
                        </a:rPr>
                        <a:t>Marina Lin</a:t>
                      </a:r>
                      <a:r>
                        <a:rPr lang="en-US" sz="1800">
                          <a:solidFill>
                            <a:srgbClr val="000000"/>
                          </a:solidFill>
                          <a:latin typeface="Times New Roman"/>
                          <a:ea typeface="Times New Roman"/>
                          <a:cs typeface="Times New Roman"/>
                          <a:sym typeface="Times New Roman"/>
                        </a:rPr>
                        <a:t>.</a:t>
                      </a:r>
                      <a:r>
                        <a:rPr lang="en-US" sz="1800">
                          <a:solidFill>
                            <a:srgbClr val="000000"/>
                          </a:solidFill>
                          <a:latin typeface="Times New Roman"/>
                          <a:ea typeface="Times New Roman"/>
                          <a:cs typeface="Times New Roman"/>
                          <a:sym typeface="Times New Roman"/>
                          <a:hlinkClick r:id="rId4" tooltip="https://link.springer.com/chapter/10.1007/978-981-99-1767-9_51#auth-S_-Poonkuzhali"/>
                        </a:rPr>
                        <a:t>, 202</a:t>
                      </a:r>
                      <a:r>
                        <a:rPr lang="en-US" sz="1800">
                          <a:solidFill>
                            <a:srgbClr val="000000"/>
                          </a:solidFill>
                          <a:latin typeface="Times New Roman"/>
                          <a:ea typeface="Times New Roman"/>
                          <a:cs typeface="Times New Roman"/>
                          <a:sym typeface="Times New Roman"/>
                        </a:rPr>
                        <a:t>5</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rPr>
                        <a:t>Modified Ant Colony Optimization to include a carbon objective (bi-objective optimization) and tested on generalized TSP routing tasks to minimize CO₂ while preserving route quality</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rPr>
                        <a:t>Carbon-aware metaheuristics can produce travel routes that trade small increases in distance/time for substantial reductions in emissions, suitable for transport-aware itinerary planning.</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rPr>
                        <a:t>Focuses on routing/vehicle emissions only; does not integrate user preferences, site crowding, or multimodal door-to-door emissions</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r>
              <a:tr h="1365124">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rPr>
                        <a:t>Implementation of green tourism concept through a dynamic programming algorithm to select the best route of tourist travel</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rPr>
                        <a:t>A Susanty, 2018</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rPr>
                        <a:t>Dynamic programming used to select routes minimizing CO₂ emissions</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rPr>
                        <a:t>Offers eco-friendly route optimization framework</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rPr>
                        <a:t>Simplistic assumptions; ignores dynamic crowd and weather conditions</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r>
              <a:tr h="1096638">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rPr>
                        <a:t>Use of the Multi-Agent Paradigm in Sustainable Tourism</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rPr>
                        <a:t>M Husáková., 2023</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rPr>
                        <a:t>Multi-agent modeling applied to simulate stakeholder interactions in tourism</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rPr>
                        <a:t>Shows value of agent-based systems for sustainability decision-making</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c>
                  <a:txBody>
                    <a:bodyPr anchor="t" rtlCol="false"/>
                    <a:lstStyle/>
                    <a:p>
                      <a:pPr algn="just">
                        <a:lnSpc>
                          <a:spcPts val="2160"/>
                        </a:lnSpc>
                        <a:defRPr/>
                      </a:pPr>
                      <a:r>
                        <a:rPr lang="en-US" sz="1800">
                          <a:solidFill>
                            <a:srgbClr val="000000"/>
                          </a:solidFill>
                          <a:latin typeface="Times New Roman"/>
                          <a:ea typeface="Times New Roman"/>
                          <a:cs typeface="Times New Roman"/>
                          <a:sym typeface="Times New Roman"/>
                        </a:rPr>
                        <a:t>Theoretical; limited case studies for practical validation</a:t>
                      </a:r>
                      <a:endParaRPr lang="en-US" sz="1100"/>
                    </a:p>
                  </a:txBody>
                  <a:tcPr marL="91438" marR="91438" marT="91438" marB="91438"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6100" y="-600"/>
            <a:ext cx="18324004" cy="5200650"/>
            <a:chOff x="0" y="0"/>
            <a:chExt cx="24432006" cy="6934200"/>
          </a:xfrm>
        </p:grpSpPr>
        <p:sp>
          <p:nvSpPr>
            <p:cNvPr name="Freeform 3" id="3"/>
            <p:cNvSpPr/>
            <p:nvPr/>
          </p:nvSpPr>
          <p:spPr>
            <a:xfrm flipH="false" flipV="false" rot="0">
              <a:off x="0" y="0"/>
              <a:ext cx="24432006" cy="6934200"/>
            </a:xfrm>
            <a:custGeom>
              <a:avLst/>
              <a:gdLst/>
              <a:ahLst/>
              <a:cxnLst/>
              <a:rect r="r" b="b" t="t" l="l"/>
              <a:pathLst>
                <a:path h="6934200" w="24432006">
                  <a:moveTo>
                    <a:pt x="0" y="0"/>
                  </a:moveTo>
                  <a:lnTo>
                    <a:pt x="24432006" y="0"/>
                  </a:lnTo>
                  <a:lnTo>
                    <a:pt x="24432006" y="6934200"/>
                  </a:lnTo>
                  <a:lnTo>
                    <a:pt x="0" y="6934200"/>
                  </a:lnTo>
                  <a:close/>
                </a:path>
              </a:pathLst>
            </a:custGeom>
            <a:solidFill>
              <a:srgbClr val="224E7F"/>
            </a:solidFill>
            <a:ln w="12700">
              <a:solidFill>
                <a:srgbClr val="000000"/>
              </a:solidFill>
            </a:ln>
          </p:spPr>
        </p:sp>
      </p:grpSp>
      <p:grpSp>
        <p:nvGrpSpPr>
          <p:cNvPr name="Group 4" id="4"/>
          <p:cNvGrpSpPr/>
          <p:nvPr/>
        </p:nvGrpSpPr>
        <p:grpSpPr>
          <a:xfrm rot="0">
            <a:off x="665016" y="630736"/>
            <a:ext cx="16957796" cy="9040054"/>
            <a:chOff x="0" y="0"/>
            <a:chExt cx="22610394" cy="12053405"/>
          </a:xfrm>
        </p:grpSpPr>
        <p:sp>
          <p:nvSpPr>
            <p:cNvPr name="Freeform 5" id="5"/>
            <p:cNvSpPr/>
            <p:nvPr/>
          </p:nvSpPr>
          <p:spPr>
            <a:xfrm flipH="false" flipV="false" rot="0">
              <a:off x="0" y="0"/>
              <a:ext cx="22610445" cy="12053443"/>
            </a:xfrm>
            <a:custGeom>
              <a:avLst/>
              <a:gdLst/>
              <a:ahLst/>
              <a:cxnLst/>
              <a:rect r="r" b="b" t="t" l="l"/>
              <a:pathLst>
                <a:path h="12053443" w="22610445">
                  <a:moveTo>
                    <a:pt x="0" y="0"/>
                  </a:moveTo>
                  <a:lnTo>
                    <a:pt x="22610445" y="0"/>
                  </a:lnTo>
                  <a:lnTo>
                    <a:pt x="22610445" y="12053443"/>
                  </a:lnTo>
                  <a:lnTo>
                    <a:pt x="0" y="12053443"/>
                  </a:lnTo>
                  <a:close/>
                </a:path>
              </a:pathLst>
            </a:custGeom>
            <a:solidFill>
              <a:srgbClr val="FFFFFF"/>
            </a:solidFill>
            <a:ln w="12700">
              <a:solidFill>
                <a:srgbClr val="000000"/>
              </a:solidFill>
            </a:ln>
          </p:spPr>
        </p:sp>
      </p:grpSp>
      <p:grpSp>
        <p:nvGrpSpPr>
          <p:cNvPr name="Group 6" id="6"/>
          <p:cNvGrpSpPr/>
          <p:nvPr/>
        </p:nvGrpSpPr>
        <p:grpSpPr>
          <a:xfrm rot="-5400000">
            <a:off x="8640032" y="5646696"/>
            <a:ext cx="4218537" cy="5091217"/>
            <a:chOff x="0" y="0"/>
            <a:chExt cx="5624716" cy="6788290"/>
          </a:xfrm>
        </p:grpSpPr>
        <p:sp>
          <p:nvSpPr>
            <p:cNvPr name="Freeform 7" id="7"/>
            <p:cNvSpPr/>
            <p:nvPr/>
          </p:nvSpPr>
          <p:spPr>
            <a:xfrm flipH="false" flipV="false" rot="0">
              <a:off x="0" y="0"/>
              <a:ext cx="5624703" cy="6788277"/>
            </a:xfrm>
            <a:custGeom>
              <a:avLst/>
              <a:gdLst/>
              <a:ahLst/>
              <a:cxnLst/>
              <a:rect r="r" b="b" t="t" l="l"/>
              <a:pathLst>
                <a:path h="6788277" w="5624703">
                  <a:moveTo>
                    <a:pt x="0" y="0"/>
                  </a:moveTo>
                  <a:lnTo>
                    <a:pt x="5624703" y="6788277"/>
                  </a:lnTo>
                  <a:lnTo>
                    <a:pt x="0" y="6788277"/>
                  </a:lnTo>
                  <a:close/>
                </a:path>
              </a:pathLst>
            </a:custGeom>
            <a:solidFill>
              <a:srgbClr val="ECEDD2">
                <a:alpha val="24314"/>
              </a:srgbClr>
            </a:solidFill>
            <a:ln w="12700">
              <a:solidFill>
                <a:srgbClr val="000000"/>
              </a:solidFill>
            </a:ln>
          </p:spPr>
        </p:sp>
      </p:grpSp>
      <p:grpSp>
        <p:nvGrpSpPr>
          <p:cNvPr name="Group 8" id="8"/>
          <p:cNvGrpSpPr/>
          <p:nvPr/>
        </p:nvGrpSpPr>
        <p:grpSpPr>
          <a:xfrm rot="0">
            <a:off x="0" y="5195783"/>
            <a:ext cx="652863" cy="5091217"/>
            <a:chOff x="0" y="0"/>
            <a:chExt cx="870483" cy="6788290"/>
          </a:xfrm>
        </p:grpSpPr>
        <p:sp>
          <p:nvSpPr>
            <p:cNvPr name="Freeform 9" id="9"/>
            <p:cNvSpPr/>
            <p:nvPr/>
          </p:nvSpPr>
          <p:spPr>
            <a:xfrm flipH="false" flipV="false" rot="0">
              <a:off x="0" y="0"/>
              <a:ext cx="870458" cy="6788277"/>
            </a:xfrm>
            <a:custGeom>
              <a:avLst/>
              <a:gdLst/>
              <a:ahLst/>
              <a:cxnLst/>
              <a:rect r="r" b="b" t="t" l="l"/>
              <a:pathLst>
                <a:path h="6788277" w="870458">
                  <a:moveTo>
                    <a:pt x="870458" y="0"/>
                  </a:moveTo>
                  <a:lnTo>
                    <a:pt x="870458" y="6788277"/>
                  </a:lnTo>
                  <a:lnTo>
                    <a:pt x="0" y="6788277"/>
                  </a:lnTo>
                  <a:lnTo>
                    <a:pt x="0" y="1046988"/>
                  </a:lnTo>
                  <a:close/>
                </a:path>
              </a:pathLst>
            </a:custGeom>
            <a:solidFill>
              <a:srgbClr val="AA2070"/>
            </a:solidFill>
            <a:ln w="12700">
              <a:solidFill>
                <a:srgbClr val="000000"/>
              </a:solidFill>
            </a:ln>
          </p:spPr>
        </p:sp>
      </p:grpSp>
      <p:grpSp>
        <p:nvGrpSpPr>
          <p:cNvPr name="Group 10" id="10"/>
          <p:cNvGrpSpPr/>
          <p:nvPr/>
        </p:nvGrpSpPr>
        <p:grpSpPr>
          <a:xfrm rot="0">
            <a:off x="1355271" y="814726"/>
            <a:ext cx="7889396" cy="1156954"/>
            <a:chOff x="0" y="0"/>
            <a:chExt cx="10519194" cy="1542606"/>
          </a:xfrm>
        </p:grpSpPr>
        <p:sp>
          <p:nvSpPr>
            <p:cNvPr name="Freeform 11" id="11"/>
            <p:cNvSpPr/>
            <p:nvPr/>
          </p:nvSpPr>
          <p:spPr>
            <a:xfrm flipH="false" flipV="false" rot="0">
              <a:off x="0" y="0"/>
              <a:ext cx="10519200" cy="1542600"/>
            </a:xfrm>
            <a:custGeom>
              <a:avLst/>
              <a:gdLst/>
              <a:ahLst/>
              <a:cxnLst/>
              <a:rect r="r" b="b" t="t" l="l"/>
              <a:pathLst>
                <a:path h="1542600" w="10519200">
                  <a:moveTo>
                    <a:pt x="0" y="0"/>
                  </a:moveTo>
                  <a:lnTo>
                    <a:pt x="10519200" y="0"/>
                  </a:lnTo>
                  <a:lnTo>
                    <a:pt x="10519200" y="1542600"/>
                  </a:lnTo>
                  <a:lnTo>
                    <a:pt x="0" y="1542600"/>
                  </a:lnTo>
                  <a:close/>
                </a:path>
              </a:pathLst>
            </a:custGeom>
            <a:solidFill>
              <a:srgbClr val="000000">
                <a:alpha val="0"/>
              </a:srgbClr>
            </a:solidFill>
            <a:ln w="12700">
              <a:solidFill>
                <a:srgbClr val="000000"/>
              </a:solidFill>
            </a:ln>
          </p:spPr>
        </p:sp>
        <p:sp>
          <p:nvSpPr>
            <p:cNvPr name="TextBox 12" id="12"/>
            <p:cNvSpPr txBox="true"/>
            <p:nvPr/>
          </p:nvSpPr>
          <p:spPr>
            <a:xfrm>
              <a:off x="0" y="-104775"/>
              <a:ext cx="10519194" cy="1647381"/>
            </a:xfrm>
            <a:prstGeom prst="rect">
              <a:avLst/>
            </a:prstGeom>
          </p:spPr>
          <p:txBody>
            <a:bodyPr anchor="b" rtlCol="false" tIns="0" lIns="0" bIns="0" rIns="0"/>
            <a:lstStyle/>
            <a:p>
              <a:pPr algn="l">
                <a:lnSpc>
                  <a:spcPts val="6480"/>
                </a:lnSpc>
              </a:pPr>
              <a:r>
                <a:rPr lang="en-US" b="true" sz="5400">
                  <a:solidFill>
                    <a:srgbClr val="000000"/>
                  </a:solidFill>
                  <a:latin typeface="Avenir Bold"/>
                  <a:ea typeface="Avenir Bold"/>
                  <a:cs typeface="Avenir Bold"/>
                  <a:sym typeface="Avenir Bold"/>
                </a:rPr>
                <a:t>RESEARCH GAP</a:t>
              </a:r>
            </a:p>
          </p:txBody>
        </p:sp>
      </p:grpSp>
      <p:grpSp>
        <p:nvGrpSpPr>
          <p:cNvPr name="Group 13" id="13"/>
          <p:cNvGrpSpPr/>
          <p:nvPr/>
        </p:nvGrpSpPr>
        <p:grpSpPr>
          <a:xfrm rot="0">
            <a:off x="15657709" y="685800"/>
            <a:ext cx="1481404" cy="707403"/>
            <a:chOff x="0" y="0"/>
            <a:chExt cx="1975206" cy="943204"/>
          </a:xfrm>
        </p:grpSpPr>
        <p:sp>
          <p:nvSpPr>
            <p:cNvPr name="Freeform 14" id="14"/>
            <p:cNvSpPr/>
            <p:nvPr/>
          </p:nvSpPr>
          <p:spPr>
            <a:xfrm flipH="false" flipV="false" rot="0">
              <a:off x="0" y="0"/>
              <a:ext cx="1975200" cy="943200"/>
            </a:xfrm>
            <a:custGeom>
              <a:avLst/>
              <a:gdLst/>
              <a:ahLst/>
              <a:cxnLst/>
              <a:rect r="r" b="b" t="t" l="l"/>
              <a:pathLst>
                <a:path h="943200" w="1975200">
                  <a:moveTo>
                    <a:pt x="0" y="0"/>
                  </a:moveTo>
                  <a:lnTo>
                    <a:pt x="1975200" y="0"/>
                  </a:lnTo>
                  <a:lnTo>
                    <a:pt x="1975200" y="943200"/>
                  </a:lnTo>
                  <a:lnTo>
                    <a:pt x="0" y="943200"/>
                  </a:lnTo>
                  <a:close/>
                </a:path>
              </a:pathLst>
            </a:custGeom>
            <a:solidFill>
              <a:srgbClr val="000000">
                <a:alpha val="0"/>
              </a:srgbClr>
            </a:solidFill>
            <a:ln w="12700">
              <a:solidFill>
                <a:srgbClr val="000000"/>
              </a:solidFill>
            </a:ln>
          </p:spPr>
        </p:sp>
        <p:sp>
          <p:nvSpPr>
            <p:cNvPr name="TextBox 15" id="15"/>
            <p:cNvSpPr txBox="true"/>
            <p:nvPr/>
          </p:nvSpPr>
          <p:spPr>
            <a:xfrm>
              <a:off x="0" y="-9525"/>
              <a:ext cx="1975206" cy="952729"/>
            </a:xfrm>
            <a:prstGeom prst="rect">
              <a:avLst/>
            </a:prstGeom>
          </p:spPr>
          <p:txBody>
            <a:bodyPr anchor="ctr" rtlCol="false" tIns="0" lIns="0" bIns="0" rIns="0"/>
            <a:lstStyle/>
            <a:p>
              <a:pPr algn="r">
                <a:lnSpc>
                  <a:spcPts val="2879"/>
                </a:lnSpc>
              </a:pPr>
              <a:r>
                <a:rPr lang="en-US" sz="2400">
                  <a:solidFill>
                    <a:srgbClr val="888888"/>
                  </a:solidFill>
                  <a:latin typeface="Arial"/>
                  <a:ea typeface="Arial"/>
                  <a:cs typeface="Arial"/>
                  <a:sym typeface="Arial"/>
                </a:rPr>
                <a:t>9</a:t>
              </a:r>
            </a:p>
          </p:txBody>
        </p:sp>
      </p:grpSp>
      <p:sp>
        <p:nvSpPr>
          <p:cNvPr name="TextBox 16" id="16"/>
          <p:cNvSpPr txBox="true"/>
          <p:nvPr/>
        </p:nvSpPr>
        <p:spPr>
          <a:xfrm rot="0">
            <a:off x="2296205" y="2571150"/>
            <a:ext cx="14102206" cy="5819775"/>
          </a:xfrm>
          <a:prstGeom prst="rect">
            <a:avLst/>
          </a:prstGeom>
        </p:spPr>
        <p:txBody>
          <a:bodyPr anchor="t" rtlCol="false" tIns="0" lIns="0" bIns="0" rIns="0">
            <a:spAutoFit/>
          </a:bodyPr>
          <a:lstStyle/>
          <a:p>
            <a:pPr algn="just" marL="1036307" indent="-518154" lvl="1">
              <a:lnSpc>
                <a:spcPts val="5759"/>
              </a:lnSpc>
              <a:buFont typeface="Arial"/>
              <a:buChar char="•"/>
            </a:pPr>
            <a:r>
              <a:rPr lang="en-US" sz="4799">
                <a:solidFill>
                  <a:srgbClr val="000000"/>
                </a:solidFill>
                <a:latin typeface="Times New Roman"/>
                <a:ea typeface="Times New Roman"/>
                <a:cs typeface="Times New Roman"/>
                <a:sym typeface="Times New Roman"/>
              </a:rPr>
              <a:t>No unified system combining personalization + sustainability + real-time adaptability</a:t>
            </a:r>
          </a:p>
          <a:p>
            <a:pPr algn="just" marL="1036307" indent="-518154" lvl="1">
              <a:lnSpc>
                <a:spcPts val="5759"/>
              </a:lnSpc>
              <a:buFont typeface="Arial"/>
              <a:buChar char="•"/>
            </a:pPr>
            <a:r>
              <a:rPr lang="en-US" sz="4799">
                <a:solidFill>
                  <a:srgbClr val="000000"/>
                </a:solidFill>
                <a:latin typeface="Times New Roman"/>
                <a:ea typeface="Times New Roman"/>
                <a:cs typeface="Times New Roman"/>
                <a:sym typeface="Times New Roman"/>
              </a:rPr>
              <a:t>Absence of agentic multi-agent coordination in tourism platforms</a:t>
            </a:r>
          </a:p>
          <a:p>
            <a:pPr algn="just" marL="1036307" indent="-518154" lvl="1">
              <a:lnSpc>
                <a:spcPts val="5759"/>
              </a:lnSpc>
              <a:buFont typeface="Arial"/>
              <a:buChar char="•"/>
            </a:pPr>
            <a:r>
              <a:rPr lang="en-US" sz="4799">
                <a:solidFill>
                  <a:srgbClr val="000000"/>
                </a:solidFill>
                <a:latin typeface="Times New Roman"/>
                <a:ea typeface="Times New Roman"/>
                <a:cs typeface="Times New Roman"/>
                <a:sym typeface="Times New Roman"/>
              </a:rPr>
              <a:t>Carbon emissions are rarely considered in itinerary optimization</a:t>
            </a:r>
          </a:p>
          <a:p>
            <a:pPr algn="just" marL="1036307" indent="-518154" lvl="1">
              <a:lnSpc>
                <a:spcPts val="5759"/>
              </a:lnSpc>
              <a:buFont typeface="Arial"/>
              <a:buChar char="•"/>
            </a:pPr>
            <a:r>
              <a:rPr lang="en-US" sz="4799">
                <a:solidFill>
                  <a:srgbClr val="000000"/>
                </a:solidFill>
                <a:latin typeface="Times New Roman"/>
                <a:ea typeface="Times New Roman"/>
                <a:cs typeface="Times New Roman"/>
                <a:sym typeface="Times New Roman"/>
              </a:rPr>
              <a:t>Lack of eco-conscious and user-adaptive heritage tourism planning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6100" y="5086350"/>
            <a:ext cx="18324004" cy="5200650"/>
            <a:chOff x="0" y="0"/>
            <a:chExt cx="24432006" cy="6934200"/>
          </a:xfrm>
        </p:grpSpPr>
        <p:sp>
          <p:nvSpPr>
            <p:cNvPr name="Freeform 3" id="3"/>
            <p:cNvSpPr/>
            <p:nvPr/>
          </p:nvSpPr>
          <p:spPr>
            <a:xfrm flipH="false" flipV="false" rot="0">
              <a:off x="0" y="0"/>
              <a:ext cx="24432006" cy="6934200"/>
            </a:xfrm>
            <a:custGeom>
              <a:avLst/>
              <a:gdLst/>
              <a:ahLst/>
              <a:cxnLst/>
              <a:rect r="r" b="b" t="t" l="l"/>
              <a:pathLst>
                <a:path h="6934200" w="24432006">
                  <a:moveTo>
                    <a:pt x="0" y="0"/>
                  </a:moveTo>
                  <a:lnTo>
                    <a:pt x="24432006" y="0"/>
                  </a:lnTo>
                  <a:lnTo>
                    <a:pt x="24432006" y="6934200"/>
                  </a:lnTo>
                  <a:lnTo>
                    <a:pt x="0" y="6934200"/>
                  </a:lnTo>
                  <a:close/>
                </a:path>
              </a:pathLst>
            </a:custGeom>
            <a:solidFill>
              <a:srgbClr val="EC008C"/>
            </a:solidFill>
            <a:ln w="12700">
              <a:solidFill>
                <a:srgbClr val="000000"/>
              </a:solidFill>
            </a:ln>
          </p:spPr>
        </p:sp>
      </p:grpSp>
      <p:grpSp>
        <p:nvGrpSpPr>
          <p:cNvPr name="Group 4" id="4"/>
          <p:cNvGrpSpPr/>
          <p:nvPr/>
        </p:nvGrpSpPr>
        <p:grpSpPr>
          <a:xfrm rot="0">
            <a:off x="665016" y="498767"/>
            <a:ext cx="16957796" cy="9040054"/>
            <a:chOff x="0" y="0"/>
            <a:chExt cx="22610394" cy="12053405"/>
          </a:xfrm>
        </p:grpSpPr>
        <p:sp>
          <p:nvSpPr>
            <p:cNvPr name="Freeform 5" id="5"/>
            <p:cNvSpPr/>
            <p:nvPr/>
          </p:nvSpPr>
          <p:spPr>
            <a:xfrm flipH="false" flipV="false" rot="0">
              <a:off x="0" y="0"/>
              <a:ext cx="22610445" cy="12053443"/>
            </a:xfrm>
            <a:custGeom>
              <a:avLst/>
              <a:gdLst/>
              <a:ahLst/>
              <a:cxnLst/>
              <a:rect r="r" b="b" t="t" l="l"/>
              <a:pathLst>
                <a:path h="12053443" w="22610445">
                  <a:moveTo>
                    <a:pt x="0" y="0"/>
                  </a:moveTo>
                  <a:lnTo>
                    <a:pt x="22610445" y="0"/>
                  </a:lnTo>
                  <a:lnTo>
                    <a:pt x="22610445" y="12053443"/>
                  </a:lnTo>
                  <a:lnTo>
                    <a:pt x="0" y="12053443"/>
                  </a:lnTo>
                  <a:close/>
                </a:path>
              </a:pathLst>
            </a:custGeom>
            <a:solidFill>
              <a:srgbClr val="FFFFFF"/>
            </a:solidFill>
            <a:ln w="12700">
              <a:solidFill>
                <a:srgbClr val="000000"/>
              </a:solidFill>
            </a:ln>
          </p:spPr>
        </p:sp>
      </p:grpSp>
      <p:sp>
        <p:nvSpPr>
          <p:cNvPr name="Freeform 6" id="6"/>
          <p:cNvSpPr/>
          <p:nvPr/>
        </p:nvSpPr>
        <p:spPr>
          <a:xfrm flipH="false" flipV="false" rot="0">
            <a:off x="14030325" y="0"/>
            <a:ext cx="4257675" cy="4286936"/>
          </a:xfrm>
          <a:custGeom>
            <a:avLst/>
            <a:gdLst/>
            <a:ahLst/>
            <a:cxnLst/>
            <a:rect r="r" b="b" t="t" l="l"/>
            <a:pathLst>
              <a:path h="4286936" w="4257675">
                <a:moveTo>
                  <a:pt x="0" y="0"/>
                </a:moveTo>
                <a:lnTo>
                  <a:pt x="4257675" y="0"/>
                </a:lnTo>
                <a:lnTo>
                  <a:pt x="4257675" y="4286936"/>
                </a:lnTo>
                <a:lnTo>
                  <a:pt x="0" y="42869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800777" y="648853"/>
            <a:ext cx="11145603" cy="2350799"/>
            <a:chOff x="0" y="0"/>
            <a:chExt cx="14860803" cy="3134398"/>
          </a:xfrm>
        </p:grpSpPr>
        <p:sp>
          <p:nvSpPr>
            <p:cNvPr name="Freeform 8" id="8"/>
            <p:cNvSpPr/>
            <p:nvPr/>
          </p:nvSpPr>
          <p:spPr>
            <a:xfrm flipH="false" flipV="false" rot="0">
              <a:off x="0" y="0"/>
              <a:ext cx="14860800" cy="3134400"/>
            </a:xfrm>
            <a:custGeom>
              <a:avLst/>
              <a:gdLst/>
              <a:ahLst/>
              <a:cxnLst/>
              <a:rect r="r" b="b" t="t" l="l"/>
              <a:pathLst>
                <a:path h="3134400" w="14860800">
                  <a:moveTo>
                    <a:pt x="0" y="0"/>
                  </a:moveTo>
                  <a:lnTo>
                    <a:pt x="14860800" y="0"/>
                  </a:lnTo>
                  <a:lnTo>
                    <a:pt x="14860800" y="3134400"/>
                  </a:lnTo>
                  <a:lnTo>
                    <a:pt x="0" y="3134400"/>
                  </a:lnTo>
                  <a:close/>
                </a:path>
              </a:pathLst>
            </a:custGeom>
            <a:solidFill>
              <a:srgbClr val="000000">
                <a:alpha val="0"/>
              </a:srgbClr>
            </a:solidFill>
            <a:ln w="12700">
              <a:solidFill>
                <a:srgbClr val="000000"/>
              </a:solidFill>
            </a:ln>
          </p:spPr>
        </p:sp>
        <p:sp>
          <p:nvSpPr>
            <p:cNvPr name="TextBox 9" id="9"/>
            <p:cNvSpPr txBox="true"/>
            <p:nvPr/>
          </p:nvSpPr>
          <p:spPr>
            <a:xfrm>
              <a:off x="0" y="-104775"/>
              <a:ext cx="14860803" cy="3239173"/>
            </a:xfrm>
            <a:prstGeom prst="rect">
              <a:avLst/>
            </a:prstGeom>
          </p:spPr>
          <p:txBody>
            <a:bodyPr anchor="ctr" rtlCol="false" tIns="0" lIns="0" bIns="0" rIns="0"/>
            <a:lstStyle/>
            <a:p>
              <a:pPr algn="l">
                <a:lnSpc>
                  <a:spcPts val="6480"/>
                </a:lnSpc>
              </a:pPr>
              <a:r>
                <a:rPr lang="en-US" b="true" sz="5400">
                  <a:solidFill>
                    <a:srgbClr val="000000"/>
                  </a:solidFill>
                  <a:latin typeface="Avenir Bold"/>
                  <a:ea typeface="Avenir Bold"/>
                  <a:cs typeface="Avenir Bold"/>
                  <a:sym typeface="Avenir Bold"/>
                </a:rPr>
                <a:t>PROBLEM STATEMENT</a:t>
              </a:r>
            </a:p>
          </p:txBody>
        </p:sp>
      </p:grpSp>
      <p:sp>
        <p:nvSpPr>
          <p:cNvPr name="TextBox 10" id="10"/>
          <p:cNvSpPr txBox="true"/>
          <p:nvPr/>
        </p:nvSpPr>
        <p:spPr>
          <a:xfrm rot="0">
            <a:off x="1350978" y="2250548"/>
            <a:ext cx="14215310" cy="6829425"/>
          </a:xfrm>
          <a:prstGeom prst="rect">
            <a:avLst/>
          </a:prstGeom>
        </p:spPr>
        <p:txBody>
          <a:bodyPr anchor="t" rtlCol="false" tIns="0" lIns="0" bIns="0" rIns="0">
            <a:spAutoFit/>
          </a:bodyPr>
          <a:lstStyle/>
          <a:p>
            <a:pPr algn="l" marL="1320170" indent="-330042" lvl="3">
              <a:lnSpc>
                <a:spcPts val="5400"/>
              </a:lnSpc>
              <a:buFont typeface="Arial"/>
              <a:buChar char="￭"/>
            </a:pPr>
            <a:r>
              <a:rPr lang="en-US" sz="3000">
                <a:solidFill>
                  <a:srgbClr val="000000"/>
                </a:solidFill>
                <a:latin typeface="Times New Roman"/>
                <a:ea typeface="Times New Roman"/>
                <a:cs typeface="Times New Roman"/>
                <a:sym typeface="Times New Roman"/>
              </a:rPr>
              <a:t>Rapid growth in heritage tourism in India is causing unsustainable pressure on popular sites like Rajasthan’s forts, Hampi, and Khajuraho</a:t>
            </a:r>
          </a:p>
          <a:p>
            <a:pPr algn="l" marL="1320170" indent="-330042" lvl="3">
              <a:lnSpc>
                <a:spcPts val="5400"/>
              </a:lnSpc>
              <a:buFont typeface="Arial"/>
              <a:buChar char="￭"/>
            </a:pPr>
            <a:r>
              <a:rPr lang="en-US" sz="3000">
                <a:solidFill>
                  <a:srgbClr val="000000"/>
                </a:solidFill>
                <a:latin typeface="Times New Roman"/>
                <a:ea typeface="Times New Roman"/>
                <a:cs typeface="Times New Roman"/>
                <a:sym typeface="Times New Roman"/>
              </a:rPr>
              <a:t>India ranks 4th globally in tourism-related carbon emissions due to high domestic travel demand.</a:t>
            </a:r>
          </a:p>
          <a:p>
            <a:pPr algn="l" marL="1320170" indent="-330042" lvl="3">
              <a:lnSpc>
                <a:spcPts val="5400"/>
              </a:lnSpc>
              <a:buFont typeface="Arial"/>
              <a:buChar char="￭"/>
            </a:pPr>
            <a:r>
              <a:rPr lang="en-US" sz="3000">
                <a:solidFill>
                  <a:srgbClr val="000000"/>
                </a:solidFill>
                <a:latin typeface="Times New Roman"/>
                <a:ea typeface="Times New Roman"/>
                <a:cs typeface="Times New Roman"/>
                <a:sym typeface="Times New Roman"/>
              </a:rPr>
              <a:t>Existing systems lack integration of real-time carbon data, seasonal visitor load, and adaptive behavior modeling.</a:t>
            </a:r>
          </a:p>
          <a:p>
            <a:pPr algn="l" marL="1320170" indent="-330042" lvl="3">
              <a:lnSpc>
                <a:spcPts val="5400"/>
              </a:lnSpc>
              <a:buFont typeface="Arial"/>
              <a:buChar char="￭"/>
            </a:pPr>
            <a:r>
              <a:rPr lang="en-US" sz="3000">
                <a:solidFill>
                  <a:srgbClr val="000000"/>
                </a:solidFill>
                <a:latin typeface="Times New Roman"/>
                <a:ea typeface="Times New Roman"/>
                <a:cs typeface="Times New Roman"/>
                <a:sym typeface="Times New Roman"/>
              </a:rPr>
              <a:t>Current recommendation tools fail to provide personalized, eco-conscious travel planning.</a:t>
            </a:r>
          </a:p>
          <a:p>
            <a:pPr algn="l" marL="1320170" indent="-330042" lvl="3">
              <a:lnSpc>
                <a:spcPts val="5400"/>
              </a:lnSpc>
              <a:buFont typeface="Arial"/>
              <a:buChar char="￭"/>
            </a:pPr>
            <a:r>
              <a:rPr lang="en-US" sz="3000">
                <a:solidFill>
                  <a:srgbClr val="000000"/>
                </a:solidFill>
                <a:latin typeface="Times New Roman"/>
                <a:ea typeface="Times New Roman"/>
                <a:cs typeface="Times New Roman"/>
                <a:sym typeface="Times New Roman"/>
              </a:rPr>
              <a:t>There is a critical need for agentic AI-driven multi-agent systems to optimize itineraries while supporting conservation and community engagement.</a:t>
            </a:r>
          </a:p>
        </p:txBody>
      </p:sp>
      <p:grpSp>
        <p:nvGrpSpPr>
          <p:cNvPr name="Group 11" id="11"/>
          <p:cNvGrpSpPr/>
          <p:nvPr/>
        </p:nvGrpSpPr>
        <p:grpSpPr>
          <a:xfrm rot="0">
            <a:off x="15657709" y="685800"/>
            <a:ext cx="1481404" cy="707403"/>
            <a:chOff x="0" y="0"/>
            <a:chExt cx="1975206" cy="943204"/>
          </a:xfrm>
        </p:grpSpPr>
        <p:sp>
          <p:nvSpPr>
            <p:cNvPr name="Freeform 12" id="12"/>
            <p:cNvSpPr/>
            <p:nvPr/>
          </p:nvSpPr>
          <p:spPr>
            <a:xfrm flipH="false" flipV="false" rot="0">
              <a:off x="0" y="0"/>
              <a:ext cx="1975200" cy="943200"/>
            </a:xfrm>
            <a:custGeom>
              <a:avLst/>
              <a:gdLst/>
              <a:ahLst/>
              <a:cxnLst/>
              <a:rect r="r" b="b" t="t" l="l"/>
              <a:pathLst>
                <a:path h="943200" w="1975200">
                  <a:moveTo>
                    <a:pt x="0" y="0"/>
                  </a:moveTo>
                  <a:lnTo>
                    <a:pt x="1975200" y="0"/>
                  </a:lnTo>
                  <a:lnTo>
                    <a:pt x="1975200" y="943200"/>
                  </a:lnTo>
                  <a:lnTo>
                    <a:pt x="0" y="943200"/>
                  </a:lnTo>
                  <a:close/>
                </a:path>
              </a:pathLst>
            </a:custGeom>
            <a:solidFill>
              <a:srgbClr val="000000">
                <a:alpha val="0"/>
              </a:srgbClr>
            </a:solidFill>
            <a:ln w="12700">
              <a:solidFill>
                <a:srgbClr val="000000"/>
              </a:solidFill>
            </a:ln>
          </p:spPr>
        </p:sp>
        <p:sp>
          <p:nvSpPr>
            <p:cNvPr name="TextBox 13" id="13"/>
            <p:cNvSpPr txBox="true"/>
            <p:nvPr/>
          </p:nvSpPr>
          <p:spPr>
            <a:xfrm>
              <a:off x="0" y="-9525"/>
              <a:ext cx="1975206" cy="952729"/>
            </a:xfrm>
            <a:prstGeom prst="rect">
              <a:avLst/>
            </a:prstGeom>
          </p:spPr>
          <p:txBody>
            <a:bodyPr anchor="ctr" rtlCol="false" tIns="0" lIns="0" bIns="0" rIns="0"/>
            <a:lstStyle/>
            <a:p>
              <a:pPr algn="r">
                <a:lnSpc>
                  <a:spcPts val="2879"/>
                </a:lnSpc>
              </a:pPr>
              <a:r>
                <a:rPr lang="en-US" sz="2400">
                  <a:solidFill>
                    <a:srgbClr val="888888"/>
                  </a:solidFill>
                  <a:latin typeface="Arial"/>
                  <a:ea typeface="Arial"/>
                  <a:cs typeface="Arial"/>
                  <a:sym typeface="Arial"/>
                </a:rPr>
                <a:t>10</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353" y="-4172"/>
            <a:ext cx="5164931" cy="10337006"/>
            <a:chOff x="0" y="0"/>
            <a:chExt cx="6886575" cy="13782675"/>
          </a:xfrm>
        </p:grpSpPr>
        <p:sp>
          <p:nvSpPr>
            <p:cNvPr name="Freeform 3" id="3"/>
            <p:cNvSpPr/>
            <p:nvPr/>
          </p:nvSpPr>
          <p:spPr>
            <a:xfrm flipH="false" flipV="false" rot="0">
              <a:off x="0" y="0"/>
              <a:ext cx="6886575" cy="13782675"/>
            </a:xfrm>
            <a:custGeom>
              <a:avLst/>
              <a:gdLst/>
              <a:ahLst/>
              <a:cxnLst/>
              <a:rect r="r" b="b" t="t" l="l"/>
              <a:pathLst>
                <a:path h="13782675" w="6886575">
                  <a:moveTo>
                    <a:pt x="6886575" y="0"/>
                  </a:moveTo>
                  <a:lnTo>
                    <a:pt x="0" y="0"/>
                  </a:lnTo>
                  <a:lnTo>
                    <a:pt x="0" y="13782675"/>
                  </a:lnTo>
                  <a:lnTo>
                    <a:pt x="6886575" y="13782675"/>
                  </a:lnTo>
                  <a:lnTo>
                    <a:pt x="6886575" y="0"/>
                  </a:lnTo>
                  <a:close/>
                </a:path>
              </a:pathLst>
            </a:custGeom>
            <a:solidFill>
              <a:srgbClr val="AA2070"/>
            </a:solidFill>
            <a:ln w="12700">
              <a:solidFill>
                <a:srgbClr val="000000"/>
              </a:solidFill>
            </a:ln>
          </p:spPr>
        </p:sp>
      </p:grpSp>
      <p:sp>
        <p:nvSpPr>
          <p:cNvPr name="Freeform 4" id="4"/>
          <p:cNvSpPr/>
          <p:nvPr/>
        </p:nvSpPr>
        <p:spPr>
          <a:xfrm flipH="false" flipV="false" rot="0">
            <a:off x="2554967" y="-4172"/>
            <a:ext cx="2601611" cy="7750969"/>
          </a:xfrm>
          <a:custGeom>
            <a:avLst/>
            <a:gdLst/>
            <a:ahLst/>
            <a:cxnLst/>
            <a:rect r="r" b="b" t="t" l="l"/>
            <a:pathLst>
              <a:path h="7750969" w="2601611">
                <a:moveTo>
                  <a:pt x="0" y="0"/>
                </a:moveTo>
                <a:lnTo>
                  <a:pt x="2601611" y="0"/>
                </a:lnTo>
                <a:lnTo>
                  <a:pt x="2601611" y="7750969"/>
                </a:lnTo>
                <a:lnTo>
                  <a:pt x="0" y="7750969"/>
                </a:lnTo>
                <a:lnTo>
                  <a:pt x="0" y="0"/>
                </a:lnTo>
                <a:close/>
              </a:path>
            </a:pathLst>
          </a:custGeom>
          <a:blipFill>
            <a:blip r:embed="rId3"/>
            <a:stretch>
              <a:fillRect l="0" t="0" r="0" b="-977"/>
            </a:stretch>
          </a:blipFill>
        </p:spPr>
      </p:sp>
      <p:sp>
        <p:nvSpPr>
          <p:cNvPr name="Freeform 5" id="5"/>
          <p:cNvSpPr/>
          <p:nvPr/>
        </p:nvSpPr>
        <p:spPr>
          <a:xfrm flipH="false" flipV="false" rot="0">
            <a:off x="2582428" y="-4172"/>
            <a:ext cx="2574169" cy="2581275"/>
          </a:xfrm>
          <a:custGeom>
            <a:avLst/>
            <a:gdLst/>
            <a:ahLst/>
            <a:cxnLst/>
            <a:rect r="r" b="b" t="t" l="l"/>
            <a:pathLst>
              <a:path h="2581275" w="2574169">
                <a:moveTo>
                  <a:pt x="0" y="0"/>
                </a:moveTo>
                <a:lnTo>
                  <a:pt x="2574169" y="0"/>
                </a:lnTo>
                <a:lnTo>
                  <a:pt x="2574169" y="2581275"/>
                </a:lnTo>
                <a:lnTo>
                  <a:pt x="0" y="25812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8353" y="5160759"/>
            <a:ext cx="5164931" cy="5172075"/>
            <a:chOff x="0" y="0"/>
            <a:chExt cx="6886575" cy="6896100"/>
          </a:xfrm>
        </p:grpSpPr>
        <p:sp>
          <p:nvSpPr>
            <p:cNvPr name="Freeform 7" id="7"/>
            <p:cNvSpPr/>
            <p:nvPr/>
          </p:nvSpPr>
          <p:spPr>
            <a:xfrm flipH="false" flipV="false" rot="0">
              <a:off x="0" y="0"/>
              <a:ext cx="6886702" cy="6896100"/>
            </a:xfrm>
            <a:custGeom>
              <a:avLst/>
              <a:gdLst/>
              <a:ahLst/>
              <a:cxnLst/>
              <a:rect r="r" b="b" t="t" l="l"/>
              <a:pathLst>
                <a:path h="6896100" w="6886702">
                  <a:moveTo>
                    <a:pt x="3443351" y="6896100"/>
                  </a:moveTo>
                  <a:cubicBezTo>
                    <a:pt x="5345049" y="6896100"/>
                    <a:pt x="6886702" y="5352415"/>
                    <a:pt x="6886702" y="3448050"/>
                  </a:cubicBezTo>
                  <a:cubicBezTo>
                    <a:pt x="6886702" y="1543685"/>
                    <a:pt x="5344922" y="0"/>
                    <a:pt x="3443351" y="0"/>
                  </a:cubicBezTo>
                  <a:cubicBezTo>
                    <a:pt x="1541780" y="0"/>
                    <a:pt x="0" y="1543685"/>
                    <a:pt x="0" y="3448050"/>
                  </a:cubicBezTo>
                  <a:cubicBezTo>
                    <a:pt x="0" y="5352415"/>
                    <a:pt x="1541653" y="6896100"/>
                    <a:pt x="3443351" y="6896100"/>
                  </a:cubicBezTo>
                  <a:close/>
                </a:path>
              </a:pathLst>
            </a:custGeom>
            <a:solidFill>
              <a:srgbClr val="958EA2"/>
            </a:solidFill>
            <a:ln w="12700">
              <a:solidFill>
                <a:srgbClr val="000000"/>
              </a:solidFill>
            </a:ln>
          </p:spPr>
        </p:sp>
      </p:grpSp>
      <p:sp>
        <p:nvSpPr>
          <p:cNvPr name="Freeform 8" id="8"/>
          <p:cNvSpPr/>
          <p:nvPr/>
        </p:nvSpPr>
        <p:spPr>
          <a:xfrm flipH="false" flipV="false" rot="0">
            <a:off x="2577684" y="5160759"/>
            <a:ext cx="2578894" cy="2586038"/>
          </a:xfrm>
          <a:custGeom>
            <a:avLst/>
            <a:gdLst/>
            <a:ahLst/>
            <a:cxnLst/>
            <a:rect r="r" b="b" t="t" l="l"/>
            <a:pathLst>
              <a:path h="2586038" w="2578894">
                <a:moveTo>
                  <a:pt x="0" y="0"/>
                </a:moveTo>
                <a:lnTo>
                  <a:pt x="2578894" y="0"/>
                </a:lnTo>
                <a:lnTo>
                  <a:pt x="2578894" y="2586038"/>
                </a:lnTo>
                <a:lnTo>
                  <a:pt x="0" y="2586038"/>
                </a:lnTo>
                <a:lnTo>
                  <a:pt x="0" y="0"/>
                </a:lnTo>
                <a:close/>
              </a:path>
            </a:pathLst>
          </a:custGeom>
          <a:blipFill>
            <a:blip r:embed="rId6"/>
            <a:stretch>
              <a:fillRect l="0" t="0" r="0" b="0"/>
            </a:stretch>
          </a:blipFill>
        </p:spPr>
      </p:sp>
      <p:grpSp>
        <p:nvGrpSpPr>
          <p:cNvPr name="Group 9" id="9"/>
          <p:cNvGrpSpPr/>
          <p:nvPr/>
        </p:nvGrpSpPr>
        <p:grpSpPr>
          <a:xfrm rot="0">
            <a:off x="6547237" y="1096766"/>
            <a:ext cx="10565549" cy="906751"/>
            <a:chOff x="0" y="0"/>
            <a:chExt cx="14087399" cy="1209002"/>
          </a:xfrm>
        </p:grpSpPr>
        <p:sp>
          <p:nvSpPr>
            <p:cNvPr name="Freeform 10" id="10"/>
            <p:cNvSpPr/>
            <p:nvPr/>
          </p:nvSpPr>
          <p:spPr>
            <a:xfrm flipH="false" flipV="false" rot="0">
              <a:off x="0" y="0"/>
              <a:ext cx="14087401" cy="1209000"/>
            </a:xfrm>
            <a:custGeom>
              <a:avLst/>
              <a:gdLst/>
              <a:ahLst/>
              <a:cxnLst/>
              <a:rect r="r" b="b" t="t" l="l"/>
              <a:pathLst>
                <a:path h="1209000" w="14087401">
                  <a:moveTo>
                    <a:pt x="0" y="0"/>
                  </a:moveTo>
                  <a:lnTo>
                    <a:pt x="14087401" y="0"/>
                  </a:lnTo>
                  <a:lnTo>
                    <a:pt x="14087401" y="1209000"/>
                  </a:lnTo>
                  <a:lnTo>
                    <a:pt x="0" y="1209000"/>
                  </a:lnTo>
                  <a:close/>
                </a:path>
              </a:pathLst>
            </a:custGeom>
            <a:solidFill>
              <a:srgbClr val="000000">
                <a:alpha val="0"/>
              </a:srgbClr>
            </a:solidFill>
            <a:ln w="12700">
              <a:solidFill>
                <a:srgbClr val="000000"/>
              </a:solidFill>
            </a:ln>
          </p:spPr>
        </p:sp>
        <p:sp>
          <p:nvSpPr>
            <p:cNvPr name="TextBox 11" id="11"/>
            <p:cNvSpPr txBox="true"/>
            <p:nvPr/>
          </p:nvSpPr>
          <p:spPr>
            <a:xfrm>
              <a:off x="0" y="-104775"/>
              <a:ext cx="14087399" cy="1313777"/>
            </a:xfrm>
            <a:prstGeom prst="rect">
              <a:avLst/>
            </a:prstGeom>
          </p:spPr>
          <p:txBody>
            <a:bodyPr anchor="b" rtlCol="false" tIns="0" lIns="0" bIns="0" rIns="0"/>
            <a:lstStyle/>
            <a:p>
              <a:pPr algn="l">
                <a:lnSpc>
                  <a:spcPts val="6480"/>
                </a:lnSpc>
              </a:pPr>
              <a:r>
                <a:rPr lang="en-US" b="true" sz="5400">
                  <a:solidFill>
                    <a:srgbClr val="000000"/>
                  </a:solidFill>
                  <a:latin typeface="Avenir Bold"/>
                  <a:ea typeface="Avenir Bold"/>
                  <a:cs typeface="Avenir Bold"/>
                  <a:sym typeface="Avenir Bold"/>
                </a:rPr>
                <a:t>OBJECTIVES</a:t>
              </a:r>
            </a:p>
          </p:txBody>
        </p:sp>
      </p:grpSp>
      <p:grpSp>
        <p:nvGrpSpPr>
          <p:cNvPr name="Group 12" id="12"/>
          <p:cNvGrpSpPr/>
          <p:nvPr/>
        </p:nvGrpSpPr>
        <p:grpSpPr>
          <a:xfrm rot="0">
            <a:off x="15657709" y="685800"/>
            <a:ext cx="1481404" cy="707403"/>
            <a:chOff x="0" y="0"/>
            <a:chExt cx="1975206" cy="943204"/>
          </a:xfrm>
        </p:grpSpPr>
        <p:sp>
          <p:nvSpPr>
            <p:cNvPr name="Freeform 13" id="13"/>
            <p:cNvSpPr/>
            <p:nvPr/>
          </p:nvSpPr>
          <p:spPr>
            <a:xfrm flipH="false" flipV="false" rot="0">
              <a:off x="0" y="0"/>
              <a:ext cx="1975200" cy="943200"/>
            </a:xfrm>
            <a:custGeom>
              <a:avLst/>
              <a:gdLst/>
              <a:ahLst/>
              <a:cxnLst/>
              <a:rect r="r" b="b" t="t" l="l"/>
              <a:pathLst>
                <a:path h="943200" w="1975200">
                  <a:moveTo>
                    <a:pt x="0" y="0"/>
                  </a:moveTo>
                  <a:lnTo>
                    <a:pt x="1975200" y="0"/>
                  </a:lnTo>
                  <a:lnTo>
                    <a:pt x="1975200" y="943200"/>
                  </a:lnTo>
                  <a:lnTo>
                    <a:pt x="0" y="943200"/>
                  </a:lnTo>
                  <a:close/>
                </a:path>
              </a:pathLst>
            </a:custGeom>
            <a:solidFill>
              <a:srgbClr val="000000">
                <a:alpha val="0"/>
              </a:srgbClr>
            </a:solidFill>
            <a:ln w="12700">
              <a:solidFill>
                <a:srgbClr val="000000"/>
              </a:solidFill>
            </a:ln>
          </p:spPr>
        </p:sp>
        <p:sp>
          <p:nvSpPr>
            <p:cNvPr name="TextBox 14" id="14"/>
            <p:cNvSpPr txBox="true"/>
            <p:nvPr/>
          </p:nvSpPr>
          <p:spPr>
            <a:xfrm>
              <a:off x="0" y="-9525"/>
              <a:ext cx="1975206" cy="952729"/>
            </a:xfrm>
            <a:prstGeom prst="rect">
              <a:avLst/>
            </a:prstGeom>
          </p:spPr>
          <p:txBody>
            <a:bodyPr anchor="ctr" rtlCol="false" tIns="0" lIns="0" bIns="0" rIns="0"/>
            <a:lstStyle/>
            <a:p>
              <a:pPr algn="r">
                <a:lnSpc>
                  <a:spcPts val="2879"/>
                </a:lnSpc>
              </a:pPr>
              <a:r>
                <a:rPr lang="en-US" sz="2400">
                  <a:solidFill>
                    <a:srgbClr val="958EA2"/>
                  </a:solidFill>
                  <a:latin typeface="Arial"/>
                  <a:ea typeface="Arial"/>
                  <a:cs typeface="Arial"/>
                  <a:sym typeface="Arial"/>
                </a:rPr>
                <a:t>11</a:t>
              </a:r>
            </a:p>
          </p:txBody>
        </p:sp>
      </p:grpSp>
      <p:sp>
        <p:nvSpPr>
          <p:cNvPr name="TextBox 15" id="15"/>
          <p:cNvSpPr txBox="true"/>
          <p:nvPr/>
        </p:nvSpPr>
        <p:spPr>
          <a:xfrm rot="0">
            <a:off x="5482226" y="2110259"/>
            <a:ext cx="12355573" cy="6175709"/>
          </a:xfrm>
          <a:prstGeom prst="rect">
            <a:avLst/>
          </a:prstGeom>
        </p:spPr>
        <p:txBody>
          <a:bodyPr anchor="t" rtlCol="false" tIns="0" lIns="0" bIns="0" rIns="0">
            <a:spAutoFit/>
          </a:bodyPr>
          <a:lstStyle/>
          <a:p>
            <a:pPr algn="just" marL="1119590" indent="-373197" lvl="2">
              <a:lnSpc>
                <a:spcPts val="6222"/>
              </a:lnSpc>
              <a:buFont typeface="Arial"/>
              <a:buChar char="⚬"/>
            </a:pPr>
            <a:r>
              <a:rPr lang="en-US" sz="2592">
                <a:solidFill>
                  <a:srgbClr val="000000"/>
                </a:solidFill>
                <a:latin typeface="Times New Roman"/>
                <a:ea typeface="Times New Roman"/>
                <a:cs typeface="Times New Roman"/>
                <a:sym typeface="Times New Roman"/>
              </a:rPr>
              <a:t>To create personalized user profiles and recommendations using Collaborative Filtering (SVD) and BERT embeddings for query encoding.</a:t>
            </a:r>
          </a:p>
          <a:p>
            <a:pPr algn="just" marL="1119590" indent="-373197" lvl="2">
              <a:lnSpc>
                <a:spcPts val="6222"/>
              </a:lnSpc>
              <a:buFont typeface="Arial"/>
              <a:buChar char="⚬"/>
            </a:pPr>
            <a:r>
              <a:rPr lang="en-US" sz="2592">
                <a:solidFill>
                  <a:srgbClr val="000000"/>
                </a:solidFill>
                <a:latin typeface="Times New Roman"/>
                <a:ea typeface="Times New Roman"/>
                <a:cs typeface="Times New Roman"/>
                <a:sym typeface="Times New Roman"/>
              </a:rPr>
              <a:t>To build a sustainable tourism model by minimizing carbon emissions using the Carbon Emission Equation and multi-objective optimization (NSGA-II)</a:t>
            </a:r>
          </a:p>
          <a:p>
            <a:pPr algn="just" marL="1119590" indent="-373197" lvl="2">
              <a:lnSpc>
                <a:spcPts val="6222"/>
              </a:lnSpc>
              <a:buFont typeface="Arial"/>
              <a:buChar char="⚬"/>
            </a:pPr>
            <a:r>
              <a:rPr lang="en-US" sz="2592">
                <a:solidFill>
                  <a:srgbClr val="000000"/>
                </a:solidFill>
                <a:latin typeface="Times New Roman"/>
                <a:ea typeface="Times New Roman"/>
                <a:cs typeface="Times New Roman"/>
                <a:sym typeface="Times New Roman"/>
              </a:rPr>
              <a:t>To generate optimized travel paths using Ant Colony Optimization (ACO) for efficient route discovery and iterative improvement..</a:t>
            </a:r>
          </a:p>
          <a:p>
            <a:pPr algn="just" marL="1119590" indent="-373197" lvl="2">
              <a:lnSpc>
                <a:spcPts val="6222"/>
              </a:lnSpc>
              <a:buFont typeface="Arial"/>
              <a:buChar char="⚬"/>
            </a:pPr>
            <a:r>
              <a:rPr lang="en-US" sz="2592">
                <a:solidFill>
                  <a:srgbClr val="000000"/>
                </a:solidFill>
                <a:latin typeface="Times New Roman"/>
                <a:ea typeface="Times New Roman"/>
                <a:cs typeface="Times New Roman"/>
                <a:sym typeface="Times New Roman"/>
              </a:rPr>
              <a:t>To develop an Agentic model–driven multi-agent system supporting adaptive itinerary planning.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6100" y="0"/>
            <a:ext cx="18324004" cy="5200650"/>
            <a:chOff x="0" y="0"/>
            <a:chExt cx="24432006" cy="6934200"/>
          </a:xfrm>
        </p:grpSpPr>
        <p:sp>
          <p:nvSpPr>
            <p:cNvPr name="Freeform 3" id="3"/>
            <p:cNvSpPr/>
            <p:nvPr/>
          </p:nvSpPr>
          <p:spPr>
            <a:xfrm flipH="false" flipV="false" rot="0">
              <a:off x="0" y="0"/>
              <a:ext cx="24432006" cy="6934200"/>
            </a:xfrm>
            <a:custGeom>
              <a:avLst/>
              <a:gdLst/>
              <a:ahLst/>
              <a:cxnLst/>
              <a:rect r="r" b="b" t="t" l="l"/>
              <a:pathLst>
                <a:path h="6934200" w="24432006">
                  <a:moveTo>
                    <a:pt x="0" y="0"/>
                  </a:moveTo>
                  <a:lnTo>
                    <a:pt x="24432006" y="0"/>
                  </a:lnTo>
                  <a:lnTo>
                    <a:pt x="24432006" y="6934200"/>
                  </a:lnTo>
                  <a:lnTo>
                    <a:pt x="0" y="6934200"/>
                  </a:lnTo>
                  <a:close/>
                </a:path>
              </a:pathLst>
            </a:custGeom>
            <a:solidFill>
              <a:srgbClr val="AA2070"/>
            </a:solidFill>
            <a:ln w="12700">
              <a:solidFill>
                <a:srgbClr val="000000"/>
              </a:solidFill>
            </a:ln>
          </p:spPr>
        </p:sp>
      </p:grpSp>
      <p:grpSp>
        <p:nvGrpSpPr>
          <p:cNvPr name="Group 4" id="4"/>
          <p:cNvGrpSpPr/>
          <p:nvPr/>
        </p:nvGrpSpPr>
        <p:grpSpPr>
          <a:xfrm rot="0">
            <a:off x="665016" y="630736"/>
            <a:ext cx="16957796" cy="9040054"/>
            <a:chOff x="0" y="0"/>
            <a:chExt cx="22610394" cy="12053405"/>
          </a:xfrm>
        </p:grpSpPr>
        <p:sp>
          <p:nvSpPr>
            <p:cNvPr name="Freeform 5" id="5"/>
            <p:cNvSpPr/>
            <p:nvPr/>
          </p:nvSpPr>
          <p:spPr>
            <a:xfrm flipH="false" flipV="false" rot="0">
              <a:off x="0" y="0"/>
              <a:ext cx="22610445" cy="12053443"/>
            </a:xfrm>
            <a:custGeom>
              <a:avLst/>
              <a:gdLst/>
              <a:ahLst/>
              <a:cxnLst/>
              <a:rect r="r" b="b" t="t" l="l"/>
              <a:pathLst>
                <a:path h="12053443" w="22610445">
                  <a:moveTo>
                    <a:pt x="0" y="0"/>
                  </a:moveTo>
                  <a:lnTo>
                    <a:pt x="22610445" y="0"/>
                  </a:lnTo>
                  <a:lnTo>
                    <a:pt x="22610445" y="12053443"/>
                  </a:lnTo>
                  <a:lnTo>
                    <a:pt x="0" y="12053443"/>
                  </a:lnTo>
                  <a:close/>
                </a:path>
              </a:pathLst>
            </a:custGeom>
            <a:solidFill>
              <a:srgbClr val="FFFFFF"/>
            </a:solidFill>
            <a:ln w="12700">
              <a:solidFill>
                <a:srgbClr val="000000"/>
              </a:solidFill>
            </a:ln>
          </p:spPr>
        </p:sp>
      </p:grpSp>
      <p:grpSp>
        <p:nvGrpSpPr>
          <p:cNvPr name="Group 6" id="6"/>
          <p:cNvGrpSpPr/>
          <p:nvPr/>
        </p:nvGrpSpPr>
        <p:grpSpPr>
          <a:xfrm rot="0">
            <a:off x="15537656" y="685800"/>
            <a:ext cx="1601553" cy="707403"/>
            <a:chOff x="0" y="0"/>
            <a:chExt cx="2135403" cy="943204"/>
          </a:xfrm>
        </p:grpSpPr>
        <p:sp>
          <p:nvSpPr>
            <p:cNvPr name="Freeform 7" id="7"/>
            <p:cNvSpPr/>
            <p:nvPr/>
          </p:nvSpPr>
          <p:spPr>
            <a:xfrm flipH="false" flipV="false" rot="0">
              <a:off x="0" y="0"/>
              <a:ext cx="2135400" cy="943200"/>
            </a:xfrm>
            <a:custGeom>
              <a:avLst/>
              <a:gdLst/>
              <a:ahLst/>
              <a:cxnLst/>
              <a:rect r="r" b="b" t="t" l="l"/>
              <a:pathLst>
                <a:path h="943200" w="2135400">
                  <a:moveTo>
                    <a:pt x="0" y="0"/>
                  </a:moveTo>
                  <a:lnTo>
                    <a:pt x="2135400" y="0"/>
                  </a:lnTo>
                  <a:lnTo>
                    <a:pt x="2135400" y="943200"/>
                  </a:lnTo>
                  <a:lnTo>
                    <a:pt x="0" y="943200"/>
                  </a:lnTo>
                  <a:close/>
                </a:path>
              </a:pathLst>
            </a:custGeom>
            <a:solidFill>
              <a:srgbClr val="000000">
                <a:alpha val="0"/>
              </a:srgbClr>
            </a:solidFill>
            <a:ln w="12700">
              <a:solidFill>
                <a:srgbClr val="000000"/>
              </a:solidFill>
            </a:ln>
          </p:spPr>
        </p:sp>
        <p:sp>
          <p:nvSpPr>
            <p:cNvPr name="TextBox 8" id="8"/>
            <p:cNvSpPr txBox="true"/>
            <p:nvPr/>
          </p:nvSpPr>
          <p:spPr>
            <a:xfrm>
              <a:off x="0" y="-9525"/>
              <a:ext cx="2135403" cy="952729"/>
            </a:xfrm>
            <a:prstGeom prst="rect">
              <a:avLst/>
            </a:prstGeom>
          </p:spPr>
          <p:txBody>
            <a:bodyPr anchor="ctr" rtlCol="false" tIns="0" lIns="0" bIns="0" rIns="0"/>
            <a:lstStyle/>
            <a:p>
              <a:pPr algn="r">
                <a:lnSpc>
                  <a:spcPts val="2879"/>
                </a:lnSpc>
              </a:pPr>
              <a:r>
                <a:rPr lang="en-US" sz="2400">
                  <a:solidFill>
                    <a:srgbClr val="958EA2"/>
                  </a:solidFill>
                  <a:latin typeface="Arial"/>
                  <a:ea typeface="Arial"/>
                  <a:cs typeface="Arial"/>
                  <a:sym typeface="Arial"/>
                </a:rPr>
                <a:t>12</a:t>
              </a:r>
            </a:p>
          </p:txBody>
        </p:sp>
      </p:grpSp>
      <p:sp>
        <p:nvSpPr>
          <p:cNvPr name="Freeform 9" id="9"/>
          <p:cNvSpPr/>
          <p:nvPr/>
        </p:nvSpPr>
        <p:spPr>
          <a:xfrm flipH="false" flipV="false" rot="0">
            <a:off x="670065" y="640335"/>
            <a:ext cx="9529674" cy="9646665"/>
          </a:xfrm>
          <a:custGeom>
            <a:avLst/>
            <a:gdLst/>
            <a:ahLst/>
            <a:cxnLst/>
            <a:rect r="r" b="b" t="t" l="l"/>
            <a:pathLst>
              <a:path h="9646665" w="9529674">
                <a:moveTo>
                  <a:pt x="0" y="0"/>
                </a:moveTo>
                <a:lnTo>
                  <a:pt x="9529674" y="0"/>
                </a:lnTo>
                <a:lnTo>
                  <a:pt x="9529674" y="9646665"/>
                </a:lnTo>
                <a:lnTo>
                  <a:pt x="0" y="9646665"/>
                </a:lnTo>
                <a:lnTo>
                  <a:pt x="0" y="0"/>
                </a:lnTo>
                <a:close/>
              </a:path>
            </a:pathLst>
          </a:custGeom>
          <a:blipFill>
            <a:blip r:embed="rId3"/>
            <a:stretch>
              <a:fillRect l="0" t="-2684" r="-4464" b="-5944"/>
            </a:stretch>
          </a:blipFill>
        </p:spPr>
      </p:sp>
      <p:sp>
        <p:nvSpPr>
          <p:cNvPr name="TextBox 10" id="10"/>
          <p:cNvSpPr txBox="true"/>
          <p:nvPr/>
        </p:nvSpPr>
        <p:spPr>
          <a:xfrm rot="0">
            <a:off x="7281764" y="4806442"/>
            <a:ext cx="9857445" cy="1295400"/>
          </a:xfrm>
          <a:prstGeom prst="rect">
            <a:avLst/>
          </a:prstGeom>
        </p:spPr>
        <p:txBody>
          <a:bodyPr anchor="t" rtlCol="false" tIns="0" lIns="0" bIns="0" rIns="0">
            <a:spAutoFit/>
          </a:bodyPr>
          <a:lstStyle/>
          <a:p>
            <a:pPr algn="ctr">
              <a:lnSpc>
                <a:spcPts val="5039"/>
              </a:lnSpc>
              <a:spcBef>
                <a:spcPct val="0"/>
              </a:spcBef>
            </a:pPr>
            <a:r>
              <a:rPr lang="en-US" b="true" sz="4199">
                <a:solidFill>
                  <a:srgbClr val="000000"/>
                </a:solidFill>
                <a:latin typeface="Times New Roman Bold"/>
                <a:ea typeface="Times New Roman Bold"/>
                <a:cs typeface="Times New Roman Bold"/>
                <a:sym typeface="Times New Roman Bold"/>
              </a:rPr>
              <a:t>Pseudocode of Personalization Process for Heritage Site Recommendation</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6100" y="0"/>
            <a:ext cx="18324004" cy="5200650"/>
            <a:chOff x="0" y="0"/>
            <a:chExt cx="24432006" cy="6934200"/>
          </a:xfrm>
        </p:grpSpPr>
        <p:sp>
          <p:nvSpPr>
            <p:cNvPr name="Freeform 3" id="3"/>
            <p:cNvSpPr/>
            <p:nvPr/>
          </p:nvSpPr>
          <p:spPr>
            <a:xfrm flipH="false" flipV="false" rot="0">
              <a:off x="0" y="0"/>
              <a:ext cx="24432006" cy="6934200"/>
            </a:xfrm>
            <a:custGeom>
              <a:avLst/>
              <a:gdLst/>
              <a:ahLst/>
              <a:cxnLst/>
              <a:rect r="r" b="b" t="t" l="l"/>
              <a:pathLst>
                <a:path h="6934200" w="24432006">
                  <a:moveTo>
                    <a:pt x="0" y="0"/>
                  </a:moveTo>
                  <a:lnTo>
                    <a:pt x="24432006" y="0"/>
                  </a:lnTo>
                  <a:lnTo>
                    <a:pt x="24432006" y="6934200"/>
                  </a:lnTo>
                  <a:lnTo>
                    <a:pt x="0" y="6934200"/>
                  </a:lnTo>
                  <a:close/>
                </a:path>
              </a:pathLst>
            </a:custGeom>
            <a:solidFill>
              <a:srgbClr val="AA2070"/>
            </a:solidFill>
            <a:ln w="12700">
              <a:solidFill>
                <a:srgbClr val="000000"/>
              </a:solidFill>
            </a:ln>
          </p:spPr>
        </p:sp>
      </p:grpSp>
      <p:grpSp>
        <p:nvGrpSpPr>
          <p:cNvPr name="Group 4" id="4"/>
          <p:cNvGrpSpPr/>
          <p:nvPr/>
        </p:nvGrpSpPr>
        <p:grpSpPr>
          <a:xfrm rot="0">
            <a:off x="665016" y="630736"/>
            <a:ext cx="16957796" cy="9040054"/>
            <a:chOff x="0" y="0"/>
            <a:chExt cx="22610394" cy="12053405"/>
          </a:xfrm>
        </p:grpSpPr>
        <p:sp>
          <p:nvSpPr>
            <p:cNvPr name="Freeform 5" id="5"/>
            <p:cNvSpPr/>
            <p:nvPr/>
          </p:nvSpPr>
          <p:spPr>
            <a:xfrm flipH="false" flipV="false" rot="0">
              <a:off x="0" y="0"/>
              <a:ext cx="22610445" cy="12053443"/>
            </a:xfrm>
            <a:custGeom>
              <a:avLst/>
              <a:gdLst/>
              <a:ahLst/>
              <a:cxnLst/>
              <a:rect r="r" b="b" t="t" l="l"/>
              <a:pathLst>
                <a:path h="12053443" w="22610445">
                  <a:moveTo>
                    <a:pt x="0" y="0"/>
                  </a:moveTo>
                  <a:lnTo>
                    <a:pt x="22610445" y="0"/>
                  </a:lnTo>
                  <a:lnTo>
                    <a:pt x="22610445" y="12053443"/>
                  </a:lnTo>
                  <a:lnTo>
                    <a:pt x="0" y="12053443"/>
                  </a:lnTo>
                  <a:close/>
                </a:path>
              </a:pathLst>
            </a:custGeom>
            <a:solidFill>
              <a:srgbClr val="FFFFFF"/>
            </a:solidFill>
            <a:ln w="12700">
              <a:solidFill>
                <a:srgbClr val="000000"/>
              </a:solidFill>
            </a:ln>
          </p:spPr>
        </p:sp>
      </p:grpSp>
      <p:grpSp>
        <p:nvGrpSpPr>
          <p:cNvPr name="Group 6" id="6"/>
          <p:cNvGrpSpPr/>
          <p:nvPr/>
        </p:nvGrpSpPr>
        <p:grpSpPr>
          <a:xfrm rot="0">
            <a:off x="1260224" y="1052627"/>
            <a:ext cx="15767552" cy="1096204"/>
            <a:chOff x="0" y="0"/>
            <a:chExt cx="21023402" cy="1461605"/>
          </a:xfrm>
        </p:grpSpPr>
        <p:sp>
          <p:nvSpPr>
            <p:cNvPr name="Freeform 7" id="7"/>
            <p:cNvSpPr/>
            <p:nvPr/>
          </p:nvSpPr>
          <p:spPr>
            <a:xfrm flipH="false" flipV="false" rot="0">
              <a:off x="0" y="0"/>
              <a:ext cx="21023400" cy="1461600"/>
            </a:xfrm>
            <a:custGeom>
              <a:avLst/>
              <a:gdLst/>
              <a:ahLst/>
              <a:cxnLst/>
              <a:rect r="r" b="b" t="t" l="l"/>
              <a:pathLst>
                <a:path h="1461600" w="21023400">
                  <a:moveTo>
                    <a:pt x="0" y="0"/>
                  </a:moveTo>
                  <a:lnTo>
                    <a:pt x="21023400" y="0"/>
                  </a:lnTo>
                  <a:lnTo>
                    <a:pt x="21023400" y="1461600"/>
                  </a:lnTo>
                  <a:lnTo>
                    <a:pt x="0" y="1461600"/>
                  </a:lnTo>
                  <a:close/>
                </a:path>
              </a:pathLst>
            </a:custGeom>
            <a:solidFill>
              <a:srgbClr val="000000">
                <a:alpha val="0"/>
              </a:srgbClr>
            </a:solidFill>
            <a:ln w="12700">
              <a:solidFill>
                <a:srgbClr val="000000"/>
              </a:solidFill>
            </a:ln>
          </p:spPr>
        </p:sp>
        <p:sp>
          <p:nvSpPr>
            <p:cNvPr name="TextBox 8" id="8"/>
            <p:cNvSpPr txBox="true"/>
            <p:nvPr/>
          </p:nvSpPr>
          <p:spPr>
            <a:xfrm>
              <a:off x="0" y="-104775"/>
              <a:ext cx="21023402" cy="1566380"/>
            </a:xfrm>
            <a:prstGeom prst="rect">
              <a:avLst/>
            </a:prstGeom>
          </p:spPr>
          <p:txBody>
            <a:bodyPr anchor="b" rtlCol="false" tIns="0" lIns="0" bIns="0" rIns="0"/>
            <a:lstStyle/>
            <a:p>
              <a:pPr algn="ctr">
                <a:lnSpc>
                  <a:spcPts val="6480"/>
                </a:lnSpc>
              </a:pPr>
              <a:r>
                <a:rPr lang="en-US" b="true" sz="5400">
                  <a:solidFill>
                    <a:srgbClr val="000000"/>
                  </a:solidFill>
                  <a:latin typeface="Avenir Bold"/>
                  <a:ea typeface="Avenir Bold"/>
                  <a:cs typeface="Avenir Bold"/>
                  <a:sym typeface="Avenir Bold"/>
                </a:rPr>
                <a:t>MODULES</a:t>
              </a:r>
            </a:p>
          </p:txBody>
        </p:sp>
      </p:grpSp>
      <p:sp>
        <p:nvSpPr>
          <p:cNvPr name="TextBox 9" id="9"/>
          <p:cNvSpPr txBox="true"/>
          <p:nvPr/>
        </p:nvSpPr>
        <p:spPr>
          <a:xfrm rot="0">
            <a:off x="1260224" y="2219325"/>
            <a:ext cx="18436817" cy="6269040"/>
          </a:xfrm>
          <a:prstGeom prst="rect">
            <a:avLst/>
          </a:prstGeom>
        </p:spPr>
        <p:txBody>
          <a:bodyPr anchor="t" rtlCol="false" tIns="0" lIns="0" bIns="0" rIns="0">
            <a:spAutoFit/>
          </a:bodyPr>
          <a:lstStyle/>
          <a:p>
            <a:pPr algn="l" marL="759288" indent="-379644" lvl="1">
              <a:lnSpc>
                <a:spcPts val="7453"/>
              </a:lnSpc>
              <a:buFont typeface="Arial"/>
              <a:buChar char="•"/>
            </a:pPr>
            <a:r>
              <a:rPr lang="en-US" b="true" sz="3105">
                <a:solidFill>
                  <a:srgbClr val="000000"/>
                </a:solidFill>
                <a:latin typeface="Times New Roman Bold"/>
                <a:ea typeface="Times New Roman Bold"/>
                <a:cs typeface="Times New Roman Bold"/>
                <a:sym typeface="Times New Roman Bold"/>
              </a:rPr>
              <a:t>MODULE-1: Web interface</a:t>
            </a:r>
          </a:p>
          <a:p>
            <a:pPr algn="l" marL="759288" indent="-379644" lvl="1">
              <a:lnSpc>
                <a:spcPts val="7453"/>
              </a:lnSpc>
              <a:buFont typeface="Arial"/>
              <a:buChar char="•"/>
            </a:pPr>
            <a:r>
              <a:rPr lang="en-US" b="true" sz="3105">
                <a:solidFill>
                  <a:srgbClr val="000000"/>
                </a:solidFill>
                <a:latin typeface="Times New Roman Bold"/>
                <a:ea typeface="Times New Roman Bold"/>
                <a:cs typeface="Times New Roman Bold"/>
                <a:sym typeface="Times New Roman Bold"/>
              </a:rPr>
              <a:t>MODULE-2: Personalization</a:t>
            </a:r>
          </a:p>
          <a:p>
            <a:pPr algn="l" marL="759288" indent="-379644" lvl="1">
              <a:lnSpc>
                <a:spcPts val="7453"/>
              </a:lnSpc>
              <a:buFont typeface="Arial"/>
              <a:buChar char="•"/>
            </a:pPr>
            <a:r>
              <a:rPr lang="en-US" b="true" sz="3105">
                <a:solidFill>
                  <a:srgbClr val="000000"/>
                </a:solidFill>
                <a:latin typeface="Times New Roman Bold"/>
                <a:ea typeface="Times New Roman Bold"/>
                <a:cs typeface="Times New Roman Bold"/>
                <a:sym typeface="Times New Roman Bold"/>
              </a:rPr>
              <a:t>MODULE-3: Sustainability and Impact Scoring</a:t>
            </a:r>
          </a:p>
          <a:p>
            <a:pPr algn="l" marL="759288" indent="-379644" lvl="1">
              <a:lnSpc>
                <a:spcPts val="7453"/>
              </a:lnSpc>
              <a:buFont typeface="Arial"/>
              <a:buChar char="•"/>
            </a:pPr>
            <a:r>
              <a:rPr lang="en-US" b="true" sz="3105">
                <a:solidFill>
                  <a:srgbClr val="000000"/>
                </a:solidFill>
                <a:latin typeface="Times New Roman Bold"/>
                <a:ea typeface="Times New Roman Bold"/>
                <a:cs typeface="Times New Roman Bold"/>
                <a:sym typeface="Times New Roman Bold"/>
              </a:rPr>
              <a:t>MODULE-4: Itinerary Optimization</a:t>
            </a:r>
          </a:p>
          <a:p>
            <a:pPr algn="l" marL="759288" indent="-379644" lvl="1">
              <a:lnSpc>
                <a:spcPts val="7453"/>
              </a:lnSpc>
              <a:buFont typeface="Arial"/>
              <a:buChar char="•"/>
            </a:pPr>
            <a:r>
              <a:rPr lang="en-US" b="true" sz="3105">
                <a:solidFill>
                  <a:srgbClr val="000000"/>
                </a:solidFill>
                <a:latin typeface="Times New Roman Bold"/>
                <a:ea typeface="Times New Roman Bold"/>
                <a:cs typeface="Times New Roman Bold"/>
                <a:sym typeface="Times New Roman Bold"/>
              </a:rPr>
              <a:t>MODULE-5: Planner agent </a:t>
            </a:r>
          </a:p>
          <a:p>
            <a:pPr algn="l">
              <a:lnSpc>
                <a:spcPts val="7453"/>
              </a:lnSpc>
            </a:pPr>
          </a:p>
          <a:p>
            <a:pPr algn="ctr" marL="759288" indent="-379644" lvl="1">
              <a:lnSpc>
                <a:spcPts val="3726"/>
              </a:lnSpc>
            </a:pPr>
          </a:p>
        </p:txBody>
      </p:sp>
      <p:grpSp>
        <p:nvGrpSpPr>
          <p:cNvPr name="Group 10" id="10"/>
          <p:cNvGrpSpPr/>
          <p:nvPr/>
        </p:nvGrpSpPr>
        <p:grpSpPr>
          <a:xfrm rot="0">
            <a:off x="15537656" y="685800"/>
            <a:ext cx="1601553" cy="707403"/>
            <a:chOff x="0" y="0"/>
            <a:chExt cx="2135403" cy="943204"/>
          </a:xfrm>
        </p:grpSpPr>
        <p:sp>
          <p:nvSpPr>
            <p:cNvPr name="Freeform 11" id="11"/>
            <p:cNvSpPr/>
            <p:nvPr/>
          </p:nvSpPr>
          <p:spPr>
            <a:xfrm flipH="false" flipV="false" rot="0">
              <a:off x="0" y="0"/>
              <a:ext cx="2135400" cy="943200"/>
            </a:xfrm>
            <a:custGeom>
              <a:avLst/>
              <a:gdLst/>
              <a:ahLst/>
              <a:cxnLst/>
              <a:rect r="r" b="b" t="t" l="l"/>
              <a:pathLst>
                <a:path h="943200" w="2135400">
                  <a:moveTo>
                    <a:pt x="0" y="0"/>
                  </a:moveTo>
                  <a:lnTo>
                    <a:pt x="2135400" y="0"/>
                  </a:lnTo>
                  <a:lnTo>
                    <a:pt x="2135400" y="943200"/>
                  </a:lnTo>
                  <a:lnTo>
                    <a:pt x="0" y="943200"/>
                  </a:lnTo>
                  <a:close/>
                </a:path>
              </a:pathLst>
            </a:custGeom>
            <a:solidFill>
              <a:srgbClr val="000000">
                <a:alpha val="0"/>
              </a:srgbClr>
            </a:solidFill>
            <a:ln w="12700">
              <a:solidFill>
                <a:srgbClr val="000000"/>
              </a:solidFill>
            </a:ln>
          </p:spPr>
        </p:sp>
        <p:sp>
          <p:nvSpPr>
            <p:cNvPr name="TextBox 12" id="12"/>
            <p:cNvSpPr txBox="true"/>
            <p:nvPr/>
          </p:nvSpPr>
          <p:spPr>
            <a:xfrm>
              <a:off x="0" y="-9525"/>
              <a:ext cx="2135403" cy="952729"/>
            </a:xfrm>
            <a:prstGeom prst="rect">
              <a:avLst/>
            </a:prstGeom>
          </p:spPr>
          <p:txBody>
            <a:bodyPr anchor="ctr" rtlCol="false" tIns="0" lIns="0" bIns="0" rIns="0"/>
            <a:lstStyle/>
            <a:p>
              <a:pPr algn="r">
                <a:lnSpc>
                  <a:spcPts val="2879"/>
                </a:lnSpc>
              </a:pPr>
              <a:r>
                <a:rPr lang="en-US" sz="2400">
                  <a:solidFill>
                    <a:srgbClr val="958EA2"/>
                  </a:solidFill>
                  <a:latin typeface="Arial"/>
                  <a:ea typeface="Arial"/>
                  <a:cs typeface="Arial"/>
                  <a:sym typeface="Arial"/>
                </a:rPr>
                <a:t>13</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6100" y="0"/>
            <a:ext cx="18324004" cy="5200650"/>
            <a:chOff x="0" y="0"/>
            <a:chExt cx="24432006" cy="6934200"/>
          </a:xfrm>
        </p:grpSpPr>
        <p:sp>
          <p:nvSpPr>
            <p:cNvPr name="Freeform 3" id="3"/>
            <p:cNvSpPr/>
            <p:nvPr/>
          </p:nvSpPr>
          <p:spPr>
            <a:xfrm flipH="false" flipV="false" rot="0">
              <a:off x="0" y="0"/>
              <a:ext cx="24432006" cy="6934200"/>
            </a:xfrm>
            <a:custGeom>
              <a:avLst/>
              <a:gdLst/>
              <a:ahLst/>
              <a:cxnLst/>
              <a:rect r="r" b="b" t="t" l="l"/>
              <a:pathLst>
                <a:path h="6934200" w="24432006">
                  <a:moveTo>
                    <a:pt x="0" y="0"/>
                  </a:moveTo>
                  <a:lnTo>
                    <a:pt x="24432006" y="0"/>
                  </a:lnTo>
                  <a:lnTo>
                    <a:pt x="24432006" y="6934200"/>
                  </a:lnTo>
                  <a:lnTo>
                    <a:pt x="0" y="6934200"/>
                  </a:lnTo>
                  <a:close/>
                </a:path>
              </a:pathLst>
            </a:custGeom>
            <a:solidFill>
              <a:srgbClr val="AA2070"/>
            </a:solidFill>
            <a:ln w="12700">
              <a:solidFill>
                <a:srgbClr val="000000"/>
              </a:solidFill>
            </a:ln>
          </p:spPr>
        </p:sp>
      </p:grpSp>
      <p:grpSp>
        <p:nvGrpSpPr>
          <p:cNvPr name="Group 4" id="4"/>
          <p:cNvGrpSpPr/>
          <p:nvPr/>
        </p:nvGrpSpPr>
        <p:grpSpPr>
          <a:xfrm rot="0">
            <a:off x="712641" y="630736"/>
            <a:ext cx="16957796" cy="9040054"/>
            <a:chOff x="0" y="0"/>
            <a:chExt cx="22610394" cy="12053405"/>
          </a:xfrm>
        </p:grpSpPr>
        <p:sp>
          <p:nvSpPr>
            <p:cNvPr name="Freeform 5" id="5"/>
            <p:cNvSpPr/>
            <p:nvPr/>
          </p:nvSpPr>
          <p:spPr>
            <a:xfrm flipH="false" flipV="false" rot="0">
              <a:off x="0" y="0"/>
              <a:ext cx="22610445" cy="12053443"/>
            </a:xfrm>
            <a:custGeom>
              <a:avLst/>
              <a:gdLst/>
              <a:ahLst/>
              <a:cxnLst/>
              <a:rect r="r" b="b" t="t" l="l"/>
              <a:pathLst>
                <a:path h="12053443" w="22610445">
                  <a:moveTo>
                    <a:pt x="0" y="0"/>
                  </a:moveTo>
                  <a:lnTo>
                    <a:pt x="22610445" y="0"/>
                  </a:lnTo>
                  <a:lnTo>
                    <a:pt x="22610445" y="12053443"/>
                  </a:lnTo>
                  <a:lnTo>
                    <a:pt x="0" y="12053443"/>
                  </a:lnTo>
                  <a:close/>
                </a:path>
              </a:pathLst>
            </a:custGeom>
            <a:solidFill>
              <a:srgbClr val="FFFFFF"/>
            </a:solidFill>
            <a:ln w="12700">
              <a:solidFill>
                <a:srgbClr val="000000"/>
              </a:solidFill>
            </a:ln>
          </p:spPr>
        </p:sp>
      </p:grpSp>
      <p:grpSp>
        <p:nvGrpSpPr>
          <p:cNvPr name="Group 6" id="6"/>
          <p:cNvGrpSpPr/>
          <p:nvPr/>
        </p:nvGrpSpPr>
        <p:grpSpPr>
          <a:xfrm rot="0">
            <a:off x="1371657" y="236251"/>
            <a:ext cx="15767552" cy="1606500"/>
            <a:chOff x="0" y="0"/>
            <a:chExt cx="21023402" cy="2142000"/>
          </a:xfrm>
        </p:grpSpPr>
        <p:sp>
          <p:nvSpPr>
            <p:cNvPr name="Freeform 7" id="7"/>
            <p:cNvSpPr/>
            <p:nvPr/>
          </p:nvSpPr>
          <p:spPr>
            <a:xfrm flipH="false" flipV="false" rot="0">
              <a:off x="0" y="0"/>
              <a:ext cx="21023400" cy="2142005"/>
            </a:xfrm>
            <a:custGeom>
              <a:avLst/>
              <a:gdLst/>
              <a:ahLst/>
              <a:cxnLst/>
              <a:rect r="r" b="b" t="t" l="l"/>
              <a:pathLst>
                <a:path h="2142005" w="21023400">
                  <a:moveTo>
                    <a:pt x="0" y="0"/>
                  </a:moveTo>
                  <a:lnTo>
                    <a:pt x="21023400" y="0"/>
                  </a:lnTo>
                  <a:lnTo>
                    <a:pt x="21023400" y="2142005"/>
                  </a:lnTo>
                  <a:lnTo>
                    <a:pt x="0" y="2142005"/>
                  </a:lnTo>
                  <a:close/>
                </a:path>
              </a:pathLst>
            </a:custGeom>
            <a:solidFill>
              <a:srgbClr val="000000">
                <a:alpha val="0"/>
              </a:srgbClr>
            </a:solidFill>
            <a:ln w="12700">
              <a:solidFill>
                <a:srgbClr val="000000"/>
              </a:solidFill>
            </a:ln>
          </p:spPr>
        </p:sp>
        <p:sp>
          <p:nvSpPr>
            <p:cNvPr name="TextBox 8" id="8"/>
            <p:cNvSpPr txBox="true"/>
            <p:nvPr/>
          </p:nvSpPr>
          <p:spPr>
            <a:xfrm>
              <a:off x="0" y="-104775"/>
              <a:ext cx="21023402" cy="2246775"/>
            </a:xfrm>
            <a:prstGeom prst="rect">
              <a:avLst/>
            </a:prstGeom>
          </p:spPr>
          <p:txBody>
            <a:bodyPr anchor="b" rtlCol="false" tIns="0" lIns="0" bIns="0" rIns="0"/>
            <a:lstStyle/>
            <a:p>
              <a:pPr algn="ctr">
                <a:lnSpc>
                  <a:spcPts val="6480"/>
                </a:lnSpc>
              </a:pPr>
              <a:r>
                <a:rPr lang="en-US" b="true" sz="5400">
                  <a:solidFill>
                    <a:srgbClr val="000000"/>
                  </a:solidFill>
                  <a:latin typeface="Avenir Bold"/>
                  <a:ea typeface="Avenir Bold"/>
                  <a:cs typeface="Avenir Bold"/>
                  <a:sym typeface="Avenir Bold"/>
                </a:rPr>
                <a:t>MODULE-1 : Web interface</a:t>
              </a:r>
            </a:p>
          </p:txBody>
        </p:sp>
      </p:grpSp>
      <p:grpSp>
        <p:nvGrpSpPr>
          <p:cNvPr name="Group 9" id="9"/>
          <p:cNvGrpSpPr/>
          <p:nvPr/>
        </p:nvGrpSpPr>
        <p:grpSpPr>
          <a:xfrm rot="0">
            <a:off x="15537656" y="685800"/>
            <a:ext cx="1601553" cy="707403"/>
            <a:chOff x="0" y="0"/>
            <a:chExt cx="2135403" cy="943204"/>
          </a:xfrm>
        </p:grpSpPr>
        <p:sp>
          <p:nvSpPr>
            <p:cNvPr name="Freeform 10" id="10"/>
            <p:cNvSpPr/>
            <p:nvPr/>
          </p:nvSpPr>
          <p:spPr>
            <a:xfrm flipH="false" flipV="false" rot="0">
              <a:off x="0" y="0"/>
              <a:ext cx="2135400" cy="943200"/>
            </a:xfrm>
            <a:custGeom>
              <a:avLst/>
              <a:gdLst/>
              <a:ahLst/>
              <a:cxnLst/>
              <a:rect r="r" b="b" t="t" l="l"/>
              <a:pathLst>
                <a:path h="943200" w="2135400">
                  <a:moveTo>
                    <a:pt x="0" y="0"/>
                  </a:moveTo>
                  <a:lnTo>
                    <a:pt x="2135400" y="0"/>
                  </a:lnTo>
                  <a:lnTo>
                    <a:pt x="2135400" y="943200"/>
                  </a:lnTo>
                  <a:lnTo>
                    <a:pt x="0" y="943200"/>
                  </a:lnTo>
                  <a:close/>
                </a:path>
              </a:pathLst>
            </a:custGeom>
            <a:solidFill>
              <a:srgbClr val="000000">
                <a:alpha val="0"/>
              </a:srgbClr>
            </a:solidFill>
            <a:ln w="12700">
              <a:solidFill>
                <a:srgbClr val="000000"/>
              </a:solidFill>
            </a:ln>
          </p:spPr>
        </p:sp>
        <p:sp>
          <p:nvSpPr>
            <p:cNvPr name="TextBox 11" id="11"/>
            <p:cNvSpPr txBox="true"/>
            <p:nvPr/>
          </p:nvSpPr>
          <p:spPr>
            <a:xfrm>
              <a:off x="0" y="-9525"/>
              <a:ext cx="2135403" cy="952729"/>
            </a:xfrm>
            <a:prstGeom prst="rect">
              <a:avLst/>
            </a:prstGeom>
          </p:spPr>
          <p:txBody>
            <a:bodyPr anchor="ctr" rtlCol="false" tIns="0" lIns="0" bIns="0" rIns="0"/>
            <a:lstStyle/>
            <a:p>
              <a:pPr algn="r">
                <a:lnSpc>
                  <a:spcPts val="2879"/>
                </a:lnSpc>
              </a:pPr>
              <a:r>
                <a:rPr lang="en-US" sz="2400">
                  <a:solidFill>
                    <a:srgbClr val="958EA2"/>
                  </a:solidFill>
                  <a:latin typeface="Arial"/>
                  <a:ea typeface="Arial"/>
                  <a:cs typeface="Arial"/>
                  <a:sym typeface="Arial"/>
                </a:rPr>
                <a:t>14</a:t>
              </a:r>
            </a:p>
          </p:txBody>
        </p:sp>
      </p:grpSp>
      <p:sp>
        <p:nvSpPr>
          <p:cNvPr name="TextBox 12" id="12"/>
          <p:cNvSpPr txBox="true"/>
          <p:nvPr/>
        </p:nvSpPr>
        <p:spPr>
          <a:xfrm rot="0">
            <a:off x="497472" y="6384163"/>
            <a:ext cx="17431532" cy="4114800"/>
          </a:xfrm>
          <a:prstGeom prst="rect">
            <a:avLst/>
          </a:prstGeom>
        </p:spPr>
        <p:txBody>
          <a:bodyPr anchor="t" rtlCol="false" tIns="0" lIns="0" bIns="0" rIns="0">
            <a:spAutoFit/>
          </a:bodyPr>
          <a:lstStyle/>
          <a:p>
            <a:pPr algn="just" marL="664423" indent="-332211" lvl="1">
              <a:lnSpc>
                <a:spcPts val="3261"/>
              </a:lnSpc>
              <a:buFont typeface="Arial"/>
              <a:buChar char="•"/>
            </a:pPr>
            <a:r>
              <a:rPr lang="en-US" sz="2717">
                <a:solidFill>
                  <a:srgbClr val="000000"/>
                </a:solidFill>
                <a:latin typeface="Times New Roman"/>
                <a:ea typeface="Times New Roman"/>
                <a:cs typeface="Times New Roman"/>
                <a:sym typeface="Times New Roman"/>
              </a:rPr>
              <a:t>The web interface enables users to log in, manage their profiles, and enter travel preferences or past trips.</a:t>
            </a:r>
            <a:r>
              <a:rPr lang="en-US" sz="2717">
                <a:solidFill>
                  <a:srgbClr val="000000"/>
                </a:solidFill>
                <a:latin typeface="Times New Roman"/>
                <a:ea typeface="Times New Roman"/>
                <a:cs typeface="Times New Roman"/>
                <a:sym typeface="Times New Roman"/>
              </a:rPr>
              <a:t> </a:t>
            </a:r>
          </a:p>
          <a:p>
            <a:pPr algn="just">
              <a:lnSpc>
                <a:spcPts val="3261"/>
              </a:lnSpc>
            </a:pPr>
          </a:p>
          <a:p>
            <a:pPr algn="just" marL="664423" indent="-332211" lvl="1">
              <a:lnSpc>
                <a:spcPts val="3261"/>
              </a:lnSpc>
              <a:buFont typeface="Arial"/>
              <a:buChar char="•"/>
            </a:pPr>
            <a:r>
              <a:rPr lang="en-US" sz="2717">
                <a:solidFill>
                  <a:srgbClr val="000000"/>
                </a:solidFill>
                <a:latin typeface="Times New Roman"/>
                <a:ea typeface="Times New Roman"/>
                <a:cs typeface="Times New Roman"/>
                <a:sym typeface="Times New Roman"/>
              </a:rPr>
              <a:t>User credentials are verified through an authentication API, and valid users receive secure access tokens. </a:t>
            </a:r>
          </a:p>
          <a:p>
            <a:pPr algn="just">
              <a:lnSpc>
                <a:spcPts val="3261"/>
              </a:lnSpc>
            </a:pPr>
          </a:p>
          <a:p>
            <a:pPr algn="just" marL="664423" indent="-332211" lvl="1">
              <a:lnSpc>
                <a:spcPts val="3261"/>
              </a:lnSpc>
              <a:buFont typeface="Arial"/>
              <a:buChar char="•"/>
            </a:pPr>
            <a:r>
              <a:rPr lang="en-US" sz="2717">
                <a:solidFill>
                  <a:srgbClr val="000000"/>
                </a:solidFill>
                <a:latin typeface="Times New Roman"/>
                <a:ea typeface="Times New Roman"/>
                <a:cs typeface="Times New Roman"/>
                <a:sym typeface="Times New Roman"/>
              </a:rPr>
              <a:t>Input data is validated and stored across PostgreSQL, MongoDB, and Firebase databases for structured, semi-structured, and real-time data. </a:t>
            </a:r>
          </a:p>
          <a:p>
            <a:pPr algn="just">
              <a:lnSpc>
                <a:spcPts val="3261"/>
              </a:lnSpc>
            </a:pPr>
          </a:p>
          <a:p>
            <a:pPr algn="just" marL="664423" indent="-332211" lvl="1">
              <a:lnSpc>
                <a:spcPts val="3261"/>
              </a:lnSpc>
              <a:buFont typeface="Arial"/>
              <a:buChar char="•"/>
            </a:pPr>
            <a:r>
              <a:rPr lang="en-US" sz="2717">
                <a:solidFill>
                  <a:srgbClr val="000000"/>
                </a:solidFill>
                <a:latin typeface="Times New Roman"/>
                <a:ea typeface="Times New Roman"/>
                <a:cs typeface="Times New Roman"/>
                <a:sym typeface="Times New Roman"/>
              </a:rPr>
              <a:t>When needed, the system fetches the combined user profile from these databases and passes it to the personalization model to generate tailored heritage site recommendations.</a:t>
            </a:r>
          </a:p>
          <a:p>
            <a:pPr algn="just" marL="664423" indent="-332211" lvl="1">
              <a:lnSpc>
                <a:spcPts val="3261"/>
              </a:lnSpc>
            </a:pPr>
          </a:p>
        </p:txBody>
      </p:sp>
      <p:grpSp>
        <p:nvGrpSpPr>
          <p:cNvPr name="Group 13" id="13"/>
          <p:cNvGrpSpPr/>
          <p:nvPr/>
        </p:nvGrpSpPr>
        <p:grpSpPr>
          <a:xfrm rot="0">
            <a:off x="744988" y="1627657"/>
            <a:ext cx="16761828" cy="4775557"/>
            <a:chOff x="0" y="0"/>
            <a:chExt cx="22349104" cy="6367409"/>
          </a:xfrm>
        </p:grpSpPr>
        <p:grpSp>
          <p:nvGrpSpPr>
            <p:cNvPr name="Group 14" id="14"/>
            <p:cNvGrpSpPr/>
            <p:nvPr/>
          </p:nvGrpSpPr>
          <p:grpSpPr>
            <a:xfrm rot="0">
              <a:off x="355961" y="2162103"/>
              <a:ext cx="4146725" cy="952744"/>
              <a:chOff x="0" y="0"/>
              <a:chExt cx="812800" cy="186747"/>
            </a:xfrm>
          </p:grpSpPr>
          <p:sp>
            <p:nvSpPr>
              <p:cNvPr name="Freeform 15" id="15"/>
              <p:cNvSpPr/>
              <p:nvPr/>
            </p:nvSpPr>
            <p:spPr>
              <a:xfrm flipH="false" flipV="false" rot="0">
                <a:off x="0" y="0"/>
                <a:ext cx="812800" cy="186747"/>
              </a:xfrm>
              <a:custGeom>
                <a:avLst/>
                <a:gdLst/>
                <a:ahLst/>
                <a:cxnLst/>
                <a:rect r="r" b="b" t="t" l="l"/>
                <a:pathLst>
                  <a:path h="186747" w="812800">
                    <a:moveTo>
                      <a:pt x="0" y="0"/>
                    </a:moveTo>
                    <a:lnTo>
                      <a:pt x="812800" y="0"/>
                    </a:lnTo>
                    <a:lnTo>
                      <a:pt x="812800" y="186747"/>
                    </a:lnTo>
                    <a:lnTo>
                      <a:pt x="0" y="186747"/>
                    </a:lnTo>
                    <a:close/>
                  </a:path>
                </a:pathLst>
              </a:custGeom>
              <a:solidFill>
                <a:srgbClr val="FFFFFF"/>
              </a:solidFill>
              <a:ln w="19050" cap="sq">
                <a:solidFill>
                  <a:srgbClr val="000000"/>
                </a:solidFill>
                <a:prstDash val="solid"/>
                <a:miter/>
              </a:ln>
            </p:spPr>
          </p:sp>
          <p:sp>
            <p:nvSpPr>
              <p:cNvPr name="TextBox 16" id="16"/>
              <p:cNvSpPr txBox="true"/>
              <p:nvPr/>
            </p:nvSpPr>
            <p:spPr>
              <a:xfrm>
                <a:off x="0" y="-9525"/>
                <a:ext cx="812800" cy="196272"/>
              </a:xfrm>
              <a:prstGeom prst="rect">
                <a:avLst/>
              </a:prstGeom>
            </p:spPr>
            <p:txBody>
              <a:bodyPr anchor="ctr" rtlCol="false" tIns="50800" lIns="50800" bIns="50800" rIns="50800"/>
              <a:lstStyle/>
              <a:p>
                <a:pPr algn="ctr">
                  <a:lnSpc>
                    <a:spcPts val="2879"/>
                  </a:lnSpc>
                </a:pPr>
                <a:r>
                  <a:rPr lang="en-US" sz="2399">
                    <a:solidFill>
                      <a:srgbClr val="000000"/>
                    </a:solidFill>
                    <a:latin typeface="Arial"/>
                    <a:ea typeface="Arial"/>
                    <a:cs typeface="Arial"/>
                    <a:sym typeface="Arial"/>
                  </a:rPr>
                  <a:t>Authentication API</a:t>
                </a:r>
              </a:p>
            </p:txBody>
          </p:sp>
        </p:grpSp>
        <p:grpSp>
          <p:nvGrpSpPr>
            <p:cNvPr name="Group 17" id="17"/>
            <p:cNvGrpSpPr/>
            <p:nvPr/>
          </p:nvGrpSpPr>
          <p:grpSpPr>
            <a:xfrm rot="0">
              <a:off x="355961" y="3639587"/>
              <a:ext cx="4146725" cy="952744"/>
              <a:chOff x="0" y="0"/>
              <a:chExt cx="812800" cy="186747"/>
            </a:xfrm>
          </p:grpSpPr>
          <p:sp>
            <p:nvSpPr>
              <p:cNvPr name="Freeform 18" id="18"/>
              <p:cNvSpPr/>
              <p:nvPr/>
            </p:nvSpPr>
            <p:spPr>
              <a:xfrm flipH="false" flipV="false" rot="0">
                <a:off x="0" y="0"/>
                <a:ext cx="812800" cy="186747"/>
              </a:xfrm>
              <a:custGeom>
                <a:avLst/>
                <a:gdLst/>
                <a:ahLst/>
                <a:cxnLst/>
                <a:rect r="r" b="b" t="t" l="l"/>
                <a:pathLst>
                  <a:path h="186747" w="812800">
                    <a:moveTo>
                      <a:pt x="0" y="0"/>
                    </a:moveTo>
                    <a:lnTo>
                      <a:pt x="812800" y="0"/>
                    </a:lnTo>
                    <a:lnTo>
                      <a:pt x="812800" y="186747"/>
                    </a:lnTo>
                    <a:lnTo>
                      <a:pt x="0" y="186747"/>
                    </a:lnTo>
                    <a:close/>
                  </a:path>
                </a:pathLst>
              </a:custGeom>
              <a:solidFill>
                <a:srgbClr val="FFFFFF"/>
              </a:solidFill>
              <a:ln w="19050" cap="sq">
                <a:solidFill>
                  <a:srgbClr val="000000"/>
                </a:solidFill>
                <a:prstDash val="solid"/>
                <a:miter/>
              </a:ln>
            </p:spPr>
          </p:sp>
          <p:sp>
            <p:nvSpPr>
              <p:cNvPr name="TextBox 19" id="19"/>
              <p:cNvSpPr txBox="true"/>
              <p:nvPr/>
            </p:nvSpPr>
            <p:spPr>
              <a:xfrm>
                <a:off x="0" y="-9525"/>
                <a:ext cx="812800" cy="196272"/>
              </a:xfrm>
              <a:prstGeom prst="rect">
                <a:avLst/>
              </a:prstGeom>
            </p:spPr>
            <p:txBody>
              <a:bodyPr anchor="ctr" rtlCol="false" tIns="50800" lIns="50800" bIns="50800" rIns="50800"/>
              <a:lstStyle/>
              <a:p>
                <a:pPr algn="ctr">
                  <a:lnSpc>
                    <a:spcPts val="2879"/>
                  </a:lnSpc>
                </a:pPr>
                <a:r>
                  <a:rPr lang="en-US" sz="2399">
                    <a:solidFill>
                      <a:srgbClr val="000000"/>
                    </a:solidFill>
                    <a:latin typeface="Arial"/>
                    <a:ea typeface="Arial"/>
                    <a:cs typeface="Arial"/>
                    <a:sym typeface="Arial"/>
                  </a:rPr>
                  <a:t>Credential Verification</a:t>
                </a:r>
              </a:p>
            </p:txBody>
          </p:sp>
        </p:grpSp>
        <p:grpSp>
          <p:nvGrpSpPr>
            <p:cNvPr name="Group 20" id="20"/>
            <p:cNvGrpSpPr/>
            <p:nvPr/>
          </p:nvGrpSpPr>
          <p:grpSpPr>
            <a:xfrm rot="0">
              <a:off x="0" y="5119827"/>
              <a:ext cx="4858647" cy="952744"/>
              <a:chOff x="0" y="0"/>
              <a:chExt cx="952344" cy="186747"/>
            </a:xfrm>
          </p:grpSpPr>
          <p:sp>
            <p:nvSpPr>
              <p:cNvPr name="Freeform 21" id="21"/>
              <p:cNvSpPr/>
              <p:nvPr/>
            </p:nvSpPr>
            <p:spPr>
              <a:xfrm flipH="false" flipV="false" rot="0">
                <a:off x="0" y="0"/>
                <a:ext cx="952344" cy="186747"/>
              </a:xfrm>
              <a:custGeom>
                <a:avLst/>
                <a:gdLst/>
                <a:ahLst/>
                <a:cxnLst/>
                <a:rect r="r" b="b" t="t" l="l"/>
                <a:pathLst>
                  <a:path h="186747" w="952344">
                    <a:moveTo>
                      <a:pt x="0" y="0"/>
                    </a:moveTo>
                    <a:lnTo>
                      <a:pt x="952344" y="0"/>
                    </a:lnTo>
                    <a:lnTo>
                      <a:pt x="952344" y="186747"/>
                    </a:lnTo>
                    <a:lnTo>
                      <a:pt x="0" y="186747"/>
                    </a:lnTo>
                    <a:close/>
                  </a:path>
                </a:pathLst>
              </a:custGeom>
              <a:solidFill>
                <a:srgbClr val="FFFFFF"/>
              </a:solidFill>
              <a:ln w="19050" cap="sq">
                <a:solidFill>
                  <a:srgbClr val="000000"/>
                </a:solidFill>
                <a:prstDash val="solid"/>
                <a:miter/>
              </a:ln>
            </p:spPr>
          </p:sp>
          <p:sp>
            <p:nvSpPr>
              <p:cNvPr name="TextBox 22" id="22"/>
              <p:cNvSpPr txBox="true"/>
              <p:nvPr/>
            </p:nvSpPr>
            <p:spPr>
              <a:xfrm>
                <a:off x="0" y="-9525"/>
                <a:ext cx="952344" cy="196272"/>
              </a:xfrm>
              <a:prstGeom prst="rect">
                <a:avLst/>
              </a:prstGeom>
            </p:spPr>
            <p:txBody>
              <a:bodyPr anchor="ctr" rtlCol="false" tIns="50800" lIns="50800" bIns="50800" rIns="50800"/>
              <a:lstStyle/>
              <a:p>
                <a:pPr algn="ctr">
                  <a:lnSpc>
                    <a:spcPts val="2879"/>
                  </a:lnSpc>
                </a:pPr>
                <a:r>
                  <a:rPr lang="en-US" sz="2399">
                    <a:solidFill>
                      <a:srgbClr val="000000"/>
                    </a:solidFill>
                    <a:latin typeface="Arial"/>
                    <a:ea typeface="Arial"/>
                    <a:cs typeface="Arial"/>
                    <a:sym typeface="Arial"/>
                  </a:rPr>
                  <a:t>Access Token Generation</a:t>
                </a:r>
              </a:p>
            </p:txBody>
          </p:sp>
        </p:grpSp>
        <p:sp>
          <p:nvSpPr>
            <p:cNvPr name="AutoShape 23" id="23"/>
            <p:cNvSpPr/>
            <p:nvPr/>
          </p:nvSpPr>
          <p:spPr>
            <a:xfrm>
              <a:off x="2410126" y="4592331"/>
              <a:ext cx="0" cy="527497"/>
            </a:xfrm>
            <a:prstGeom prst="line">
              <a:avLst/>
            </a:prstGeom>
            <a:ln cap="flat" w="38396">
              <a:solidFill>
                <a:srgbClr val="000000"/>
              </a:solidFill>
              <a:prstDash val="solid"/>
              <a:headEnd type="none" len="sm" w="sm"/>
              <a:tailEnd type="arrow" len="sm" w="med"/>
            </a:ln>
          </p:spPr>
        </p:sp>
        <p:sp>
          <p:nvSpPr>
            <p:cNvPr name="AutoShape 24" id="24"/>
            <p:cNvSpPr/>
            <p:nvPr/>
          </p:nvSpPr>
          <p:spPr>
            <a:xfrm>
              <a:off x="2429324" y="3112090"/>
              <a:ext cx="0" cy="527497"/>
            </a:xfrm>
            <a:prstGeom prst="line">
              <a:avLst/>
            </a:prstGeom>
            <a:ln cap="flat" w="38396">
              <a:solidFill>
                <a:srgbClr val="000000"/>
              </a:solidFill>
              <a:prstDash val="solid"/>
              <a:headEnd type="none" len="sm" w="sm"/>
              <a:tailEnd type="arrow" len="sm" w="med"/>
            </a:ln>
          </p:spPr>
        </p:sp>
        <p:grpSp>
          <p:nvGrpSpPr>
            <p:cNvPr name="Group 25" id="25"/>
            <p:cNvGrpSpPr/>
            <p:nvPr/>
          </p:nvGrpSpPr>
          <p:grpSpPr>
            <a:xfrm rot="0">
              <a:off x="6140351" y="2159346"/>
              <a:ext cx="4515870" cy="952744"/>
              <a:chOff x="0" y="0"/>
              <a:chExt cx="885156" cy="186747"/>
            </a:xfrm>
          </p:grpSpPr>
          <p:sp>
            <p:nvSpPr>
              <p:cNvPr name="Freeform 26" id="26"/>
              <p:cNvSpPr/>
              <p:nvPr/>
            </p:nvSpPr>
            <p:spPr>
              <a:xfrm flipH="false" flipV="false" rot="0">
                <a:off x="0" y="0"/>
                <a:ext cx="885156" cy="186747"/>
              </a:xfrm>
              <a:custGeom>
                <a:avLst/>
                <a:gdLst/>
                <a:ahLst/>
                <a:cxnLst/>
                <a:rect r="r" b="b" t="t" l="l"/>
                <a:pathLst>
                  <a:path h="186747" w="885156">
                    <a:moveTo>
                      <a:pt x="0" y="0"/>
                    </a:moveTo>
                    <a:lnTo>
                      <a:pt x="885156" y="0"/>
                    </a:lnTo>
                    <a:lnTo>
                      <a:pt x="885156" y="186747"/>
                    </a:lnTo>
                    <a:lnTo>
                      <a:pt x="0" y="186747"/>
                    </a:lnTo>
                    <a:close/>
                  </a:path>
                </a:pathLst>
              </a:custGeom>
              <a:solidFill>
                <a:srgbClr val="FFFFFF"/>
              </a:solidFill>
              <a:ln w="19050" cap="sq">
                <a:solidFill>
                  <a:srgbClr val="000000"/>
                </a:solidFill>
                <a:prstDash val="solid"/>
                <a:miter/>
              </a:ln>
            </p:spPr>
          </p:sp>
          <p:sp>
            <p:nvSpPr>
              <p:cNvPr name="TextBox 27" id="27"/>
              <p:cNvSpPr txBox="true"/>
              <p:nvPr/>
            </p:nvSpPr>
            <p:spPr>
              <a:xfrm>
                <a:off x="0" y="-9525"/>
                <a:ext cx="885156" cy="196272"/>
              </a:xfrm>
              <a:prstGeom prst="rect">
                <a:avLst/>
              </a:prstGeom>
            </p:spPr>
            <p:txBody>
              <a:bodyPr anchor="ctr" rtlCol="false" tIns="50800" lIns="50800" bIns="50800" rIns="50800"/>
              <a:lstStyle/>
              <a:p>
                <a:pPr algn="ctr">
                  <a:lnSpc>
                    <a:spcPts val="2879"/>
                  </a:lnSpc>
                </a:pPr>
                <a:r>
                  <a:rPr lang="en-US" sz="2399">
                    <a:solidFill>
                      <a:srgbClr val="000000"/>
                    </a:solidFill>
                    <a:latin typeface="Arial"/>
                    <a:ea typeface="Arial"/>
                    <a:cs typeface="Arial"/>
                    <a:sym typeface="Arial"/>
                  </a:rPr>
                  <a:t>User via Web Interface</a:t>
                </a:r>
              </a:p>
            </p:txBody>
          </p:sp>
        </p:grpSp>
        <p:sp>
          <p:nvSpPr>
            <p:cNvPr name="AutoShape 28" id="28"/>
            <p:cNvSpPr/>
            <p:nvPr/>
          </p:nvSpPr>
          <p:spPr>
            <a:xfrm flipH="true">
              <a:off x="4502686" y="2635718"/>
              <a:ext cx="1637665" cy="2757"/>
            </a:xfrm>
            <a:prstGeom prst="line">
              <a:avLst/>
            </a:prstGeom>
            <a:ln cap="flat" w="38396">
              <a:solidFill>
                <a:srgbClr val="000000"/>
              </a:solidFill>
              <a:prstDash val="solid"/>
              <a:headEnd type="none" len="sm" w="sm"/>
              <a:tailEnd type="arrow" len="sm" w="med"/>
            </a:ln>
          </p:spPr>
        </p:sp>
        <p:sp>
          <p:nvSpPr>
            <p:cNvPr name="AutoShape 29" id="29"/>
            <p:cNvSpPr/>
            <p:nvPr/>
          </p:nvSpPr>
          <p:spPr>
            <a:xfrm flipH="true">
              <a:off x="4858647" y="5596199"/>
              <a:ext cx="1027904" cy="0"/>
            </a:xfrm>
            <a:prstGeom prst="line">
              <a:avLst/>
            </a:prstGeom>
            <a:ln cap="flat" w="38396">
              <a:solidFill>
                <a:srgbClr val="000000"/>
              </a:solidFill>
              <a:prstDash val="solid"/>
              <a:headEnd type="arrow" len="sm" w="med"/>
              <a:tailEnd type="none" len="sm" w="sm"/>
            </a:ln>
          </p:spPr>
        </p:sp>
        <p:grpSp>
          <p:nvGrpSpPr>
            <p:cNvPr name="Group 30" id="30"/>
            <p:cNvGrpSpPr/>
            <p:nvPr/>
          </p:nvGrpSpPr>
          <p:grpSpPr>
            <a:xfrm rot="0">
              <a:off x="5886551" y="5119827"/>
              <a:ext cx="3960683" cy="816906"/>
              <a:chOff x="0" y="0"/>
              <a:chExt cx="776334" cy="160122"/>
            </a:xfrm>
          </p:grpSpPr>
          <p:sp>
            <p:nvSpPr>
              <p:cNvPr name="Freeform 31" id="31"/>
              <p:cNvSpPr/>
              <p:nvPr/>
            </p:nvSpPr>
            <p:spPr>
              <a:xfrm flipH="false" flipV="false" rot="0">
                <a:off x="0" y="0"/>
                <a:ext cx="776334" cy="160122"/>
              </a:xfrm>
              <a:custGeom>
                <a:avLst/>
                <a:gdLst/>
                <a:ahLst/>
                <a:cxnLst/>
                <a:rect r="r" b="b" t="t" l="l"/>
                <a:pathLst>
                  <a:path h="160122" w="776334">
                    <a:moveTo>
                      <a:pt x="0" y="0"/>
                    </a:moveTo>
                    <a:lnTo>
                      <a:pt x="776334" y="0"/>
                    </a:lnTo>
                    <a:lnTo>
                      <a:pt x="776334" y="160122"/>
                    </a:lnTo>
                    <a:lnTo>
                      <a:pt x="0" y="160122"/>
                    </a:lnTo>
                    <a:close/>
                  </a:path>
                </a:pathLst>
              </a:custGeom>
              <a:solidFill>
                <a:srgbClr val="FFFFFF"/>
              </a:solidFill>
              <a:ln w="19050" cap="sq">
                <a:solidFill>
                  <a:srgbClr val="000000"/>
                </a:solidFill>
                <a:prstDash val="solid"/>
                <a:miter/>
              </a:ln>
            </p:spPr>
          </p:sp>
          <p:sp>
            <p:nvSpPr>
              <p:cNvPr name="TextBox 32" id="32"/>
              <p:cNvSpPr txBox="true"/>
              <p:nvPr/>
            </p:nvSpPr>
            <p:spPr>
              <a:xfrm>
                <a:off x="0" y="-9525"/>
                <a:ext cx="776334" cy="169647"/>
              </a:xfrm>
              <a:prstGeom prst="rect">
                <a:avLst/>
              </a:prstGeom>
            </p:spPr>
            <p:txBody>
              <a:bodyPr anchor="ctr" rtlCol="false" tIns="50800" lIns="50800" bIns="50800" rIns="50800"/>
              <a:lstStyle/>
              <a:p>
                <a:pPr algn="ctr">
                  <a:lnSpc>
                    <a:spcPts val="2879"/>
                  </a:lnSpc>
                </a:pPr>
                <a:r>
                  <a:rPr lang="en-US" sz="2399">
                    <a:solidFill>
                      <a:srgbClr val="000000"/>
                    </a:solidFill>
                    <a:latin typeface="Arial"/>
                    <a:ea typeface="Arial"/>
                    <a:cs typeface="Arial"/>
                    <a:sym typeface="Arial"/>
                  </a:rPr>
                  <a:t>User Dashboard</a:t>
                </a:r>
              </a:p>
            </p:txBody>
          </p:sp>
        </p:grpSp>
        <p:sp>
          <p:nvSpPr>
            <p:cNvPr name="AutoShape 33" id="33"/>
            <p:cNvSpPr/>
            <p:nvPr/>
          </p:nvSpPr>
          <p:spPr>
            <a:xfrm flipH="true">
              <a:off x="9847234" y="1395675"/>
              <a:ext cx="1227347" cy="3952619"/>
            </a:xfrm>
            <a:prstGeom prst="line">
              <a:avLst/>
            </a:prstGeom>
            <a:ln cap="flat" w="38396">
              <a:solidFill>
                <a:srgbClr val="000000"/>
              </a:solidFill>
              <a:prstDash val="solid"/>
              <a:headEnd type="arrow" len="sm" w="med"/>
              <a:tailEnd type="none" len="sm" w="sm"/>
            </a:ln>
          </p:spPr>
        </p:sp>
        <p:grpSp>
          <p:nvGrpSpPr>
            <p:cNvPr name="Group 34" id="34"/>
            <p:cNvGrpSpPr/>
            <p:nvPr/>
          </p:nvGrpSpPr>
          <p:grpSpPr>
            <a:xfrm rot="0">
              <a:off x="9144303" y="375238"/>
              <a:ext cx="3860556" cy="952744"/>
              <a:chOff x="0" y="0"/>
              <a:chExt cx="756708" cy="186747"/>
            </a:xfrm>
          </p:grpSpPr>
          <p:sp>
            <p:nvSpPr>
              <p:cNvPr name="Freeform 35" id="35"/>
              <p:cNvSpPr/>
              <p:nvPr/>
            </p:nvSpPr>
            <p:spPr>
              <a:xfrm flipH="false" flipV="false" rot="0">
                <a:off x="0" y="0"/>
                <a:ext cx="756708" cy="186747"/>
              </a:xfrm>
              <a:custGeom>
                <a:avLst/>
                <a:gdLst/>
                <a:ahLst/>
                <a:cxnLst/>
                <a:rect r="r" b="b" t="t" l="l"/>
                <a:pathLst>
                  <a:path h="186747" w="756708">
                    <a:moveTo>
                      <a:pt x="0" y="0"/>
                    </a:moveTo>
                    <a:lnTo>
                      <a:pt x="756708" y="0"/>
                    </a:lnTo>
                    <a:lnTo>
                      <a:pt x="756708" y="186747"/>
                    </a:lnTo>
                    <a:lnTo>
                      <a:pt x="0" y="186747"/>
                    </a:lnTo>
                    <a:close/>
                  </a:path>
                </a:pathLst>
              </a:custGeom>
              <a:solidFill>
                <a:srgbClr val="FFFFFF"/>
              </a:solidFill>
              <a:ln w="19050" cap="sq">
                <a:solidFill>
                  <a:srgbClr val="000000"/>
                </a:solidFill>
                <a:prstDash val="solid"/>
                <a:miter/>
              </a:ln>
            </p:spPr>
          </p:sp>
          <p:sp>
            <p:nvSpPr>
              <p:cNvPr name="TextBox 36" id="36"/>
              <p:cNvSpPr txBox="true"/>
              <p:nvPr/>
            </p:nvSpPr>
            <p:spPr>
              <a:xfrm>
                <a:off x="0" y="-9525"/>
                <a:ext cx="756708" cy="196272"/>
              </a:xfrm>
              <a:prstGeom prst="rect">
                <a:avLst/>
              </a:prstGeom>
            </p:spPr>
            <p:txBody>
              <a:bodyPr anchor="ctr" rtlCol="false" tIns="50800" lIns="50800" bIns="50800" rIns="50800"/>
              <a:lstStyle/>
              <a:p>
                <a:pPr algn="ctr">
                  <a:lnSpc>
                    <a:spcPts val="2879"/>
                  </a:lnSpc>
                </a:pPr>
                <a:r>
                  <a:rPr lang="en-US" sz="2399">
                    <a:solidFill>
                      <a:srgbClr val="000000"/>
                    </a:solidFill>
                    <a:latin typeface="Arial"/>
                    <a:ea typeface="Arial"/>
                    <a:cs typeface="Arial"/>
                    <a:sym typeface="Arial"/>
                  </a:rPr>
                  <a:t>Preference form</a:t>
                </a:r>
              </a:p>
            </p:txBody>
          </p:sp>
        </p:grpSp>
        <p:grpSp>
          <p:nvGrpSpPr>
            <p:cNvPr name="Group 37" id="37"/>
            <p:cNvGrpSpPr/>
            <p:nvPr/>
          </p:nvGrpSpPr>
          <p:grpSpPr>
            <a:xfrm rot="0">
              <a:off x="13713616" y="234819"/>
              <a:ext cx="3860556" cy="952744"/>
              <a:chOff x="0" y="0"/>
              <a:chExt cx="756708" cy="186747"/>
            </a:xfrm>
          </p:grpSpPr>
          <p:sp>
            <p:nvSpPr>
              <p:cNvPr name="Freeform 38" id="38"/>
              <p:cNvSpPr/>
              <p:nvPr/>
            </p:nvSpPr>
            <p:spPr>
              <a:xfrm flipH="false" flipV="false" rot="0">
                <a:off x="0" y="0"/>
                <a:ext cx="756708" cy="186747"/>
              </a:xfrm>
              <a:custGeom>
                <a:avLst/>
                <a:gdLst/>
                <a:ahLst/>
                <a:cxnLst/>
                <a:rect r="r" b="b" t="t" l="l"/>
                <a:pathLst>
                  <a:path h="186747" w="756708">
                    <a:moveTo>
                      <a:pt x="0" y="0"/>
                    </a:moveTo>
                    <a:lnTo>
                      <a:pt x="756708" y="0"/>
                    </a:lnTo>
                    <a:lnTo>
                      <a:pt x="756708" y="186747"/>
                    </a:lnTo>
                    <a:lnTo>
                      <a:pt x="0" y="186747"/>
                    </a:lnTo>
                    <a:close/>
                  </a:path>
                </a:pathLst>
              </a:custGeom>
              <a:solidFill>
                <a:srgbClr val="FFFFFF"/>
              </a:solidFill>
              <a:ln w="19050" cap="sq">
                <a:solidFill>
                  <a:srgbClr val="000000"/>
                </a:solidFill>
                <a:prstDash val="solid"/>
                <a:miter/>
              </a:ln>
            </p:spPr>
          </p:sp>
          <p:sp>
            <p:nvSpPr>
              <p:cNvPr name="TextBox 39" id="39"/>
              <p:cNvSpPr txBox="true"/>
              <p:nvPr/>
            </p:nvSpPr>
            <p:spPr>
              <a:xfrm>
                <a:off x="0" y="-9525"/>
                <a:ext cx="756708" cy="196272"/>
              </a:xfrm>
              <a:prstGeom prst="rect">
                <a:avLst/>
              </a:prstGeom>
            </p:spPr>
            <p:txBody>
              <a:bodyPr anchor="ctr" rtlCol="false" tIns="50800" lIns="50800" bIns="50800" rIns="50800"/>
              <a:lstStyle/>
              <a:p>
                <a:pPr algn="ctr">
                  <a:lnSpc>
                    <a:spcPts val="2879"/>
                  </a:lnSpc>
                </a:pPr>
                <a:r>
                  <a:rPr lang="en-US" sz="2399">
                    <a:solidFill>
                      <a:srgbClr val="000000"/>
                    </a:solidFill>
                    <a:latin typeface="Arial"/>
                    <a:ea typeface="Arial"/>
                    <a:cs typeface="Arial"/>
                    <a:sym typeface="Arial"/>
                  </a:rPr>
                  <a:t>Backend API</a:t>
                </a:r>
              </a:p>
            </p:txBody>
          </p:sp>
        </p:grpSp>
        <p:grpSp>
          <p:nvGrpSpPr>
            <p:cNvPr name="Group 40" id="40"/>
            <p:cNvGrpSpPr/>
            <p:nvPr/>
          </p:nvGrpSpPr>
          <p:grpSpPr>
            <a:xfrm rot="0">
              <a:off x="18282929" y="0"/>
              <a:ext cx="3860556" cy="1303251"/>
              <a:chOff x="0" y="0"/>
              <a:chExt cx="756708" cy="255450"/>
            </a:xfrm>
          </p:grpSpPr>
          <p:sp>
            <p:nvSpPr>
              <p:cNvPr name="Freeform 41" id="41"/>
              <p:cNvSpPr/>
              <p:nvPr/>
            </p:nvSpPr>
            <p:spPr>
              <a:xfrm flipH="false" flipV="false" rot="0">
                <a:off x="0" y="0"/>
                <a:ext cx="756708" cy="255450"/>
              </a:xfrm>
              <a:custGeom>
                <a:avLst/>
                <a:gdLst/>
                <a:ahLst/>
                <a:cxnLst/>
                <a:rect r="r" b="b" t="t" l="l"/>
                <a:pathLst>
                  <a:path h="255450" w="756708">
                    <a:moveTo>
                      <a:pt x="0" y="0"/>
                    </a:moveTo>
                    <a:lnTo>
                      <a:pt x="756708" y="0"/>
                    </a:lnTo>
                    <a:lnTo>
                      <a:pt x="756708" y="255450"/>
                    </a:lnTo>
                    <a:lnTo>
                      <a:pt x="0" y="255450"/>
                    </a:lnTo>
                    <a:close/>
                  </a:path>
                </a:pathLst>
              </a:custGeom>
              <a:solidFill>
                <a:srgbClr val="FFFFFF"/>
              </a:solidFill>
              <a:ln w="19050" cap="sq">
                <a:solidFill>
                  <a:srgbClr val="000000"/>
                </a:solidFill>
                <a:prstDash val="solid"/>
                <a:miter/>
              </a:ln>
            </p:spPr>
          </p:sp>
          <p:sp>
            <p:nvSpPr>
              <p:cNvPr name="TextBox 42" id="42"/>
              <p:cNvSpPr txBox="true"/>
              <p:nvPr/>
            </p:nvSpPr>
            <p:spPr>
              <a:xfrm>
                <a:off x="0" y="-9525"/>
                <a:ext cx="756708" cy="264975"/>
              </a:xfrm>
              <a:prstGeom prst="rect">
                <a:avLst/>
              </a:prstGeom>
            </p:spPr>
            <p:txBody>
              <a:bodyPr anchor="ctr" rtlCol="false" tIns="50800" lIns="50800" bIns="50800" rIns="50800"/>
              <a:lstStyle/>
              <a:p>
                <a:pPr algn="ctr">
                  <a:lnSpc>
                    <a:spcPts val="2879"/>
                  </a:lnSpc>
                </a:pPr>
                <a:r>
                  <a:rPr lang="en-US" sz="2399">
                    <a:solidFill>
                      <a:srgbClr val="000000"/>
                    </a:solidFill>
                    <a:latin typeface="Arial"/>
                    <a:ea typeface="Arial"/>
                    <a:cs typeface="Arial"/>
                    <a:sym typeface="Arial"/>
                  </a:rPr>
                  <a:t>Data Validation &amp; Preprocessing </a:t>
                </a:r>
              </a:p>
            </p:txBody>
          </p:sp>
        </p:grpSp>
        <p:grpSp>
          <p:nvGrpSpPr>
            <p:cNvPr name="Group 43" id="43"/>
            <p:cNvGrpSpPr/>
            <p:nvPr/>
          </p:nvGrpSpPr>
          <p:grpSpPr>
            <a:xfrm rot="0">
              <a:off x="17412562" y="1970649"/>
              <a:ext cx="4936542" cy="952744"/>
              <a:chOff x="0" y="0"/>
              <a:chExt cx="967612" cy="186747"/>
            </a:xfrm>
          </p:grpSpPr>
          <p:sp>
            <p:nvSpPr>
              <p:cNvPr name="Freeform 44" id="44"/>
              <p:cNvSpPr/>
              <p:nvPr/>
            </p:nvSpPr>
            <p:spPr>
              <a:xfrm flipH="false" flipV="false" rot="0">
                <a:off x="0" y="0"/>
                <a:ext cx="967612" cy="186747"/>
              </a:xfrm>
              <a:custGeom>
                <a:avLst/>
                <a:gdLst/>
                <a:ahLst/>
                <a:cxnLst/>
                <a:rect r="r" b="b" t="t" l="l"/>
                <a:pathLst>
                  <a:path h="186747" w="967612">
                    <a:moveTo>
                      <a:pt x="0" y="0"/>
                    </a:moveTo>
                    <a:lnTo>
                      <a:pt x="967612" y="0"/>
                    </a:lnTo>
                    <a:lnTo>
                      <a:pt x="967612" y="186747"/>
                    </a:lnTo>
                    <a:lnTo>
                      <a:pt x="0" y="186747"/>
                    </a:lnTo>
                    <a:close/>
                  </a:path>
                </a:pathLst>
              </a:custGeom>
              <a:solidFill>
                <a:srgbClr val="FFFFFF"/>
              </a:solidFill>
              <a:ln w="19050" cap="sq">
                <a:solidFill>
                  <a:srgbClr val="000000"/>
                </a:solidFill>
                <a:prstDash val="solid"/>
                <a:miter/>
              </a:ln>
            </p:spPr>
          </p:sp>
          <p:sp>
            <p:nvSpPr>
              <p:cNvPr name="TextBox 45" id="45"/>
              <p:cNvSpPr txBox="true"/>
              <p:nvPr/>
            </p:nvSpPr>
            <p:spPr>
              <a:xfrm>
                <a:off x="0" y="-9525"/>
                <a:ext cx="967612" cy="196272"/>
              </a:xfrm>
              <a:prstGeom prst="rect">
                <a:avLst/>
              </a:prstGeom>
            </p:spPr>
            <p:txBody>
              <a:bodyPr anchor="ctr" rtlCol="false" tIns="50800" lIns="50800" bIns="50800" rIns="50800"/>
              <a:lstStyle/>
              <a:p>
                <a:pPr algn="ctr">
                  <a:lnSpc>
                    <a:spcPts val="2879"/>
                  </a:lnSpc>
                </a:pPr>
                <a:r>
                  <a:rPr lang="en-US" sz="2399">
                    <a:solidFill>
                      <a:srgbClr val="000000"/>
                    </a:solidFill>
                    <a:latin typeface="Arial"/>
                    <a:ea typeface="Arial"/>
                    <a:cs typeface="Arial"/>
                    <a:sym typeface="Arial"/>
                  </a:rPr>
                  <a:t>Database Storage Layer</a:t>
                </a:r>
              </a:p>
            </p:txBody>
          </p:sp>
        </p:grpSp>
        <p:grpSp>
          <p:nvGrpSpPr>
            <p:cNvPr name="Group 46" id="46"/>
            <p:cNvGrpSpPr/>
            <p:nvPr/>
          </p:nvGrpSpPr>
          <p:grpSpPr>
            <a:xfrm rot="0">
              <a:off x="12117661" y="4175480"/>
              <a:ext cx="4936542" cy="816906"/>
              <a:chOff x="0" y="0"/>
              <a:chExt cx="967612" cy="160122"/>
            </a:xfrm>
          </p:grpSpPr>
          <p:sp>
            <p:nvSpPr>
              <p:cNvPr name="Freeform 47" id="47"/>
              <p:cNvSpPr/>
              <p:nvPr/>
            </p:nvSpPr>
            <p:spPr>
              <a:xfrm flipH="false" flipV="false" rot="0">
                <a:off x="0" y="0"/>
                <a:ext cx="967612" cy="160122"/>
              </a:xfrm>
              <a:custGeom>
                <a:avLst/>
                <a:gdLst/>
                <a:ahLst/>
                <a:cxnLst/>
                <a:rect r="r" b="b" t="t" l="l"/>
                <a:pathLst>
                  <a:path h="160122" w="967612">
                    <a:moveTo>
                      <a:pt x="0" y="0"/>
                    </a:moveTo>
                    <a:lnTo>
                      <a:pt x="967612" y="0"/>
                    </a:lnTo>
                    <a:lnTo>
                      <a:pt x="967612" y="160122"/>
                    </a:lnTo>
                    <a:lnTo>
                      <a:pt x="0" y="160122"/>
                    </a:lnTo>
                    <a:close/>
                  </a:path>
                </a:pathLst>
              </a:custGeom>
              <a:solidFill>
                <a:srgbClr val="FFFFFF"/>
              </a:solidFill>
              <a:ln w="19050" cap="sq">
                <a:solidFill>
                  <a:srgbClr val="000000"/>
                </a:solidFill>
                <a:prstDash val="solid"/>
                <a:miter/>
              </a:ln>
            </p:spPr>
          </p:sp>
          <p:sp>
            <p:nvSpPr>
              <p:cNvPr name="TextBox 48" id="48"/>
              <p:cNvSpPr txBox="true"/>
              <p:nvPr/>
            </p:nvSpPr>
            <p:spPr>
              <a:xfrm>
                <a:off x="0" y="-9525"/>
                <a:ext cx="967612" cy="169647"/>
              </a:xfrm>
              <a:prstGeom prst="rect">
                <a:avLst/>
              </a:prstGeom>
            </p:spPr>
            <p:txBody>
              <a:bodyPr anchor="ctr" rtlCol="false" tIns="50800" lIns="50800" bIns="50800" rIns="50800"/>
              <a:lstStyle/>
              <a:p>
                <a:pPr algn="ctr">
                  <a:lnSpc>
                    <a:spcPts val="2879"/>
                  </a:lnSpc>
                </a:pPr>
                <a:r>
                  <a:rPr lang="en-US" sz="2399">
                    <a:solidFill>
                      <a:srgbClr val="000000"/>
                    </a:solidFill>
                    <a:latin typeface="Arial"/>
                    <a:ea typeface="Arial"/>
                    <a:cs typeface="Arial"/>
                    <a:sym typeface="Arial"/>
                  </a:rPr>
                  <a:t>Fetch User Profile</a:t>
                </a:r>
              </a:p>
            </p:txBody>
          </p:sp>
        </p:grpSp>
        <p:grpSp>
          <p:nvGrpSpPr>
            <p:cNvPr name="Group 49" id="49"/>
            <p:cNvGrpSpPr/>
            <p:nvPr/>
          </p:nvGrpSpPr>
          <p:grpSpPr>
            <a:xfrm rot="0">
              <a:off x="12117661" y="5528280"/>
              <a:ext cx="4936542" cy="839129"/>
              <a:chOff x="0" y="0"/>
              <a:chExt cx="967612" cy="164478"/>
            </a:xfrm>
          </p:grpSpPr>
          <p:sp>
            <p:nvSpPr>
              <p:cNvPr name="Freeform 50" id="50"/>
              <p:cNvSpPr/>
              <p:nvPr/>
            </p:nvSpPr>
            <p:spPr>
              <a:xfrm flipH="false" flipV="false" rot="0">
                <a:off x="0" y="0"/>
                <a:ext cx="967612" cy="164478"/>
              </a:xfrm>
              <a:custGeom>
                <a:avLst/>
                <a:gdLst/>
                <a:ahLst/>
                <a:cxnLst/>
                <a:rect r="r" b="b" t="t" l="l"/>
                <a:pathLst>
                  <a:path h="164478" w="967612">
                    <a:moveTo>
                      <a:pt x="0" y="0"/>
                    </a:moveTo>
                    <a:lnTo>
                      <a:pt x="967612" y="0"/>
                    </a:lnTo>
                    <a:lnTo>
                      <a:pt x="967612" y="164478"/>
                    </a:lnTo>
                    <a:lnTo>
                      <a:pt x="0" y="164478"/>
                    </a:lnTo>
                    <a:close/>
                  </a:path>
                </a:pathLst>
              </a:custGeom>
              <a:solidFill>
                <a:srgbClr val="FFFFFF"/>
              </a:solidFill>
              <a:ln w="19050" cap="sq">
                <a:solidFill>
                  <a:srgbClr val="000000"/>
                </a:solidFill>
                <a:prstDash val="solid"/>
                <a:miter/>
              </a:ln>
            </p:spPr>
          </p:sp>
          <p:sp>
            <p:nvSpPr>
              <p:cNvPr name="TextBox 51" id="51"/>
              <p:cNvSpPr txBox="true"/>
              <p:nvPr/>
            </p:nvSpPr>
            <p:spPr>
              <a:xfrm>
                <a:off x="0" y="-9525"/>
                <a:ext cx="967612" cy="174003"/>
              </a:xfrm>
              <a:prstGeom prst="rect">
                <a:avLst/>
              </a:prstGeom>
            </p:spPr>
            <p:txBody>
              <a:bodyPr anchor="ctr" rtlCol="false" tIns="50800" lIns="50800" bIns="50800" rIns="50800"/>
              <a:lstStyle/>
              <a:p>
                <a:pPr algn="ctr">
                  <a:lnSpc>
                    <a:spcPts val="2879"/>
                  </a:lnSpc>
                </a:pPr>
                <a:r>
                  <a:rPr lang="en-US" sz="2399">
                    <a:solidFill>
                      <a:srgbClr val="000000"/>
                    </a:solidFill>
                    <a:latin typeface="Arial"/>
                    <a:ea typeface="Arial"/>
                    <a:cs typeface="Arial"/>
                    <a:sym typeface="Arial"/>
                  </a:rPr>
                  <a:t>Return User Profile</a:t>
                </a:r>
              </a:p>
            </p:txBody>
          </p:sp>
        </p:grpSp>
        <p:sp>
          <p:nvSpPr>
            <p:cNvPr name="AutoShape 52" id="52"/>
            <p:cNvSpPr/>
            <p:nvPr/>
          </p:nvSpPr>
          <p:spPr>
            <a:xfrm>
              <a:off x="13095489" y="870808"/>
              <a:ext cx="527497" cy="0"/>
            </a:xfrm>
            <a:prstGeom prst="line">
              <a:avLst/>
            </a:prstGeom>
            <a:ln cap="flat" w="38396">
              <a:solidFill>
                <a:srgbClr val="000000"/>
              </a:solidFill>
              <a:prstDash val="solid"/>
              <a:headEnd type="none" len="sm" w="sm"/>
              <a:tailEnd type="arrow" len="sm" w="med"/>
            </a:ln>
          </p:spPr>
        </p:sp>
        <p:sp>
          <p:nvSpPr>
            <p:cNvPr name="AutoShape 53" id="53"/>
            <p:cNvSpPr/>
            <p:nvPr/>
          </p:nvSpPr>
          <p:spPr>
            <a:xfrm>
              <a:off x="17664802" y="832412"/>
              <a:ext cx="527497" cy="0"/>
            </a:xfrm>
            <a:prstGeom prst="line">
              <a:avLst/>
            </a:prstGeom>
            <a:ln cap="flat" w="38396">
              <a:solidFill>
                <a:srgbClr val="000000"/>
              </a:solidFill>
              <a:prstDash val="solid"/>
              <a:headEnd type="none" len="sm" w="sm"/>
              <a:tailEnd type="arrow" len="sm" w="med"/>
            </a:ln>
          </p:spPr>
        </p:sp>
        <p:sp>
          <p:nvSpPr>
            <p:cNvPr name="AutoShape 54" id="54"/>
            <p:cNvSpPr/>
            <p:nvPr/>
          </p:nvSpPr>
          <p:spPr>
            <a:xfrm>
              <a:off x="19900031" y="1373202"/>
              <a:ext cx="0" cy="527497"/>
            </a:xfrm>
            <a:prstGeom prst="line">
              <a:avLst/>
            </a:prstGeom>
            <a:ln cap="flat" w="38396">
              <a:solidFill>
                <a:srgbClr val="000000"/>
              </a:solidFill>
              <a:prstDash val="solid"/>
              <a:headEnd type="none" len="sm" w="sm"/>
              <a:tailEnd type="arrow" len="sm" w="med"/>
            </a:ln>
          </p:spPr>
        </p:sp>
        <p:sp>
          <p:nvSpPr>
            <p:cNvPr name="Freeform 55" id="55"/>
            <p:cNvSpPr/>
            <p:nvPr/>
          </p:nvSpPr>
          <p:spPr>
            <a:xfrm flipH="false" flipV="false" rot="0">
              <a:off x="11831488" y="2317315"/>
              <a:ext cx="1386392" cy="1322271"/>
            </a:xfrm>
            <a:custGeom>
              <a:avLst/>
              <a:gdLst/>
              <a:ahLst/>
              <a:cxnLst/>
              <a:rect r="r" b="b" t="t" l="l"/>
              <a:pathLst>
                <a:path h="1322271" w="1386392">
                  <a:moveTo>
                    <a:pt x="0" y="0"/>
                  </a:moveTo>
                  <a:lnTo>
                    <a:pt x="1386392" y="0"/>
                  </a:lnTo>
                  <a:lnTo>
                    <a:pt x="1386392" y="1322272"/>
                  </a:lnTo>
                  <a:lnTo>
                    <a:pt x="0" y="13222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6" id="56"/>
            <p:cNvSpPr/>
            <p:nvPr/>
          </p:nvSpPr>
          <p:spPr>
            <a:xfrm flipH="false" flipV="false" rot="0">
              <a:off x="13622986" y="2317315"/>
              <a:ext cx="1386392" cy="1322271"/>
            </a:xfrm>
            <a:custGeom>
              <a:avLst/>
              <a:gdLst/>
              <a:ahLst/>
              <a:cxnLst/>
              <a:rect r="r" b="b" t="t" l="l"/>
              <a:pathLst>
                <a:path h="1322271" w="1386392">
                  <a:moveTo>
                    <a:pt x="0" y="0"/>
                  </a:moveTo>
                  <a:lnTo>
                    <a:pt x="1386392" y="0"/>
                  </a:lnTo>
                  <a:lnTo>
                    <a:pt x="1386392" y="1322272"/>
                  </a:lnTo>
                  <a:lnTo>
                    <a:pt x="0" y="13222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7" id="57"/>
            <p:cNvSpPr/>
            <p:nvPr/>
          </p:nvSpPr>
          <p:spPr>
            <a:xfrm flipH="false" flipV="false" rot="0">
              <a:off x="15414483" y="2317315"/>
              <a:ext cx="1386392" cy="1322271"/>
            </a:xfrm>
            <a:custGeom>
              <a:avLst/>
              <a:gdLst/>
              <a:ahLst/>
              <a:cxnLst/>
              <a:rect r="r" b="b" t="t" l="l"/>
              <a:pathLst>
                <a:path h="1322271" w="1386392">
                  <a:moveTo>
                    <a:pt x="0" y="0"/>
                  </a:moveTo>
                  <a:lnTo>
                    <a:pt x="1386392" y="0"/>
                  </a:lnTo>
                  <a:lnTo>
                    <a:pt x="1386392" y="1322272"/>
                  </a:lnTo>
                  <a:lnTo>
                    <a:pt x="0" y="13222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58" id="58"/>
            <p:cNvSpPr/>
            <p:nvPr/>
          </p:nvSpPr>
          <p:spPr>
            <a:xfrm>
              <a:off x="14566735" y="5000784"/>
              <a:ext cx="0" cy="527497"/>
            </a:xfrm>
            <a:prstGeom prst="line">
              <a:avLst/>
            </a:prstGeom>
            <a:ln cap="flat" w="38396">
              <a:solidFill>
                <a:srgbClr val="000000"/>
              </a:solidFill>
              <a:prstDash val="solid"/>
              <a:headEnd type="none" len="sm" w="sm"/>
              <a:tailEnd type="arrow" len="sm" w="med"/>
            </a:ln>
          </p:spPr>
        </p:sp>
        <p:sp>
          <p:nvSpPr>
            <p:cNvPr name="AutoShape 59" id="59"/>
            <p:cNvSpPr/>
            <p:nvPr/>
          </p:nvSpPr>
          <p:spPr>
            <a:xfrm flipH="true">
              <a:off x="12505486" y="1636950"/>
              <a:ext cx="5777443" cy="527497"/>
            </a:xfrm>
            <a:prstGeom prst="line">
              <a:avLst/>
            </a:prstGeom>
            <a:ln cap="flat" w="38396">
              <a:solidFill>
                <a:srgbClr val="000000"/>
              </a:solidFill>
              <a:prstDash val="solid"/>
              <a:headEnd type="none" len="sm" w="sm"/>
              <a:tailEnd type="arrow" len="sm" w="med"/>
            </a:ln>
          </p:spPr>
        </p:sp>
        <p:sp>
          <p:nvSpPr>
            <p:cNvPr name="AutoShape 60" id="60"/>
            <p:cNvSpPr/>
            <p:nvPr/>
          </p:nvSpPr>
          <p:spPr>
            <a:xfrm flipH="true">
              <a:off x="14312792" y="1636950"/>
              <a:ext cx="3879507" cy="529583"/>
            </a:xfrm>
            <a:prstGeom prst="line">
              <a:avLst/>
            </a:prstGeom>
            <a:ln cap="flat" w="38396">
              <a:solidFill>
                <a:srgbClr val="000000"/>
              </a:solidFill>
              <a:prstDash val="solid"/>
              <a:headEnd type="none" len="sm" w="sm"/>
              <a:tailEnd type="arrow" len="sm" w="med"/>
            </a:ln>
          </p:spPr>
        </p:sp>
        <p:sp>
          <p:nvSpPr>
            <p:cNvPr name="AutoShape 61" id="61"/>
            <p:cNvSpPr/>
            <p:nvPr/>
          </p:nvSpPr>
          <p:spPr>
            <a:xfrm flipH="true">
              <a:off x="16013895" y="1636950"/>
              <a:ext cx="2178404" cy="635647"/>
            </a:xfrm>
            <a:prstGeom prst="line">
              <a:avLst/>
            </a:prstGeom>
            <a:ln cap="flat" w="38396">
              <a:solidFill>
                <a:srgbClr val="000000"/>
              </a:solidFill>
              <a:prstDash val="solid"/>
              <a:headEnd type="none" len="sm" w="sm"/>
              <a:tailEnd type="arrow" len="sm" w="med"/>
            </a:ln>
          </p:spPr>
        </p:sp>
        <p:sp>
          <p:nvSpPr>
            <p:cNvPr name="AutoShape 62" id="62"/>
            <p:cNvSpPr/>
            <p:nvPr/>
          </p:nvSpPr>
          <p:spPr>
            <a:xfrm>
              <a:off x="14547537" y="3639587"/>
              <a:ext cx="0" cy="527497"/>
            </a:xfrm>
            <a:prstGeom prst="line">
              <a:avLst/>
            </a:prstGeom>
            <a:ln cap="flat" w="38396">
              <a:solidFill>
                <a:srgbClr val="000000"/>
              </a:solidFill>
              <a:prstDash val="solid"/>
              <a:headEnd type="none" len="sm" w="sm"/>
              <a:tailEnd type="arrow" len="sm" w="med"/>
            </a:ln>
          </p:spPr>
        </p:sp>
        <p:sp>
          <p:nvSpPr>
            <p:cNvPr name="TextBox 63" id="63"/>
            <p:cNvSpPr txBox="true"/>
            <p:nvPr/>
          </p:nvSpPr>
          <p:spPr>
            <a:xfrm rot="0">
              <a:off x="11981946" y="2930826"/>
              <a:ext cx="1085476" cy="310401"/>
            </a:xfrm>
            <a:prstGeom prst="rect">
              <a:avLst/>
            </a:prstGeom>
          </p:spPr>
          <p:txBody>
            <a:bodyPr anchor="t" rtlCol="false" tIns="0" lIns="0" bIns="0" rIns="0">
              <a:spAutoFit/>
            </a:bodyPr>
            <a:lstStyle/>
            <a:p>
              <a:pPr algn="ctr">
                <a:lnSpc>
                  <a:spcPts val="1834"/>
                </a:lnSpc>
              </a:pPr>
              <a:r>
                <a:rPr lang="en-US" sz="1310">
                  <a:solidFill>
                    <a:srgbClr val="000000"/>
                  </a:solidFill>
                  <a:latin typeface="Arial"/>
                  <a:ea typeface="Arial"/>
                  <a:cs typeface="Arial"/>
                  <a:sym typeface="Arial"/>
                </a:rPr>
                <a:t>PostgreSql</a:t>
              </a:r>
            </a:p>
          </p:txBody>
        </p:sp>
        <p:sp>
          <p:nvSpPr>
            <p:cNvPr name="TextBox 64" id="64"/>
            <p:cNvSpPr txBox="true"/>
            <p:nvPr/>
          </p:nvSpPr>
          <p:spPr>
            <a:xfrm rot="0">
              <a:off x="13822798" y="2930826"/>
              <a:ext cx="986767" cy="310401"/>
            </a:xfrm>
            <a:prstGeom prst="rect">
              <a:avLst/>
            </a:prstGeom>
          </p:spPr>
          <p:txBody>
            <a:bodyPr anchor="t" rtlCol="false" tIns="0" lIns="0" bIns="0" rIns="0">
              <a:spAutoFit/>
            </a:bodyPr>
            <a:lstStyle/>
            <a:p>
              <a:pPr algn="ctr">
                <a:lnSpc>
                  <a:spcPts val="1834"/>
                </a:lnSpc>
              </a:pPr>
              <a:r>
                <a:rPr lang="en-US" sz="1310">
                  <a:solidFill>
                    <a:srgbClr val="000000"/>
                  </a:solidFill>
                  <a:latin typeface="Arial"/>
                  <a:ea typeface="Arial"/>
                  <a:cs typeface="Arial"/>
                  <a:sym typeface="Arial"/>
                </a:rPr>
                <a:t>MongoDB</a:t>
              </a:r>
            </a:p>
          </p:txBody>
        </p:sp>
        <p:sp>
          <p:nvSpPr>
            <p:cNvPr name="TextBox 65" id="65"/>
            <p:cNvSpPr txBox="true"/>
            <p:nvPr/>
          </p:nvSpPr>
          <p:spPr>
            <a:xfrm rot="0">
              <a:off x="15663730" y="2930826"/>
              <a:ext cx="887898" cy="310401"/>
            </a:xfrm>
            <a:prstGeom prst="rect">
              <a:avLst/>
            </a:prstGeom>
          </p:spPr>
          <p:txBody>
            <a:bodyPr anchor="t" rtlCol="false" tIns="0" lIns="0" bIns="0" rIns="0">
              <a:spAutoFit/>
            </a:bodyPr>
            <a:lstStyle/>
            <a:p>
              <a:pPr algn="ctr">
                <a:lnSpc>
                  <a:spcPts val="1834"/>
                </a:lnSpc>
              </a:pPr>
              <a:r>
                <a:rPr lang="en-US" sz="1310">
                  <a:solidFill>
                    <a:srgbClr val="000000"/>
                  </a:solidFill>
                  <a:latin typeface="Arial"/>
                  <a:ea typeface="Arial"/>
                  <a:cs typeface="Arial"/>
                  <a:sym typeface="Arial"/>
                </a:rPr>
                <a:t>FireBase</a:t>
              </a:r>
            </a:p>
          </p:txBody>
        </p:sp>
      </p:gr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6100" y="0"/>
            <a:ext cx="18324004" cy="5200650"/>
            <a:chOff x="0" y="0"/>
            <a:chExt cx="24432006" cy="6934200"/>
          </a:xfrm>
        </p:grpSpPr>
        <p:sp>
          <p:nvSpPr>
            <p:cNvPr name="Freeform 3" id="3"/>
            <p:cNvSpPr/>
            <p:nvPr/>
          </p:nvSpPr>
          <p:spPr>
            <a:xfrm flipH="false" flipV="false" rot="0">
              <a:off x="0" y="0"/>
              <a:ext cx="24432006" cy="6934200"/>
            </a:xfrm>
            <a:custGeom>
              <a:avLst/>
              <a:gdLst/>
              <a:ahLst/>
              <a:cxnLst/>
              <a:rect r="r" b="b" t="t" l="l"/>
              <a:pathLst>
                <a:path h="6934200" w="24432006">
                  <a:moveTo>
                    <a:pt x="0" y="0"/>
                  </a:moveTo>
                  <a:lnTo>
                    <a:pt x="24432006" y="0"/>
                  </a:lnTo>
                  <a:lnTo>
                    <a:pt x="24432006" y="6934200"/>
                  </a:lnTo>
                  <a:lnTo>
                    <a:pt x="0" y="6934200"/>
                  </a:lnTo>
                  <a:close/>
                </a:path>
              </a:pathLst>
            </a:custGeom>
            <a:solidFill>
              <a:srgbClr val="AA2070"/>
            </a:solidFill>
            <a:ln w="12700">
              <a:solidFill>
                <a:srgbClr val="000000"/>
              </a:solidFill>
            </a:ln>
          </p:spPr>
        </p:sp>
      </p:grpSp>
      <p:grpSp>
        <p:nvGrpSpPr>
          <p:cNvPr name="Group 4" id="4"/>
          <p:cNvGrpSpPr/>
          <p:nvPr/>
        </p:nvGrpSpPr>
        <p:grpSpPr>
          <a:xfrm rot="0">
            <a:off x="665016" y="623473"/>
            <a:ext cx="16957796" cy="9040054"/>
            <a:chOff x="0" y="0"/>
            <a:chExt cx="22610394" cy="12053405"/>
          </a:xfrm>
        </p:grpSpPr>
        <p:sp>
          <p:nvSpPr>
            <p:cNvPr name="Freeform 5" id="5"/>
            <p:cNvSpPr/>
            <p:nvPr/>
          </p:nvSpPr>
          <p:spPr>
            <a:xfrm flipH="false" flipV="false" rot="0">
              <a:off x="0" y="0"/>
              <a:ext cx="22610445" cy="12053443"/>
            </a:xfrm>
            <a:custGeom>
              <a:avLst/>
              <a:gdLst/>
              <a:ahLst/>
              <a:cxnLst/>
              <a:rect r="r" b="b" t="t" l="l"/>
              <a:pathLst>
                <a:path h="12053443" w="22610445">
                  <a:moveTo>
                    <a:pt x="0" y="0"/>
                  </a:moveTo>
                  <a:lnTo>
                    <a:pt x="22610445" y="0"/>
                  </a:lnTo>
                  <a:lnTo>
                    <a:pt x="22610445" y="12053443"/>
                  </a:lnTo>
                  <a:lnTo>
                    <a:pt x="0" y="12053443"/>
                  </a:lnTo>
                  <a:close/>
                </a:path>
              </a:pathLst>
            </a:custGeom>
            <a:solidFill>
              <a:srgbClr val="FFFFFF"/>
            </a:solidFill>
            <a:ln w="12700">
              <a:solidFill>
                <a:srgbClr val="000000"/>
              </a:solidFill>
            </a:ln>
          </p:spPr>
        </p:sp>
      </p:grpSp>
      <p:grpSp>
        <p:nvGrpSpPr>
          <p:cNvPr name="Group 6" id="6"/>
          <p:cNvGrpSpPr/>
          <p:nvPr/>
        </p:nvGrpSpPr>
        <p:grpSpPr>
          <a:xfrm rot="0">
            <a:off x="1280170" y="0"/>
            <a:ext cx="15767552" cy="1836450"/>
            <a:chOff x="0" y="0"/>
            <a:chExt cx="21023402" cy="2448600"/>
          </a:xfrm>
        </p:grpSpPr>
        <p:sp>
          <p:nvSpPr>
            <p:cNvPr name="Freeform 7" id="7"/>
            <p:cNvSpPr/>
            <p:nvPr/>
          </p:nvSpPr>
          <p:spPr>
            <a:xfrm flipH="false" flipV="false" rot="0">
              <a:off x="0" y="0"/>
              <a:ext cx="21023400" cy="2448602"/>
            </a:xfrm>
            <a:custGeom>
              <a:avLst/>
              <a:gdLst/>
              <a:ahLst/>
              <a:cxnLst/>
              <a:rect r="r" b="b" t="t" l="l"/>
              <a:pathLst>
                <a:path h="2448602" w="21023400">
                  <a:moveTo>
                    <a:pt x="0" y="0"/>
                  </a:moveTo>
                  <a:lnTo>
                    <a:pt x="21023400" y="0"/>
                  </a:lnTo>
                  <a:lnTo>
                    <a:pt x="21023400" y="2448602"/>
                  </a:lnTo>
                  <a:lnTo>
                    <a:pt x="0" y="2448602"/>
                  </a:lnTo>
                  <a:close/>
                </a:path>
              </a:pathLst>
            </a:custGeom>
            <a:solidFill>
              <a:srgbClr val="000000">
                <a:alpha val="0"/>
              </a:srgbClr>
            </a:solidFill>
            <a:ln w="12700">
              <a:solidFill>
                <a:srgbClr val="000000"/>
              </a:solidFill>
            </a:ln>
          </p:spPr>
        </p:sp>
        <p:sp>
          <p:nvSpPr>
            <p:cNvPr name="TextBox 8" id="8"/>
            <p:cNvSpPr txBox="true"/>
            <p:nvPr/>
          </p:nvSpPr>
          <p:spPr>
            <a:xfrm>
              <a:off x="0" y="-104775"/>
              <a:ext cx="21023402" cy="2553375"/>
            </a:xfrm>
            <a:prstGeom prst="rect">
              <a:avLst/>
            </a:prstGeom>
          </p:spPr>
          <p:txBody>
            <a:bodyPr anchor="b" rtlCol="false" tIns="0" lIns="0" bIns="0" rIns="0"/>
            <a:lstStyle/>
            <a:p>
              <a:pPr algn="ctr">
                <a:lnSpc>
                  <a:spcPts val="6480"/>
                </a:lnSpc>
              </a:pPr>
              <a:r>
                <a:rPr lang="en-US" b="true" sz="5400">
                  <a:solidFill>
                    <a:srgbClr val="000000"/>
                  </a:solidFill>
                  <a:latin typeface="Avenir Bold"/>
                  <a:ea typeface="Avenir Bold"/>
                  <a:cs typeface="Avenir Bold"/>
                  <a:sym typeface="Avenir Bold"/>
                </a:rPr>
                <a:t>MODULE-2 :Personalization</a:t>
              </a:r>
            </a:p>
          </p:txBody>
        </p:sp>
      </p:grpSp>
      <p:grpSp>
        <p:nvGrpSpPr>
          <p:cNvPr name="Group 9" id="9"/>
          <p:cNvGrpSpPr/>
          <p:nvPr/>
        </p:nvGrpSpPr>
        <p:grpSpPr>
          <a:xfrm rot="0">
            <a:off x="15537656" y="685800"/>
            <a:ext cx="1601553" cy="707403"/>
            <a:chOff x="0" y="0"/>
            <a:chExt cx="2135403" cy="943204"/>
          </a:xfrm>
        </p:grpSpPr>
        <p:sp>
          <p:nvSpPr>
            <p:cNvPr name="Freeform 10" id="10"/>
            <p:cNvSpPr/>
            <p:nvPr/>
          </p:nvSpPr>
          <p:spPr>
            <a:xfrm flipH="false" flipV="false" rot="0">
              <a:off x="0" y="0"/>
              <a:ext cx="2135400" cy="943200"/>
            </a:xfrm>
            <a:custGeom>
              <a:avLst/>
              <a:gdLst/>
              <a:ahLst/>
              <a:cxnLst/>
              <a:rect r="r" b="b" t="t" l="l"/>
              <a:pathLst>
                <a:path h="943200" w="2135400">
                  <a:moveTo>
                    <a:pt x="0" y="0"/>
                  </a:moveTo>
                  <a:lnTo>
                    <a:pt x="2135400" y="0"/>
                  </a:lnTo>
                  <a:lnTo>
                    <a:pt x="2135400" y="943200"/>
                  </a:lnTo>
                  <a:lnTo>
                    <a:pt x="0" y="943200"/>
                  </a:lnTo>
                  <a:close/>
                </a:path>
              </a:pathLst>
            </a:custGeom>
            <a:solidFill>
              <a:srgbClr val="000000">
                <a:alpha val="0"/>
              </a:srgbClr>
            </a:solidFill>
            <a:ln w="12700">
              <a:solidFill>
                <a:srgbClr val="000000"/>
              </a:solidFill>
            </a:ln>
          </p:spPr>
        </p:sp>
        <p:sp>
          <p:nvSpPr>
            <p:cNvPr name="TextBox 11" id="11"/>
            <p:cNvSpPr txBox="true"/>
            <p:nvPr/>
          </p:nvSpPr>
          <p:spPr>
            <a:xfrm>
              <a:off x="0" y="-9525"/>
              <a:ext cx="2135403" cy="952729"/>
            </a:xfrm>
            <a:prstGeom prst="rect">
              <a:avLst/>
            </a:prstGeom>
          </p:spPr>
          <p:txBody>
            <a:bodyPr anchor="ctr" rtlCol="false" tIns="0" lIns="0" bIns="0" rIns="0"/>
            <a:lstStyle/>
            <a:p>
              <a:pPr algn="r">
                <a:lnSpc>
                  <a:spcPts val="2879"/>
                </a:lnSpc>
              </a:pPr>
              <a:r>
                <a:rPr lang="en-US" sz="2400">
                  <a:solidFill>
                    <a:srgbClr val="958EA2"/>
                  </a:solidFill>
                  <a:latin typeface="Arial"/>
                  <a:ea typeface="Arial"/>
                  <a:cs typeface="Arial"/>
                  <a:sym typeface="Arial"/>
                </a:rPr>
                <a:t>15</a:t>
              </a:r>
            </a:p>
          </p:txBody>
        </p:sp>
      </p:grpSp>
      <p:grpSp>
        <p:nvGrpSpPr>
          <p:cNvPr name="Group 12" id="12"/>
          <p:cNvGrpSpPr/>
          <p:nvPr/>
        </p:nvGrpSpPr>
        <p:grpSpPr>
          <a:xfrm rot="0">
            <a:off x="2180456" y="2178193"/>
            <a:ext cx="1641319" cy="844264"/>
            <a:chOff x="0" y="0"/>
            <a:chExt cx="553060" cy="284484"/>
          </a:xfrm>
        </p:grpSpPr>
        <p:sp>
          <p:nvSpPr>
            <p:cNvPr name="Freeform 13" id="13"/>
            <p:cNvSpPr/>
            <p:nvPr/>
          </p:nvSpPr>
          <p:spPr>
            <a:xfrm flipH="false" flipV="false" rot="0">
              <a:off x="0" y="0"/>
              <a:ext cx="553060" cy="284484"/>
            </a:xfrm>
            <a:custGeom>
              <a:avLst/>
              <a:gdLst/>
              <a:ahLst/>
              <a:cxnLst/>
              <a:rect r="r" b="b" t="t" l="l"/>
              <a:pathLst>
                <a:path h="284484" w="553060">
                  <a:moveTo>
                    <a:pt x="0" y="0"/>
                  </a:moveTo>
                  <a:lnTo>
                    <a:pt x="553060" y="0"/>
                  </a:lnTo>
                  <a:lnTo>
                    <a:pt x="553060" y="284484"/>
                  </a:lnTo>
                  <a:lnTo>
                    <a:pt x="0" y="284484"/>
                  </a:lnTo>
                  <a:close/>
                </a:path>
              </a:pathLst>
            </a:custGeom>
            <a:solidFill>
              <a:srgbClr val="000000">
                <a:alpha val="0"/>
              </a:srgbClr>
            </a:solidFill>
            <a:ln w="38100" cap="sq">
              <a:solidFill>
                <a:srgbClr val="000000"/>
              </a:solidFill>
              <a:prstDash val="solid"/>
              <a:miter/>
            </a:ln>
          </p:spPr>
        </p:sp>
        <p:sp>
          <p:nvSpPr>
            <p:cNvPr name="TextBox 14" id="14"/>
            <p:cNvSpPr txBox="true"/>
            <p:nvPr/>
          </p:nvSpPr>
          <p:spPr>
            <a:xfrm>
              <a:off x="0" y="-9525"/>
              <a:ext cx="553060" cy="294009"/>
            </a:xfrm>
            <a:prstGeom prst="rect">
              <a:avLst/>
            </a:prstGeom>
          </p:spPr>
          <p:txBody>
            <a:bodyPr anchor="ctr" rtlCol="false" tIns="50800" lIns="50800" bIns="50800" rIns="50800"/>
            <a:lstStyle/>
            <a:p>
              <a:pPr algn="ctr">
                <a:lnSpc>
                  <a:spcPts val="2879"/>
                </a:lnSpc>
              </a:pPr>
            </a:p>
          </p:txBody>
        </p:sp>
      </p:grpSp>
      <p:grpSp>
        <p:nvGrpSpPr>
          <p:cNvPr name="Group 15" id="15"/>
          <p:cNvGrpSpPr/>
          <p:nvPr/>
        </p:nvGrpSpPr>
        <p:grpSpPr>
          <a:xfrm rot="0">
            <a:off x="763159" y="2099536"/>
            <a:ext cx="1053070" cy="105307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000000"/>
              </a:solidFill>
              <a:prstDash val="solid"/>
              <a:miter/>
            </a:ln>
          </p:spPr>
        </p:sp>
        <p:sp>
          <p:nvSpPr>
            <p:cNvPr name="TextBox 17" id="17"/>
            <p:cNvSpPr txBox="true"/>
            <p:nvPr/>
          </p:nvSpPr>
          <p:spPr>
            <a:xfrm>
              <a:off x="76200" y="66675"/>
              <a:ext cx="660400" cy="669925"/>
            </a:xfrm>
            <a:prstGeom prst="rect">
              <a:avLst/>
            </a:prstGeom>
          </p:spPr>
          <p:txBody>
            <a:bodyPr anchor="ctr" rtlCol="false" tIns="50800" lIns="50800" bIns="50800" rIns="50800"/>
            <a:lstStyle/>
            <a:p>
              <a:pPr algn="ctr">
                <a:lnSpc>
                  <a:spcPts val="2879"/>
                </a:lnSpc>
              </a:pPr>
            </a:p>
          </p:txBody>
        </p:sp>
      </p:grpSp>
      <p:sp>
        <p:nvSpPr>
          <p:cNvPr name="TextBox 18" id="18"/>
          <p:cNvSpPr txBox="true"/>
          <p:nvPr/>
        </p:nvSpPr>
        <p:spPr>
          <a:xfrm rot="0">
            <a:off x="392206" y="6113091"/>
            <a:ext cx="17230606" cy="3962400"/>
          </a:xfrm>
          <a:prstGeom prst="rect">
            <a:avLst/>
          </a:prstGeom>
        </p:spPr>
        <p:txBody>
          <a:bodyPr anchor="t" rtlCol="false" tIns="0" lIns="0" bIns="0" rIns="0">
            <a:spAutoFit/>
          </a:bodyPr>
          <a:lstStyle/>
          <a:p>
            <a:pPr algn="just" marL="625233" indent="-312616" lvl="1">
              <a:lnSpc>
                <a:spcPts val="3475"/>
              </a:lnSpc>
              <a:buFont typeface="Arial"/>
              <a:buChar char="•"/>
            </a:pPr>
            <a:r>
              <a:rPr lang="en-US" sz="2895">
                <a:solidFill>
                  <a:srgbClr val="000000"/>
                </a:solidFill>
                <a:latin typeface="Times New Roman"/>
                <a:ea typeface="Times New Roman"/>
                <a:cs typeface="Times New Roman"/>
                <a:sym typeface="Times New Roman"/>
              </a:rPr>
              <a:t>The personalization module uses user queries and preferences to process input and apply collaborative filtering with SVD decomposition. </a:t>
            </a:r>
          </a:p>
          <a:p>
            <a:pPr algn="just">
              <a:lnSpc>
                <a:spcPts val="3475"/>
              </a:lnSpc>
            </a:pPr>
          </a:p>
          <a:p>
            <a:pPr algn="just" marL="625233" indent="-312616" lvl="1">
              <a:lnSpc>
                <a:spcPts val="3475"/>
              </a:lnSpc>
              <a:buFont typeface="Arial"/>
              <a:buChar char="•"/>
            </a:pPr>
            <a:r>
              <a:rPr lang="en-US" sz="2895">
                <a:solidFill>
                  <a:srgbClr val="000000"/>
                </a:solidFill>
                <a:latin typeface="Times New Roman"/>
                <a:ea typeface="Times New Roman"/>
                <a:cs typeface="Times New Roman"/>
                <a:sym typeface="Times New Roman"/>
              </a:rPr>
              <a:t>It extracts latent features and generates candidate heritage sites. RoBERTa or DistilBERT models create embeddings to measure contextual similarity. </a:t>
            </a:r>
          </a:p>
          <a:p>
            <a:pPr algn="just">
              <a:lnSpc>
                <a:spcPts val="3475"/>
              </a:lnSpc>
            </a:pPr>
          </a:p>
          <a:p>
            <a:pPr algn="just" marL="625233" indent="-312616" lvl="1">
              <a:lnSpc>
                <a:spcPts val="3475"/>
              </a:lnSpc>
              <a:buFont typeface="Arial"/>
              <a:buChar char="•"/>
            </a:pPr>
            <a:r>
              <a:rPr lang="en-US" sz="2895">
                <a:solidFill>
                  <a:srgbClr val="000000"/>
                </a:solidFill>
                <a:latin typeface="Times New Roman"/>
                <a:ea typeface="Times New Roman"/>
                <a:cs typeface="Times New Roman"/>
                <a:sym typeface="Times New Roman"/>
              </a:rPr>
              <a:t>A score fusion layer combines similarity and collaborative scores to produce a ranked list of heritage site recommendations, which is then sent to the sustainability model for final evaluation and personalized travel suggestions.</a:t>
            </a:r>
          </a:p>
        </p:txBody>
      </p:sp>
      <p:grpSp>
        <p:nvGrpSpPr>
          <p:cNvPr name="Group 19" id="19"/>
          <p:cNvGrpSpPr/>
          <p:nvPr/>
        </p:nvGrpSpPr>
        <p:grpSpPr>
          <a:xfrm rot="0">
            <a:off x="4193250" y="2203939"/>
            <a:ext cx="1641319" cy="844264"/>
            <a:chOff x="0" y="0"/>
            <a:chExt cx="553060" cy="284484"/>
          </a:xfrm>
        </p:grpSpPr>
        <p:sp>
          <p:nvSpPr>
            <p:cNvPr name="Freeform 20" id="20"/>
            <p:cNvSpPr/>
            <p:nvPr/>
          </p:nvSpPr>
          <p:spPr>
            <a:xfrm flipH="false" flipV="false" rot="0">
              <a:off x="0" y="0"/>
              <a:ext cx="553060" cy="284484"/>
            </a:xfrm>
            <a:custGeom>
              <a:avLst/>
              <a:gdLst/>
              <a:ahLst/>
              <a:cxnLst/>
              <a:rect r="r" b="b" t="t" l="l"/>
              <a:pathLst>
                <a:path h="284484" w="553060">
                  <a:moveTo>
                    <a:pt x="0" y="0"/>
                  </a:moveTo>
                  <a:lnTo>
                    <a:pt x="553060" y="0"/>
                  </a:lnTo>
                  <a:lnTo>
                    <a:pt x="553060" y="284484"/>
                  </a:lnTo>
                  <a:lnTo>
                    <a:pt x="0" y="284484"/>
                  </a:lnTo>
                  <a:close/>
                </a:path>
              </a:pathLst>
            </a:custGeom>
            <a:solidFill>
              <a:srgbClr val="000000">
                <a:alpha val="0"/>
              </a:srgbClr>
            </a:solidFill>
            <a:ln w="38100" cap="sq">
              <a:solidFill>
                <a:srgbClr val="000000"/>
              </a:solidFill>
              <a:prstDash val="solid"/>
              <a:miter/>
            </a:ln>
          </p:spPr>
        </p:sp>
        <p:sp>
          <p:nvSpPr>
            <p:cNvPr name="TextBox 21" id="21"/>
            <p:cNvSpPr txBox="true"/>
            <p:nvPr/>
          </p:nvSpPr>
          <p:spPr>
            <a:xfrm>
              <a:off x="0" y="-9525"/>
              <a:ext cx="553060" cy="294009"/>
            </a:xfrm>
            <a:prstGeom prst="rect">
              <a:avLst/>
            </a:prstGeom>
          </p:spPr>
          <p:txBody>
            <a:bodyPr anchor="ctr" rtlCol="false" tIns="50800" lIns="50800" bIns="50800" rIns="50800"/>
            <a:lstStyle/>
            <a:p>
              <a:pPr algn="ctr">
                <a:lnSpc>
                  <a:spcPts val="2879"/>
                </a:lnSpc>
              </a:pPr>
            </a:p>
          </p:txBody>
        </p:sp>
      </p:grpSp>
      <p:grpSp>
        <p:nvGrpSpPr>
          <p:cNvPr name="Group 22" id="22"/>
          <p:cNvGrpSpPr/>
          <p:nvPr/>
        </p:nvGrpSpPr>
        <p:grpSpPr>
          <a:xfrm rot="0">
            <a:off x="6206043" y="2203939"/>
            <a:ext cx="1641319" cy="844264"/>
            <a:chOff x="0" y="0"/>
            <a:chExt cx="553060" cy="284484"/>
          </a:xfrm>
        </p:grpSpPr>
        <p:sp>
          <p:nvSpPr>
            <p:cNvPr name="Freeform 23" id="23"/>
            <p:cNvSpPr/>
            <p:nvPr/>
          </p:nvSpPr>
          <p:spPr>
            <a:xfrm flipH="false" flipV="false" rot="0">
              <a:off x="0" y="0"/>
              <a:ext cx="553060" cy="284484"/>
            </a:xfrm>
            <a:custGeom>
              <a:avLst/>
              <a:gdLst/>
              <a:ahLst/>
              <a:cxnLst/>
              <a:rect r="r" b="b" t="t" l="l"/>
              <a:pathLst>
                <a:path h="284484" w="553060">
                  <a:moveTo>
                    <a:pt x="0" y="0"/>
                  </a:moveTo>
                  <a:lnTo>
                    <a:pt x="553060" y="0"/>
                  </a:lnTo>
                  <a:lnTo>
                    <a:pt x="553060" y="284484"/>
                  </a:lnTo>
                  <a:lnTo>
                    <a:pt x="0" y="284484"/>
                  </a:lnTo>
                  <a:close/>
                </a:path>
              </a:pathLst>
            </a:custGeom>
            <a:solidFill>
              <a:srgbClr val="000000">
                <a:alpha val="0"/>
              </a:srgbClr>
            </a:solidFill>
            <a:ln w="38100" cap="sq">
              <a:solidFill>
                <a:srgbClr val="000000"/>
              </a:solidFill>
              <a:prstDash val="solid"/>
              <a:miter/>
            </a:ln>
          </p:spPr>
        </p:sp>
        <p:sp>
          <p:nvSpPr>
            <p:cNvPr name="TextBox 24" id="24"/>
            <p:cNvSpPr txBox="true"/>
            <p:nvPr/>
          </p:nvSpPr>
          <p:spPr>
            <a:xfrm>
              <a:off x="0" y="-9525"/>
              <a:ext cx="553060" cy="294009"/>
            </a:xfrm>
            <a:prstGeom prst="rect">
              <a:avLst/>
            </a:prstGeom>
          </p:spPr>
          <p:txBody>
            <a:bodyPr anchor="ctr" rtlCol="false" tIns="50800" lIns="50800" bIns="50800" rIns="50800"/>
            <a:lstStyle/>
            <a:p>
              <a:pPr algn="ctr">
                <a:lnSpc>
                  <a:spcPts val="2879"/>
                </a:lnSpc>
              </a:pPr>
            </a:p>
          </p:txBody>
        </p:sp>
      </p:grpSp>
      <p:grpSp>
        <p:nvGrpSpPr>
          <p:cNvPr name="Group 25" id="25"/>
          <p:cNvGrpSpPr/>
          <p:nvPr/>
        </p:nvGrpSpPr>
        <p:grpSpPr>
          <a:xfrm rot="0">
            <a:off x="8218837" y="2203939"/>
            <a:ext cx="1641319" cy="844264"/>
            <a:chOff x="0" y="0"/>
            <a:chExt cx="553060" cy="284484"/>
          </a:xfrm>
        </p:grpSpPr>
        <p:sp>
          <p:nvSpPr>
            <p:cNvPr name="Freeform 26" id="26"/>
            <p:cNvSpPr/>
            <p:nvPr/>
          </p:nvSpPr>
          <p:spPr>
            <a:xfrm flipH="false" flipV="false" rot="0">
              <a:off x="0" y="0"/>
              <a:ext cx="553060" cy="284484"/>
            </a:xfrm>
            <a:custGeom>
              <a:avLst/>
              <a:gdLst/>
              <a:ahLst/>
              <a:cxnLst/>
              <a:rect r="r" b="b" t="t" l="l"/>
              <a:pathLst>
                <a:path h="284484" w="553060">
                  <a:moveTo>
                    <a:pt x="0" y="0"/>
                  </a:moveTo>
                  <a:lnTo>
                    <a:pt x="553060" y="0"/>
                  </a:lnTo>
                  <a:lnTo>
                    <a:pt x="553060" y="284484"/>
                  </a:lnTo>
                  <a:lnTo>
                    <a:pt x="0" y="284484"/>
                  </a:lnTo>
                  <a:close/>
                </a:path>
              </a:pathLst>
            </a:custGeom>
            <a:solidFill>
              <a:srgbClr val="000000">
                <a:alpha val="0"/>
              </a:srgbClr>
            </a:solidFill>
            <a:ln w="38100" cap="sq">
              <a:solidFill>
                <a:srgbClr val="000000"/>
              </a:solidFill>
              <a:prstDash val="solid"/>
              <a:miter/>
            </a:ln>
          </p:spPr>
        </p:sp>
        <p:sp>
          <p:nvSpPr>
            <p:cNvPr name="TextBox 27" id="27"/>
            <p:cNvSpPr txBox="true"/>
            <p:nvPr/>
          </p:nvSpPr>
          <p:spPr>
            <a:xfrm>
              <a:off x="0" y="-9525"/>
              <a:ext cx="553060" cy="294009"/>
            </a:xfrm>
            <a:prstGeom prst="rect">
              <a:avLst/>
            </a:prstGeom>
          </p:spPr>
          <p:txBody>
            <a:bodyPr anchor="ctr" rtlCol="false" tIns="50800" lIns="50800" bIns="50800" rIns="50800"/>
            <a:lstStyle/>
            <a:p>
              <a:pPr algn="ctr">
                <a:lnSpc>
                  <a:spcPts val="2879"/>
                </a:lnSpc>
              </a:pPr>
            </a:p>
          </p:txBody>
        </p:sp>
      </p:grpSp>
      <p:grpSp>
        <p:nvGrpSpPr>
          <p:cNvPr name="Group 28" id="28"/>
          <p:cNvGrpSpPr/>
          <p:nvPr/>
        </p:nvGrpSpPr>
        <p:grpSpPr>
          <a:xfrm rot="0">
            <a:off x="10231630" y="2203939"/>
            <a:ext cx="1641319" cy="844264"/>
            <a:chOff x="0" y="0"/>
            <a:chExt cx="553060" cy="284484"/>
          </a:xfrm>
        </p:grpSpPr>
        <p:sp>
          <p:nvSpPr>
            <p:cNvPr name="Freeform 29" id="29"/>
            <p:cNvSpPr/>
            <p:nvPr/>
          </p:nvSpPr>
          <p:spPr>
            <a:xfrm flipH="false" flipV="false" rot="0">
              <a:off x="0" y="0"/>
              <a:ext cx="553060" cy="284484"/>
            </a:xfrm>
            <a:custGeom>
              <a:avLst/>
              <a:gdLst/>
              <a:ahLst/>
              <a:cxnLst/>
              <a:rect r="r" b="b" t="t" l="l"/>
              <a:pathLst>
                <a:path h="284484" w="553060">
                  <a:moveTo>
                    <a:pt x="0" y="0"/>
                  </a:moveTo>
                  <a:lnTo>
                    <a:pt x="553060" y="0"/>
                  </a:lnTo>
                  <a:lnTo>
                    <a:pt x="553060" y="284484"/>
                  </a:lnTo>
                  <a:lnTo>
                    <a:pt x="0" y="284484"/>
                  </a:lnTo>
                  <a:close/>
                </a:path>
              </a:pathLst>
            </a:custGeom>
            <a:solidFill>
              <a:srgbClr val="000000">
                <a:alpha val="0"/>
              </a:srgbClr>
            </a:solidFill>
            <a:ln w="38100" cap="sq">
              <a:solidFill>
                <a:srgbClr val="000000"/>
              </a:solidFill>
              <a:prstDash val="solid"/>
              <a:miter/>
            </a:ln>
          </p:spPr>
        </p:sp>
        <p:sp>
          <p:nvSpPr>
            <p:cNvPr name="TextBox 30" id="30"/>
            <p:cNvSpPr txBox="true"/>
            <p:nvPr/>
          </p:nvSpPr>
          <p:spPr>
            <a:xfrm>
              <a:off x="0" y="-9525"/>
              <a:ext cx="553060" cy="294009"/>
            </a:xfrm>
            <a:prstGeom prst="rect">
              <a:avLst/>
            </a:prstGeom>
          </p:spPr>
          <p:txBody>
            <a:bodyPr anchor="ctr" rtlCol="false" tIns="50800" lIns="50800" bIns="50800" rIns="50800"/>
            <a:lstStyle/>
            <a:p>
              <a:pPr algn="ctr">
                <a:lnSpc>
                  <a:spcPts val="2879"/>
                </a:lnSpc>
              </a:pPr>
            </a:p>
          </p:txBody>
        </p:sp>
      </p:grpSp>
      <p:grpSp>
        <p:nvGrpSpPr>
          <p:cNvPr name="Group 31" id="31"/>
          <p:cNvGrpSpPr/>
          <p:nvPr/>
        </p:nvGrpSpPr>
        <p:grpSpPr>
          <a:xfrm rot="0">
            <a:off x="12244424" y="2203939"/>
            <a:ext cx="1641319" cy="844264"/>
            <a:chOff x="0" y="0"/>
            <a:chExt cx="553060" cy="284484"/>
          </a:xfrm>
        </p:grpSpPr>
        <p:sp>
          <p:nvSpPr>
            <p:cNvPr name="Freeform 32" id="32"/>
            <p:cNvSpPr/>
            <p:nvPr/>
          </p:nvSpPr>
          <p:spPr>
            <a:xfrm flipH="false" flipV="false" rot="0">
              <a:off x="0" y="0"/>
              <a:ext cx="553060" cy="284484"/>
            </a:xfrm>
            <a:custGeom>
              <a:avLst/>
              <a:gdLst/>
              <a:ahLst/>
              <a:cxnLst/>
              <a:rect r="r" b="b" t="t" l="l"/>
              <a:pathLst>
                <a:path h="284484" w="553060">
                  <a:moveTo>
                    <a:pt x="0" y="0"/>
                  </a:moveTo>
                  <a:lnTo>
                    <a:pt x="553060" y="0"/>
                  </a:lnTo>
                  <a:lnTo>
                    <a:pt x="553060" y="284484"/>
                  </a:lnTo>
                  <a:lnTo>
                    <a:pt x="0" y="284484"/>
                  </a:lnTo>
                  <a:close/>
                </a:path>
              </a:pathLst>
            </a:custGeom>
            <a:solidFill>
              <a:srgbClr val="000000">
                <a:alpha val="0"/>
              </a:srgbClr>
            </a:solidFill>
            <a:ln w="38100" cap="sq">
              <a:solidFill>
                <a:srgbClr val="000000"/>
              </a:solidFill>
              <a:prstDash val="solid"/>
              <a:miter/>
            </a:ln>
          </p:spPr>
        </p:sp>
        <p:sp>
          <p:nvSpPr>
            <p:cNvPr name="TextBox 33" id="33"/>
            <p:cNvSpPr txBox="true"/>
            <p:nvPr/>
          </p:nvSpPr>
          <p:spPr>
            <a:xfrm>
              <a:off x="0" y="-9525"/>
              <a:ext cx="553060" cy="294009"/>
            </a:xfrm>
            <a:prstGeom prst="rect">
              <a:avLst/>
            </a:prstGeom>
          </p:spPr>
          <p:txBody>
            <a:bodyPr anchor="ctr" rtlCol="false" tIns="50800" lIns="50800" bIns="50800" rIns="50800"/>
            <a:lstStyle/>
            <a:p>
              <a:pPr algn="ctr">
                <a:lnSpc>
                  <a:spcPts val="2879"/>
                </a:lnSpc>
              </a:pPr>
            </a:p>
          </p:txBody>
        </p:sp>
      </p:grpSp>
      <p:grpSp>
        <p:nvGrpSpPr>
          <p:cNvPr name="Group 34" id="34"/>
          <p:cNvGrpSpPr/>
          <p:nvPr/>
        </p:nvGrpSpPr>
        <p:grpSpPr>
          <a:xfrm rot="0">
            <a:off x="14257217" y="2203939"/>
            <a:ext cx="1641319" cy="844264"/>
            <a:chOff x="0" y="0"/>
            <a:chExt cx="553060" cy="284484"/>
          </a:xfrm>
        </p:grpSpPr>
        <p:sp>
          <p:nvSpPr>
            <p:cNvPr name="Freeform 35" id="35"/>
            <p:cNvSpPr/>
            <p:nvPr/>
          </p:nvSpPr>
          <p:spPr>
            <a:xfrm flipH="false" flipV="false" rot="0">
              <a:off x="0" y="0"/>
              <a:ext cx="553060" cy="284484"/>
            </a:xfrm>
            <a:custGeom>
              <a:avLst/>
              <a:gdLst/>
              <a:ahLst/>
              <a:cxnLst/>
              <a:rect r="r" b="b" t="t" l="l"/>
              <a:pathLst>
                <a:path h="284484" w="553060">
                  <a:moveTo>
                    <a:pt x="0" y="0"/>
                  </a:moveTo>
                  <a:lnTo>
                    <a:pt x="553060" y="0"/>
                  </a:lnTo>
                  <a:lnTo>
                    <a:pt x="553060" y="284484"/>
                  </a:lnTo>
                  <a:lnTo>
                    <a:pt x="0" y="284484"/>
                  </a:lnTo>
                  <a:close/>
                </a:path>
              </a:pathLst>
            </a:custGeom>
            <a:solidFill>
              <a:srgbClr val="000000">
                <a:alpha val="0"/>
              </a:srgbClr>
            </a:solidFill>
            <a:ln w="38100" cap="sq">
              <a:solidFill>
                <a:srgbClr val="000000"/>
              </a:solidFill>
              <a:prstDash val="solid"/>
              <a:miter/>
            </a:ln>
          </p:spPr>
        </p:sp>
        <p:sp>
          <p:nvSpPr>
            <p:cNvPr name="TextBox 36" id="36"/>
            <p:cNvSpPr txBox="true"/>
            <p:nvPr/>
          </p:nvSpPr>
          <p:spPr>
            <a:xfrm>
              <a:off x="0" y="-9525"/>
              <a:ext cx="553060" cy="294009"/>
            </a:xfrm>
            <a:prstGeom prst="rect">
              <a:avLst/>
            </a:prstGeom>
          </p:spPr>
          <p:txBody>
            <a:bodyPr anchor="ctr" rtlCol="false" tIns="50800" lIns="50800" bIns="50800" rIns="50800"/>
            <a:lstStyle/>
            <a:p>
              <a:pPr algn="ctr">
                <a:lnSpc>
                  <a:spcPts val="2879"/>
                </a:lnSpc>
              </a:pPr>
            </a:p>
          </p:txBody>
        </p:sp>
      </p:grpSp>
      <p:grpSp>
        <p:nvGrpSpPr>
          <p:cNvPr name="Group 37" id="37"/>
          <p:cNvGrpSpPr/>
          <p:nvPr/>
        </p:nvGrpSpPr>
        <p:grpSpPr>
          <a:xfrm rot="0">
            <a:off x="16369237" y="2117316"/>
            <a:ext cx="1053070" cy="1053070"/>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000000"/>
              </a:solidFill>
              <a:prstDash val="solid"/>
              <a:miter/>
            </a:ln>
          </p:spPr>
        </p:sp>
        <p:sp>
          <p:nvSpPr>
            <p:cNvPr name="TextBox 39" id="39"/>
            <p:cNvSpPr txBox="true"/>
            <p:nvPr/>
          </p:nvSpPr>
          <p:spPr>
            <a:xfrm>
              <a:off x="76200" y="66675"/>
              <a:ext cx="660400" cy="669925"/>
            </a:xfrm>
            <a:prstGeom prst="rect">
              <a:avLst/>
            </a:prstGeom>
          </p:spPr>
          <p:txBody>
            <a:bodyPr anchor="ctr" rtlCol="false" tIns="50800" lIns="50800" bIns="50800" rIns="50800"/>
            <a:lstStyle/>
            <a:p>
              <a:pPr algn="ctr">
                <a:lnSpc>
                  <a:spcPts val="2879"/>
                </a:lnSpc>
              </a:pPr>
            </a:p>
          </p:txBody>
        </p:sp>
      </p:grpSp>
      <p:grpSp>
        <p:nvGrpSpPr>
          <p:cNvPr name="Group 40" id="40"/>
          <p:cNvGrpSpPr/>
          <p:nvPr/>
        </p:nvGrpSpPr>
        <p:grpSpPr>
          <a:xfrm rot="0">
            <a:off x="12244424" y="3419677"/>
            <a:ext cx="1641319" cy="844264"/>
            <a:chOff x="0" y="0"/>
            <a:chExt cx="553060" cy="284484"/>
          </a:xfrm>
        </p:grpSpPr>
        <p:sp>
          <p:nvSpPr>
            <p:cNvPr name="Freeform 41" id="41"/>
            <p:cNvSpPr/>
            <p:nvPr/>
          </p:nvSpPr>
          <p:spPr>
            <a:xfrm flipH="false" flipV="false" rot="0">
              <a:off x="0" y="0"/>
              <a:ext cx="553060" cy="284484"/>
            </a:xfrm>
            <a:custGeom>
              <a:avLst/>
              <a:gdLst/>
              <a:ahLst/>
              <a:cxnLst/>
              <a:rect r="r" b="b" t="t" l="l"/>
              <a:pathLst>
                <a:path h="284484" w="553060">
                  <a:moveTo>
                    <a:pt x="0" y="0"/>
                  </a:moveTo>
                  <a:lnTo>
                    <a:pt x="553060" y="0"/>
                  </a:lnTo>
                  <a:lnTo>
                    <a:pt x="553060" y="284484"/>
                  </a:lnTo>
                  <a:lnTo>
                    <a:pt x="0" y="284484"/>
                  </a:lnTo>
                  <a:close/>
                </a:path>
              </a:pathLst>
            </a:custGeom>
            <a:solidFill>
              <a:srgbClr val="000000">
                <a:alpha val="0"/>
              </a:srgbClr>
            </a:solidFill>
            <a:ln w="38100" cap="sq">
              <a:solidFill>
                <a:srgbClr val="000000"/>
              </a:solidFill>
              <a:prstDash val="solid"/>
              <a:miter/>
            </a:ln>
          </p:spPr>
        </p:sp>
        <p:sp>
          <p:nvSpPr>
            <p:cNvPr name="TextBox 42" id="42"/>
            <p:cNvSpPr txBox="true"/>
            <p:nvPr/>
          </p:nvSpPr>
          <p:spPr>
            <a:xfrm>
              <a:off x="0" y="-9525"/>
              <a:ext cx="553060" cy="294009"/>
            </a:xfrm>
            <a:prstGeom prst="rect">
              <a:avLst/>
            </a:prstGeom>
          </p:spPr>
          <p:txBody>
            <a:bodyPr anchor="ctr" rtlCol="false" tIns="50800" lIns="50800" bIns="50800" rIns="50800"/>
            <a:lstStyle/>
            <a:p>
              <a:pPr algn="ctr">
                <a:lnSpc>
                  <a:spcPts val="2879"/>
                </a:lnSpc>
              </a:pPr>
            </a:p>
          </p:txBody>
        </p:sp>
      </p:grpSp>
      <p:grpSp>
        <p:nvGrpSpPr>
          <p:cNvPr name="Group 43" id="43"/>
          <p:cNvGrpSpPr/>
          <p:nvPr/>
        </p:nvGrpSpPr>
        <p:grpSpPr>
          <a:xfrm rot="0">
            <a:off x="753634" y="4539744"/>
            <a:ext cx="1641319" cy="844264"/>
            <a:chOff x="0" y="0"/>
            <a:chExt cx="553060" cy="284484"/>
          </a:xfrm>
        </p:grpSpPr>
        <p:sp>
          <p:nvSpPr>
            <p:cNvPr name="Freeform 44" id="44"/>
            <p:cNvSpPr/>
            <p:nvPr/>
          </p:nvSpPr>
          <p:spPr>
            <a:xfrm flipH="false" flipV="false" rot="0">
              <a:off x="0" y="0"/>
              <a:ext cx="553060" cy="284484"/>
            </a:xfrm>
            <a:custGeom>
              <a:avLst/>
              <a:gdLst/>
              <a:ahLst/>
              <a:cxnLst/>
              <a:rect r="r" b="b" t="t" l="l"/>
              <a:pathLst>
                <a:path h="284484" w="553060">
                  <a:moveTo>
                    <a:pt x="0" y="0"/>
                  </a:moveTo>
                  <a:lnTo>
                    <a:pt x="553060" y="0"/>
                  </a:lnTo>
                  <a:lnTo>
                    <a:pt x="553060" y="284484"/>
                  </a:lnTo>
                  <a:lnTo>
                    <a:pt x="0" y="284484"/>
                  </a:lnTo>
                  <a:close/>
                </a:path>
              </a:pathLst>
            </a:custGeom>
            <a:solidFill>
              <a:srgbClr val="000000">
                <a:alpha val="0"/>
              </a:srgbClr>
            </a:solidFill>
            <a:ln w="38100" cap="sq">
              <a:solidFill>
                <a:srgbClr val="000000"/>
              </a:solidFill>
              <a:prstDash val="solid"/>
              <a:miter/>
            </a:ln>
          </p:spPr>
        </p:sp>
        <p:sp>
          <p:nvSpPr>
            <p:cNvPr name="TextBox 45" id="45"/>
            <p:cNvSpPr txBox="true"/>
            <p:nvPr/>
          </p:nvSpPr>
          <p:spPr>
            <a:xfrm>
              <a:off x="0" y="-9525"/>
              <a:ext cx="553060" cy="294009"/>
            </a:xfrm>
            <a:prstGeom prst="rect">
              <a:avLst/>
            </a:prstGeom>
          </p:spPr>
          <p:txBody>
            <a:bodyPr anchor="ctr" rtlCol="false" tIns="50800" lIns="50800" bIns="50800" rIns="50800"/>
            <a:lstStyle/>
            <a:p>
              <a:pPr algn="ctr">
                <a:lnSpc>
                  <a:spcPts val="2879"/>
                </a:lnSpc>
              </a:pPr>
            </a:p>
          </p:txBody>
        </p:sp>
      </p:grpSp>
      <p:grpSp>
        <p:nvGrpSpPr>
          <p:cNvPr name="Group 46" id="46"/>
          <p:cNvGrpSpPr/>
          <p:nvPr/>
        </p:nvGrpSpPr>
        <p:grpSpPr>
          <a:xfrm rot="0">
            <a:off x="2882096" y="4525574"/>
            <a:ext cx="1641319" cy="844264"/>
            <a:chOff x="0" y="0"/>
            <a:chExt cx="553060" cy="284484"/>
          </a:xfrm>
        </p:grpSpPr>
        <p:sp>
          <p:nvSpPr>
            <p:cNvPr name="Freeform 47" id="47"/>
            <p:cNvSpPr/>
            <p:nvPr/>
          </p:nvSpPr>
          <p:spPr>
            <a:xfrm flipH="false" flipV="false" rot="0">
              <a:off x="0" y="0"/>
              <a:ext cx="553060" cy="284484"/>
            </a:xfrm>
            <a:custGeom>
              <a:avLst/>
              <a:gdLst/>
              <a:ahLst/>
              <a:cxnLst/>
              <a:rect r="r" b="b" t="t" l="l"/>
              <a:pathLst>
                <a:path h="284484" w="553060">
                  <a:moveTo>
                    <a:pt x="0" y="0"/>
                  </a:moveTo>
                  <a:lnTo>
                    <a:pt x="553060" y="0"/>
                  </a:lnTo>
                  <a:lnTo>
                    <a:pt x="553060" y="284484"/>
                  </a:lnTo>
                  <a:lnTo>
                    <a:pt x="0" y="284484"/>
                  </a:lnTo>
                  <a:close/>
                </a:path>
              </a:pathLst>
            </a:custGeom>
            <a:solidFill>
              <a:srgbClr val="000000">
                <a:alpha val="0"/>
              </a:srgbClr>
            </a:solidFill>
            <a:ln w="38100" cap="sq">
              <a:solidFill>
                <a:srgbClr val="000000"/>
              </a:solidFill>
              <a:prstDash val="solid"/>
              <a:miter/>
            </a:ln>
          </p:spPr>
        </p:sp>
        <p:sp>
          <p:nvSpPr>
            <p:cNvPr name="TextBox 48" id="48"/>
            <p:cNvSpPr txBox="true"/>
            <p:nvPr/>
          </p:nvSpPr>
          <p:spPr>
            <a:xfrm>
              <a:off x="0" y="-9525"/>
              <a:ext cx="553060" cy="294009"/>
            </a:xfrm>
            <a:prstGeom prst="rect">
              <a:avLst/>
            </a:prstGeom>
          </p:spPr>
          <p:txBody>
            <a:bodyPr anchor="ctr" rtlCol="false" tIns="50800" lIns="50800" bIns="50800" rIns="50800"/>
            <a:lstStyle/>
            <a:p>
              <a:pPr algn="ctr">
                <a:lnSpc>
                  <a:spcPts val="2879"/>
                </a:lnSpc>
              </a:pPr>
            </a:p>
          </p:txBody>
        </p:sp>
      </p:grpSp>
      <p:grpSp>
        <p:nvGrpSpPr>
          <p:cNvPr name="Group 49" id="49"/>
          <p:cNvGrpSpPr/>
          <p:nvPr/>
        </p:nvGrpSpPr>
        <p:grpSpPr>
          <a:xfrm rot="0">
            <a:off x="4952492" y="4539744"/>
            <a:ext cx="1641319" cy="844264"/>
            <a:chOff x="0" y="0"/>
            <a:chExt cx="553060" cy="284484"/>
          </a:xfrm>
        </p:grpSpPr>
        <p:sp>
          <p:nvSpPr>
            <p:cNvPr name="Freeform 50" id="50"/>
            <p:cNvSpPr/>
            <p:nvPr/>
          </p:nvSpPr>
          <p:spPr>
            <a:xfrm flipH="false" flipV="false" rot="0">
              <a:off x="0" y="0"/>
              <a:ext cx="553060" cy="284484"/>
            </a:xfrm>
            <a:custGeom>
              <a:avLst/>
              <a:gdLst/>
              <a:ahLst/>
              <a:cxnLst/>
              <a:rect r="r" b="b" t="t" l="l"/>
              <a:pathLst>
                <a:path h="284484" w="553060">
                  <a:moveTo>
                    <a:pt x="0" y="0"/>
                  </a:moveTo>
                  <a:lnTo>
                    <a:pt x="553060" y="0"/>
                  </a:lnTo>
                  <a:lnTo>
                    <a:pt x="553060" y="284484"/>
                  </a:lnTo>
                  <a:lnTo>
                    <a:pt x="0" y="284484"/>
                  </a:lnTo>
                  <a:close/>
                </a:path>
              </a:pathLst>
            </a:custGeom>
            <a:solidFill>
              <a:srgbClr val="000000">
                <a:alpha val="0"/>
              </a:srgbClr>
            </a:solidFill>
            <a:ln w="38100" cap="sq">
              <a:solidFill>
                <a:srgbClr val="000000"/>
              </a:solidFill>
              <a:prstDash val="solid"/>
              <a:miter/>
            </a:ln>
          </p:spPr>
        </p:sp>
        <p:sp>
          <p:nvSpPr>
            <p:cNvPr name="TextBox 51" id="51"/>
            <p:cNvSpPr txBox="true"/>
            <p:nvPr/>
          </p:nvSpPr>
          <p:spPr>
            <a:xfrm>
              <a:off x="0" y="-9525"/>
              <a:ext cx="553060" cy="294009"/>
            </a:xfrm>
            <a:prstGeom prst="rect">
              <a:avLst/>
            </a:prstGeom>
          </p:spPr>
          <p:txBody>
            <a:bodyPr anchor="ctr" rtlCol="false" tIns="50800" lIns="50800" bIns="50800" rIns="50800"/>
            <a:lstStyle/>
            <a:p>
              <a:pPr algn="ctr">
                <a:lnSpc>
                  <a:spcPts val="2879"/>
                </a:lnSpc>
              </a:pPr>
            </a:p>
          </p:txBody>
        </p:sp>
      </p:grpSp>
      <p:grpSp>
        <p:nvGrpSpPr>
          <p:cNvPr name="Group 52" id="52"/>
          <p:cNvGrpSpPr/>
          <p:nvPr/>
        </p:nvGrpSpPr>
        <p:grpSpPr>
          <a:xfrm rot="0">
            <a:off x="7026703" y="4539744"/>
            <a:ext cx="1641319" cy="844264"/>
            <a:chOff x="0" y="0"/>
            <a:chExt cx="553060" cy="284484"/>
          </a:xfrm>
        </p:grpSpPr>
        <p:sp>
          <p:nvSpPr>
            <p:cNvPr name="Freeform 53" id="53"/>
            <p:cNvSpPr/>
            <p:nvPr/>
          </p:nvSpPr>
          <p:spPr>
            <a:xfrm flipH="false" flipV="false" rot="0">
              <a:off x="0" y="0"/>
              <a:ext cx="553060" cy="284484"/>
            </a:xfrm>
            <a:custGeom>
              <a:avLst/>
              <a:gdLst/>
              <a:ahLst/>
              <a:cxnLst/>
              <a:rect r="r" b="b" t="t" l="l"/>
              <a:pathLst>
                <a:path h="284484" w="553060">
                  <a:moveTo>
                    <a:pt x="0" y="0"/>
                  </a:moveTo>
                  <a:lnTo>
                    <a:pt x="553060" y="0"/>
                  </a:lnTo>
                  <a:lnTo>
                    <a:pt x="553060" y="284484"/>
                  </a:lnTo>
                  <a:lnTo>
                    <a:pt x="0" y="284484"/>
                  </a:lnTo>
                  <a:close/>
                </a:path>
              </a:pathLst>
            </a:custGeom>
            <a:solidFill>
              <a:srgbClr val="000000">
                <a:alpha val="0"/>
              </a:srgbClr>
            </a:solidFill>
            <a:ln w="38100" cap="sq">
              <a:solidFill>
                <a:srgbClr val="000000"/>
              </a:solidFill>
              <a:prstDash val="solid"/>
              <a:miter/>
            </a:ln>
          </p:spPr>
        </p:sp>
        <p:sp>
          <p:nvSpPr>
            <p:cNvPr name="TextBox 54" id="54"/>
            <p:cNvSpPr txBox="true"/>
            <p:nvPr/>
          </p:nvSpPr>
          <p:spPr>
            <a:xfrm>
              <a:off x="0" y="-9525"/>
              <a:ext cx="553060" cy="294009"/>
            </a:xfrm>
            <a:prstGeom prst="rect">
              <a:avLst/>
            </a:prstGeom>
          </p:spPr>
          <p:txBody>
            <a:bodyPr anchor="ctr" rtlCol="false" tIns="50800" lIns="50800" bIns="50800" rIns="50800"/>
            <a:lstStyle/>
            <a:p>
              <a:pPr algn="ctr">
                <a:lnSpc>
                  <a:spcPts val="2879"/>
                </a:lnSpc>
              </a:pPr>
            </a:p>
          </p:txBody>
        </p:sp>
      </p:grpSp>
      <p:sp>
        <p:nvSpPr>
          <p:cNvPr name="TextBox 55" id="55"/>
          <p:cNvSpPr txBox="true"/>
          <p:nvPr/>
        </p:nvSpPr>
        <p:spPr>
          <a:xfrm rot="0">
            <a:off x="882977" y="2373348"/>
            <a:ext cx="794385" cy="448295"/>
          </a:xfrm>
          <a:prstGeom prst="rect">
            <a:avLst/>
          </a:prstGeom>
        </p:spPr>
        <p:txBody>
          <a:bodyPr anchor="t" rtlCol="false" tIns="0" lIns="0" bIns="0" rIns="0">
            <a:spAutoFit/>
          </a:bodyPr>
          <a:lstStyle/>
          <a:p>
            <a:pPr algn="ctr">
              <a:lnSpc>
                <a:spcPts val="3640"/>
              </a:lnSpc>
            </a:pPr>
            <a:r>
              <a:rPr lang="en-US" sz="2600">
                <a:solidFill>
                  <a:srgbClr val="000000"/>
                </a:solidFill>
                <a:latin typeface="Canva Sans"/>
                <a:ea typeface="Canva Sans"/>
                <a:cs typeface="Canva Sans"/>
                <a:sym typeface="Canva Sans"/>
              </a:rPr>
              <a:t>Start</a:t>
            </a:r>
          </a:p>
        </p:txBody>
      </p:sp>
      <p:sp>
        <p:nvSpPr>
          <p:cNvPr name="TextBox 56" id="56"/>
          <p:cNvSpPr txBox="true"/>
          <p:nvPr/>
        </p:nvSpPr>
        <p:spPr>
          <a:xfrm rot="0">
            <a:off x="2331679" y="2298073"/>
            <a:ext cx="1336596" cy="575930"/>
          </a:xfrm>
          <a:prstGeom prst="rect">
            <a:avLst/>
          </a:prstGeom>
        </p:spPr>
        <p:txBody>
          <a:bodyPr anchor="t" rtlCol="false" tIns="0" lIns="0" bIns="0" rIns="0">
            <a:spAutoFit/>
          </a:bodyPr>
          <a:lstStyle/>
          <a:p>
            <a:pPr algn="ctr">
              <a:lnSpc>
                <a:spcPts val="2380"/>
              </a:lnSpc>
            </a:pPr>
            <a:r>
              <a:rPr lang="en-US" sz="1700">
                <a:solidFill>
                  <a:srgbClr val="000000"/>
                </a:solidFill>
                <a:latin typeface="Canva Sans"/>
                <a:ea typeface="Canva Sans"/>
                <a:cs typeface="Canva Sans"/>
                <a:sym typeface="Canva Sans"/>
              </a:rPr>
              <a:t>User Query +</a:t>
            </a:r>
          </a:p>
          <a:p>
            <a:pPr algn="ctr">
              <a:lnSpc>
                <a:spcPts val="2380"/>
              </a:lnSpc>
            </a:pPr>
            <a:r>
              <a:rPr lang="en-US" sz="1700">
                <a:solidFill>
                  <a:srgbClr val="000000"/>
                </a:solidFill>
                <a:latin typeface="Canva Sans"/>
                <a:ea typeface="Canva Sans"/>
                <a:cs typeface="Canva Sans"/>
                <a:sym typeface="Canva Sans"/>
              </a:rPr>
              <a:t>Preferences</a:t>
            </a:r>
          </a:p>
        </p:txBody>
      </p:sp>
      <p:sp>
        <p:nvSpPr>
          <p:cNvPr name="TextBox 57" id="57"/>
          <p:cNvSpPr txBox="true"/>
          <p:nvPr/>
        </p:nvSpPr>
        <p:spPr>
          <a:xfrm rot="0">
            <a:off x="4523414" y="2323818"/>
            <a:ext cx="1020008" cy="575930"/>
          </a:xfrm>
          <a:prstGeom prst="rect">
            <a:avLst/>
          </a:prstGeom>
        </p:spPr>
        <p:txBody>
          <a:bodyPr anchor="t" rtlCol="false" tIns="0" lIns="0" bIns="0" rIns="0">
            <a:spAutoFit/>
          </a:bodyPr>
          <a:lstStyle/>
          <a:p>
            <a:pPr algn="ctr">
              <a:lnSpc>
                <a:spcPts val="2380"/>
              </a:lnSpc>
            </a:pPr>
            <a:r>
              <a:rPr lang="en-US" sz="1700">
                <a:solidFill>
                  <a:srgbClr val="000000"/>
                </a:solidFill>
                <a:latin typeface="Canva Sans"/>
                <a:ea typeface="Canva Sans"/>
                <a:cs typeface="Canva Sans"/>
                <a:sym typeface="Canva Sans"/>
              </a:rPr>
              <a:t>Input </a:t>
            </a:r>
          </a:p>
          <a:p>
            <a:pPr algn="ctr">
              <a:lnSpc>
                <a:spcPts val="2380"/>
              </a:lnSpc>
            </a:pPr>
            <a:r>
              <a:rPr lang="en-US" sz="1700">
                <a:solidFill>
                  <a:srgbClr val="000000"/>
                </a:solidFill>
                <a:latin typeface="Canva Sans"/>
                <a:ea typeface="Canva Sans"/>
                <a:cs typeface="Canva Sans"/>
                <a:sym typeface="Canva Sans"/>
              </a:rPr>
              <a:t>Procesing</a:t>
            </a:r>
          </a:p>
        </p:txBody>
      </p:sp>
      <p:sp>
        <p:nvSpPr>
          <p:cNvPr name="TextBox 58" id="58"/>
          <p:cNvSpPr txBox="true"/>
          <p:nvPr/>
        </p:nvSpPr>
        <p:spPr>
          <a:xfrm rot="0">
            <a:off x="6366084" y="2323818"/>
            <a:ext cx="1321237" cy="575930"/>
          </a:xfrm>
          <a:prstGeom prst="rect">
            <a:avLst/>
          </a:prstGeom>
        </p:spPr>
        <p:txBody>
          <a:bodyPr anchor="t" rtlCol="false" tIns="0" lIns="0" bIns="0" rIns="0">
            <a:spAutoFit/>
          </a:bodyPr>
          <a:lstStyle/>
          <a:p>
            <a:pPr algn="ctr">
              <a:lnSpc>
                <a:spcPts val="2380"/>
              </a:lnSpc>
            </a:pPr>
            <a:r>
              <a:rPr lang="en-US" sz="1700">
                <a:solidFill>
                  <a:srgbClr val="000000"/>
                </a:solidFill>
                <a:latin typeface="Canva Sans"/>
                <a:ea typeface="Canva Sans"/>
                <a:cs typeface="Canva Sans"/>
                <a:sym typeface="Canva Sans"/>
              </a:rPr>
              <a:t>Collabrative </a:t>
            </a:r>
          </a:p>
          <a:p>
            <a:pPr algn="ctr">
              <a:lnSpc>
                <a:spcPts val="2380"/>
              </a:lnSpc>
            </a:pPr>
            <a:r>
              <a:rPr lang="en-US" sz="1700">
                <a:solidFill>
                  <a:srgbClr val="000000"/>
                </a:solidFill>
                <a:latin typeface="Canva Sans"/>
                <a:ea typeface="Canva Sans"/>
                <a:cs typeface="Canva Sans"/>
                <a:sym typeface="Canva Sans"/>
              </a:rPr>
              <a:t>filtering</a:t>
            </a:r>
          </a:p>
        </p:txBody>
      </p:sp>
      <p:sp>
        <p:nvSpPr>
          <p:cNvPr name="TextBox 59" id="59"/>
          <p:cNvSpPr txBox="true"/>
          <p:nvPr/>
        </p:nvSpPr>
        <p:spPr>
          <a:xfrm rot="0">
            <a:off x="8291010" y="2341598"/>
            <a:ext cx="1496973" cy="540370"/>
          </a:xfrm>
          <a:prstGeom prst="rect">
            <a:avLst/>
          </a:prstGeom>
        </p:spPr>
        <p:txBody>
          <a:bodyPr anchor="t" rtlCol="false" tIns="0" lIns="0" bIns="0" rIns="0">
            <a:spAutoFit/>
          </a:bodyPr>
          <a:lstStyle/>
          <a:p>
            <a:pPr algn="ctr">
              <a:lnSpc>
                <a:spcPts val="2240"/>
              </a:lnSpc>
            </a:pPr>
            <a:r>
              <a:rPr lang="en-US" sz="1600">
                <a:solidFill>
                  <a:srgbClr val="000000"/>
                </a:solidFill>
                <a:latin typeface="Canva Sans"/>
                <a:ea typeface="Canva Sans"/>
                <a:cs typeface="Canva Sans"/>
                <a:sym typeface="Canva Sans"/>
              </a:rPr>
              <a:t>SVD</a:t>
            </a:r>
          </a:p>
          <a:p>
            <a:pPr algn="ctr">
              <a:lnSpc>
                <a:spcPts val="2240"/>
              </a:lnSpc>
            </a:pPr>
            <a:r>
              <a:rPr lang="en-US" sz="1600">
                <a:solidFill>
                  <a:srgbClr val="000000"/>
                </a:solidFill>
                <a:latin typeface="Canva Sans"/>
                <a:ea typeface="Canva Sans"/>
                <a:cs typeface="Canva Sans"/>
                <a:sym typeface="Canva Sans"/>
              </a:rPr>
              <a:t>Decomposition</a:t>
            </a:r>
          </a:p>
        </p:txBody>
      </p:sp>
      <p:sp>
        <p:nvSpPr>
          <p:cNvPr name="TextBox 60" id="60"/>
          <p:cNvSpPr txBox="true"/>
          <p:nvPr/>
        </p:nvSpPr>
        <p:spPr>
          <a:xfrm rot="0">
            <a:off x="10341466" y="2359378"/>
            <a:ext cx="1429703" cy="540370"/>
          </a:xfrm>
          <a:prstGeom prst="rect">
            <a:avLst/>
          </a:prstGeom>
        </p:spPr>
        <p:txBody>
          <a:bodyPr anchor="t" rtlCol="false" tIns="0" lIns="0" bIns="0" rIns="0">
            <a:spAutoFit/>
          </a:bodyPr>
          <a:lstStyle/>
          <a:p>
            <a:pPr algn="ctr">
              <a:lnSpc>
                <a:spcPts val="2240"/>
              </a:lnSpc>
            </a:pPr>
            <a:r>
              <a:rPr lang="en-US" sz="1600">
                <a:solidFill>
                  <a:srgbClr val="000000"/>
                </a:solidFill>
                <a:latin typeface="Canva Sans"/>
                <a:ea typeface="Canva Sans"/>
                <a:cs typeface="Canva Sans"/>
                <a:sym typeface="Canva Sans"/>
              </a:rPr>
              <a:t>Latent Feature</a:t>
            </a:r>
          </a:p>
          <a:p>
            <a:pPr algn="ctr">
              <a:lnSpc>
                <a:spcPts val="2240"/>
              </a:lnSpc>
            </a:pPr>
            <a:r>
              <a:rPr lang="en-US" sz="1600">
                <a:solidFill>
                  <a:srgbClr val="000000"/>
                </a:solidFill>
                <a:latin typeface="Canva Sans"/>
                <a:ea typeface="Canva Sans"/>
                <a:cs typeface="Canva Sans"/>
                <a:sym typeface="Canva Sans"/>
              </a:rPr>
              <a:t>Extraction</a:t>
            </a:r>
          </a:p>
        </p:txBody>
      </p:sp>
      <p:sp>
        <p:nvSpPr>
          <p:cNvPr name="TextBox 61" id="61"/>
          <p:cNvSpPr txBox="true"/>
          <p:nvPr/>
        </p:nvSpPr>
        <p:spPr>
          <a:xfrm rot="0">
            <a:off x="12209895" y="2359378"/>
            <a:ext cx="1710376" cy="540370"/>
          </a:xfrm>
          <a:prstGeom prst="rect">
            <a:avLst/>
          </a:prstGeom>
        </p:spPr>
        <p:txBody>
          <a:bodyPr anchor="t" rtlCol="false" tIns="0" lIns="0" bIns="0" rIns="0">
            <a:spAutoFit/>
          </a:bodyPr>
          <a:lstStyle/>
          <a:p>
            <a:pPr algn="ctr">
              <a:lnSpc>
                <a:spcPts val="2240"/>
              </a:lnSpc>
            </a:pPr>
            <a:r>
              <a:rPr lang="en-US" sz="1600">
                <a:solidFill>
                  <a:srgbClr val="000000"/>
                </a:solidFill>
                <a:latin typeface="Canva Sans"/>
                <a:ea typeface="Canva Sans"/>
                <a:cs typeface="Canva Sans"/>
                <a:sym typeface="Canva Sans"/>
              </a:rPr>
              <a:t>Candidate Heritage sites</a:t>
            </a:r>
          </a:p>
        </p:txBody>
      </p:sp>
      <p:sp>
        <p:nvSpPr>
          <p:cNvPr name="TextBox 62" id="62"/>
          <p:cNvSpPr txBox="true"/>
          <p:nvPr/>
        </p:nvSpPr>
        <p:spPr>
          <a:xfrm rot="0">
            <a:off x="14217193" y="2261588"/>
            <a:ext cx="1721367" cy="690865"/>
          </a:xfrm>
          <a:prstGeom prst="rect">
            <a:avLst/>
          </a:prstGeom>
        </p:spPr>
        <p:txBody>
          <a:bodyPr anchor="t" rtlCol="false" tIns="0" lIns="0" bIns="0" rIns="0">
            <a:spAutoFit/>
          </a:bodyPr>
          <a:lstStyle/>
          <a:p>
            <a:pPr algn="ctr">
              <a:lnSpc>
                <a:spcPts val="1820"/>
              </a:lnSpc>
            </a:pPr>
            <a:r>
              <a:rPr lang="en-US" sz="1300">
                <a:solidFill>
                  <a:srgbClr val="000000"/>
                </a:solidFill>
                <a:latin typeface="Canva Sans"/>
                <a:ea typeface="Canva Sans"/>
                <a:cs typeface="Canva Sans"/>
                <a:sym typeface="Canva Sans"/>
              </a:rPr>
              <a:t>Ranked Recommonedation list</a:t>
            </a:r>
          </a:p>
        </p:txBody>
      </p:sp>
      <p:sp>
        <p:nvSpPr>
          <p:cNvPr name="TextBox 63" id="63"/>
          <p:cNvSpPr txBox="true"/>
          <p:nvPr/>
        </p:nvSpPr>
        <p:spPr>
          <a:xfrm rot="0">
            <a:off x="16538635" y="2391128"/>
            <a:ext cx="751880" cy="448295"/>
          </a:xfrm>
          <a:prstGeom prst="rect">
            <a:avLst/>
          </a:prstGeom>
        </p:spPr>
        <p:txBody>
          <a:bodyPr anchor="t" rtlCol="false" tIns="0" lIns="0" bIns="0" rIns="0">
            <a:spAutoFit/>
          </a:bodyPr>
          <a:lstStyle/>
          <a:p>
            <a:pPr algn="ctr">
              <a:lnSpc>
                <a:spcPts val="3640"/>
              </a:lnSpc>
            </a:pPr>
            <a:r>
              <a:rPr lang="en-US" sz="2600">
                <a:solidFill>
                  <a:srgbClr val="000000"/>
                </a:solidFill>
                <a:latin typeface="Canva Sans"/>
                <a:ea typeface="Canva Sans"/>
                <a:cs typeface="Canva Sans"/>
                <a:sym typeface="Canva Sans"/>
              </a:rPr>
              <a:t>Stop</a:t>
            </a:r>
          </a:p>
        </p:txBody>
      </p:sp>
      <p:sp>
        <p:nvSpPr>
          <p:cNvPr name="TextBox 64" id="64"/>
          <p:cNvSpPr txBox="true"/>
          <p:nvPr/>
        </p:nvSpPr>
        <p:spPr>
          <a:xfrm rot="0">
            <a:off x="12209895" y="3459547"/>
            <a:ext cx="1721367" cy="735950"/>
          </a:xfrm>
          <a:prstGeom prst="rect">
            <a:avLst/>
          </a:prstGeom>
        </p:spPr>
        <p:txBody>
          <a:bodyPr anchor="t" rtlCol="false" tIns="0" lIns="0" bIns="0" rIns="0">
            <a:spAutoFit/>
          </a:bodyPr>
          <a:lstStyle/>
          <a:p>
            <a:pPr algn="ctr">
              <a:lnSpc>
                <a:spcPts val="1960"/>
              </a:lnSpc>
            </a:pPr>
            <a:r>
              <a:rPr lang="en-US" sz="1400">
                <a:solidFill>
                  <a:srgbClr val="000000"/>
                </a:solidFill>
                <a:latin typeface="Canva Sans"/>
                <a:ea typeface="Canva Sans"/>
                <a:cs typeface="Canva Sans"/>
                <a:sym typeface="Canva Sans"/>
              </a:rPr>
              <a:t>send to sustainability model</a:t>
            </a:r>
          </a:p>
        </p:txBody>
      </p:sp>
      <p:sp>
        <p:nvSpPr>
          <p:cNvPr name="TextBox 65" id="65"/>
          <p:cNvSpPr txBox="true"/>
          <p:nvPr/>
        </p:nvSpPr>
        <p:spPr>
          <a:xfrm rot="0">
            <a:off x="830134" y="4694762"/>
            <a:ext cx="1560293" cy="505888"/>
          </a:xfrm>
          <a:prstGeom prst="rect">
            <a:avLst/>
          </a:prstGeom>
        </p:spPr>
        <p:txBody>
          <a:bodyPr anchor="t" rtlCol="false" tIns="0" lIns="0" bIns="0" rIns="0">
            <a:spAutoFit/>
          </a:bodyPr>
          <a:lstStyle/>
          <a:p>
            <a:pPr algn="ctr">
              <a:lnSpc>
                <a:spcPts val="2024"/>
              </a:lnSpc>
            </a:pPr>
            <a:r>
              <a:rPr lang="en-US" sz="1446">
                <a:solidFill>
                  <a:srgbClr val="000000"/>
                </a:solidFill>
                <a:latin typeface="Canva Sans"/>
                <a:ea typeface="Canva Sans"/>
                <a:cs typeface="Canva Sans"/>
                <a:sym typeface="Canva Sans"/>
              </a:rPr>
              <a:t>BERT Embedding </a:t>
            </a:r>
          </a:p>
          <a:p>
            <a:pPr algn="ctr">
              <a:lnSpc>
                <a:spcPts val="2024"/>
              </a:lnSpc>
            </a:pPr>
            <a:r>
              <a:rPr lang="en-US" sz="1446">
                <a:solidFill>
                  <a:srgbClr val="000000"/>
                </a:solidFill>
                <a:latin typeface="Canva Sans"/>
                <a:ea typeface="Canva Sans"/>
                <a:cs typeface="Canva Sans"/>
                <a:sym typeface="Canva Sans"/>
              </a:rPr>
              <a:t>Generation</a:t>
            </a:r>
          </a:p>
        </p:txBody>
      </p:sp>
      <p:sp>
        <p:nvSpPr>
          <p:cNvPr name="AutoShape 66" id="66"/>
          <p:cNvSpPr/>
          <p:nvPr/>
        </p:nvSpPr>
        <p:spPr>
          <a:xfrm>
            <a:off x="1787880" y="2643851"/>
            <a:ext cx="392577" cy="0"/>
          </a:xfrm>
          <a:prstGeom prst="line">
            <a:avLst/>
          </a:prstGeom>
          <a:ln cap="flat" w="28575">
            <a:solidFill>
              <a:srgbClr val="000000"/>
            </a:solidFill>
            <a:prstDash val="solid"/>
            <a:headEnd type="none" len="sm" w="sm"/>
            <a:tailEnd type="arrow" len="sm" w="med"/>
          </a:ln>
        </p:spPr>
      </p:sp>
      <p:sp>
        <p:nvSpPr>
          <p:cNvPr name="AutoShape 67" id="67"/>
          <p:cNvSpPr/>
          <p:nvPr/>
        </p:nvSpPr>
        <p:spPr>
          <a:xfrm>
            <a:off x="3821775" y="2600325"/>
            <a:ext cx="392577" cy="0"/>
          </a:xfrm>
          <a:prstGeom prst="line">
            <a:avLst/>
          </a:prstGeom>
          <a:ln cap="flat" w="28575">
            <a:solidFill>
              <a:srgbClr val="000000"/>
            </a:solidFill>
            <a:prstDash val="solid"/>
            <a:headEnd type="none" len="sm" w="sm"/>
            <a:tailEnd type="arrow" len="sm" w="med"/>
          </a:ln>
        </p:spPr>
      </p:sp>
      <p:sp>
        <p:nvSpPr>
          <p:cNvPr name="AutoShape 68" id="68"/>
          <p:cNvSpPr/>
          <p:nvPr/>
        </p:nvSpPr>
        <p:spPr>
          <a:xfrm>
            <a:off x="5813467" y="2629563"/>
            <a:ext cx="392577" cy="0"/>
          </a:xfrm>
          <a:prstGeom prst="line">
            <a:avLst/>
          </a:prstGeom>
          <a:ln cap="flat" w="28575">
            <a:solidFill>
              <a:srgbClr val="000000"/>
            </a:solidFill>
            <a:prstDash val="solid"/>
            <a:headEnd type="none" len="sm" w="sm"/>
            <a:tailEnd type="arrow" len="sm" w="med"/>
          </a:ln>
        </p:spPr>
      </p:sp>
      <p:sp>
        <p:nvSpPr>
          <p:cNvPr name="AutoShape 69" id="69"/>
          <p:cNvSpPr/>
          <p:nvPr/>
        </p:nvSpPr>
        <p:spPr>
          <a:xfrm>
            <a:off x="7826260" y="2643851"/>
            <a:ext cx="392577" cy="0"/>
          </a:xfrm>
          <a:prstGeom prst="line">
            <a:avLst/>
          </a:prstGeom>
          <a:ln cap="flat" w="28575">
            <a:solidFill>
              <a:srgbClr val="000000"/>
            </a:solidFill>
            <a:prstDash val="solid"/>
            <a:headEnd type="none" len="sm" w="sm"/>
            <a:tailEnd type="arrow" len="sm" w="med"/>
          </a:ln>
        </p:spPr>
      </p:sp>
      <p:sp>
        <p:nvSpPr>
          <p:cNvPr name="AutoShape 70" id="70"/>
          <p:cNvSpPr/>
          <p:nvPr/>
        </p:nvSpPr>
        <p:spPr>
          <a:xfrm>
            <a:off x="9839054" y="2626071"/>
            <a:ext cx="392577" cy="0"/>
          </a:xfrm>
          <a:prstGeom prst="line">
            <a:avLst/>
          </a:prstGeom>
          <a:ln cap="flat" w="28575">
            <a:solidFill>
              <a:srgbClr val="000000"/>
            </a:solidFill>
            <a:prstDash val="solid"/>
            <a:headEnd type="none" len="sm" w="sm"/>
            <a:tailEnd type="arrow" len="sm" w="med"/>
          </a:ln>
        </p:spPr>
      </p:sp>
      <p:sp>
        <p:nvSpPr>
          <p:cNvPr name="AutoShape 71" id="71"/>
          <p:cNvSpPr/>
          <p:nvPr/>
        </p:nvSpPr>
        <p:spPr>
          <a:xfrm>
            <a:off x="11872949" y="2593340"/>
            <a:ext cx="392577" cy="0"/>
          </a:xfrm>
          <a:prstGeom prst="line">
            <a:avLst/>
          </a:prstGeom>
          <a:ln cap="flat" w="28575">
            <a:solidFill>
              <a:srgbClr val="000000"/>
            </a:solidFill>
            <a:prstDash val="solid"/>
            <a:headEnd type="none" len="sm" w="sm"/>
            <a:tailEnd type="arrow" len="sm" w="med"/>
          </a:ln>
        </p:spPr>
      </p:sp>
      <p:sp>
        <p:nvSpPr>
          <p:cNvPr name="AutoShape 72" id="72"/>
          <p:cNvSpPr/>
          <p:nvPr/>
        </p:nvSpPr>
        <p:spPr>
          <a:xfrm flipV="true">
            <a:off x="13804160" y="2607627"/>
            <a:ext cx="474159" cy="1234182"/>
          </a:xfrm>
          <a:prstGeom prst="line">
            <a:avLst/>
          </a:prstGeom>
          <a:ln cap="flat" w="28575">
            <a:solidFill>
              <a:srgbClr val="000000"/>
            </a:solidFill>
            <a:prstDash val="solid"/>
            <a:headEnd type="none" len="sm" w="sm"/>
            <a:tailEnd type="arrow" len="sm" w="med"/>
          </a:ln>
        </p:spPr>
      </p:sp>
      <p:sp>
        <p:nvSpPr>
          <p:cNvPr name="AutoShape 73" id="73"/>
          <p:cNvSpPr/>
          <p:nvPr/>
        </p:nvSpPr>
        <p:spPr>
          <a:xfrm>
            <a:off x="15957610" y="2593340"/>
            <a:ext cx="392577" cy="0"/>
          </a:xfrm>
          <a:prstGeom prst="line">
            <a:avLst/>
          </a:prstGeom>
          <a:ln cap="flat" w="28575">
            <a:solidFill>
              <a:srgbClr val="000000"/>
            </a:solidFill>
            <a:prstDash val="solid"/>
            <a:headEnd type="none" len="sm" w="sm"/>
            <a:tailEnd type="arrow" len="sm" w="med"/>
          </a:ln>
        </p:spPr>
      </p:sp>
      <p:sp>
        <p:nvSpPr>
          <p:cNvPr name="TextBox 74" id="74"/>
          <p:cNvSpPr txBox="true"/>
          <p:nvPr/>
        </p:nvSpPr>
        <p:spPr>
          <a:xfrm rot="0">
            <a:off x="2922608" y="4694644"/>
            <a:ext cx="1560293" cy="505888"/>
          </a:xfrm>
          <a:prstGeom prst="rect">
            <a:avLst/>
          </a:prstGeom>
        </p:spPr>
        <p:txBody>
          <a:bodyPr anchor="t" rtlCol="false" tIns="0" lIns="0" bIns="0" rIns="0">
            <a:spAutoFit/>
          </a:bodyPr>
          <a:lstStyle/>
          <a:p>
            <a:pPr algn="ctr">
              <a:lnSpc>
                <a:spcPts val="2024"/>
              </a:lnSpc>
            </a:pPr>
            <a:r>
              <a:rPr lang="en-US" sz="1446">
                <a:solidFill>
                  <a:srgbClr val="000000"/>
                </a:solidFill>
                <a:latin typeface="Canva Sans"/>
                <a:ea typeface="Canva Sans"/>
                <a:cs typeface="Canva Sans"/>
                <a:sym typeface="Canva Sans"/>
              </a:rPr>
              <a:t>RoBERTa/</a:t>
            </a:r>
          </a:p>
          <a:p>
            <a:pPr algn="ctr">
              <a:lnSpc>
                <a:spcPts val="2024"/>
              </a:lnSpc>
            </a:pPr>
            <a:r>
              <a:rPr lang="en-US" sz="1446">
                <a:solidFill>
                  <a:srgbClr val="000000"/>
                </a:solidFill>
                <a:latin typeface="Canva Sans"/>
                <a:ea typeface="Canva Sans"/>
                <a:cs typeface="Canva Sans"/>
                <a:sym typeface="Canva Sans"/>
              </a:rPr>
              <a:t>DistillBERT</a:t>
            </a:r>
          </a:p>
        </p:txBody>
      </p:sp>
      <p:sp>
        <p:nvSpPr>
          <p:cNvPr name="TextBox 75" id="75"/>
          <p:cNvSpPr txBox="true"/>
          <p:nvPr/>
        </p:nvSpPr>
        <p:spPr>
          <a:xfrm rot="0">
            <a:off x="5013909" y="4566251"/>
            <a:ext cx="1518485" cy="762911"/>
          </a:xfrm>
          <a:prstGeom prst="rect">
            <a:avLst/>
          </a:prstGeom>
        </p:spPr>
        <p:txBody>
          <a:bodyPr anchor="t" rtlCol="false" tIns="0" lIns="0" bIns="0" rIns="0">
            <a:spAutoFit/>
          </a:bodyPr>
          <a:lstStyle/>
          <a:p>
            <a:pPr algn="ctr">
              <a:lnSpc>
                <a:spcPts val="2024"/>
              </a:lnSpc>
            </a:pPr>
            <a:r>
              <a:rPr lang="en-US" sz="1446">
                <a:solidFill>
                  <a:srgbClr val="000000"/>
                </a:solidFill>
                <a:latin typeface="Canva Sans"/>
                <a:ea typeface="Canva Sans"/>
                <a:cs typeface="Canva Sans"/>
                <a:sym typeface="Canva Sans"/>
              </a:rPr>
              <a:t>Contextual similairity scoring</a:t>
            </a:r>
          </a:p>
        </p:txBody>
      </p:sp>
      <p:sp>
        <p:nvSpPr>
          <p:cNvPr name="TextBox 76" id="76"/>
          <p:cNvSpPr txBox="true"/>
          <p:nvPr/>
        </p:nvSpPr>
        <p:spPr>
          <a:xfrm rot="0">
            <a:off x="7062587" y="4636507"/>
            <a:ext cx="1518485" cy="593823"/>
          </a:xfrm>
          <a:prstGeom prst="rect">
            <a:avLst/>
          </a:prstGeom>
        </p:spPr>
        <p:txBody>
          <a:bodyPr anchor="t" rtlCol="false" tIns="0" lIns="0" bIns="0" rIns="0">
            <a:spAutoFit/>
          </a:bodyPr>
          <a:lstStyle/>
          <a:p>
            <a:pPr algn="ctr">
              <a:lnSpc>
                <a:spcPts val="2444"/>
              </a:lnSpc>
            </a:pPr>
            <a:r>
              <a:rPr lang="en-US" sz="1746">
                <a:solidFill>
                  <a:srgbClr val="000000"/>
                </a:solidFill>
                <a:latin typeface="Canva Sans"/>
                <a:ea typeface="Canva Sans"/>
                <a:cs typeface="Canva Sans"/>
                <a:sym typeface="Canva Sans"/>
              </a:rPr>
              <a:t>Score fusion layer</a:t>
            </a:r>
          </a:p>
        </p:txBody>
      </p:sp>
      <p:sp>
        <p:nvSpPr>
          <p:cNvPr name="AutoShape 77" id="77"/>
          <p:cNvSpPr/>
          <p:nvPr/>
        </p:nvSpPr>
        <p:spPr>
          <a:xfrm>
            <a:off x="11088880" y="3033915"/>
            <a:ext cx="1037041" cy="926560"/>
          </a:xfrm>
          <a:prstGeom prst="line">
            <a:avLst/>
          </a:prstGeom>
          <a:ln cap="flat" w="28575">
            <a:solidFill>
              <a:srgbClr val="000000"/>
            </a:solidFill>
            <a:prstDash val="sysDot"/>
            <a:headEnd type="none" len="sm" w="sm"/>
            <a:tailEnd type="arrow" len="sm" w="med"/>
          </a:ln>
        </p:spPr>
      </p:sp>
      <p:sp>
        <p:nvSpPr>
          <p:cNvPr name="AutoShape 78" id="78"/>
          <p:cNvSpPr/>
          <p:nvPr/>
        </p:nvSpPr>
        <p:spPr>
          <a:xfrm flipH="true">
            <a:off x="1677362" y="3070230"/>
            <a:ext cx="11499959" cy="1489442"/>
          </a:xfrm>
          <a:prstGeom prst="line">
            <a:avLst/>
          </a:prstGeom>
          <a:ln cap="flat" w="28575">
            <a:solidFill>
              <a:srgbClr val="000000"/>
            </a:solidFill>
            <a:prstDash val="sysDot"/>
            <a:headEnd type="none" len="sm" w="sm"/>
            <a:tailEnd type="arrow" len="sm" w="med"/>
          </a:ln>
        </p:spPr>
      </p:sp>
      <p:sp>
        <p:nvSpPr>
          <p:cNvPr name="AutoShape 79" id="79"/>
          <p:cNvSpPr/>
          <p:nvPr/>
        </p:nvSpPr>
        <p:spPr>
          <a:xfrm>
            <a:off x="2442236" y="4933418"/>
            <a:ext cx="392577" cy="0"/>
          </a:xfrm>
          <a:prstGeom prst="line">
            <a:avLst/>
          </a:prstGeom>
          <a:ln cap="flat" w="28575">
            <a:solidFill>
              <a:srgbClr val="000000"/>
            </a:solidFill>
            <a:prstDash val="solid"/>
            <a:headEnd type="none" len="sm" w="sm"/>
            <a:tailEnd type="arrow" len="sm" w="med"/>
          </a:ln>
        </p:spPr>
      </p:sp>
      <p:sp>
        <p:nvSpPr>
          <p:cNvPr name="AutoShape 80" id="80"/>
          <p:cNvSpPr/>
          <p:nvPr/>
        </p:nvSpPr>
        <p:spPr>
          <a:xfrm>
            <a:off x="4541665" y="4976281"/>
            <a:ext cx="392577" cy="0"/>
          </a:xfrm>
          <a:prstGeom prst="line">
            <a:avLst/>
          </a:prstGeom>
          <a:ln cap="flat" w="28575">
            <a:solidFill>
              <a:srgbClr val="000000"/>
            </a:solidFill>
            <a:prstDash val="solid"/>
            <a:headEnd type="none" len="sm" w="sm"/>
            <a:tailEnd type="arrow" len="sm" w="med"/>
          </a:ln>
        </p:spPr>
      </p:sp>
      <p:sp>
        <p:nvSpPr>
          <p:cNvPr name="AutoShape 81" id="81"/>
          <p:cNvSpPr/>
          <p:nvPr/>
        </p:nvSpPr>
        <p:spPr>
          <a:xfrm>
            <a:off x="6612861" y="4990568"/>
            <a:ext cx="392577" cy="0"/>
          </a:xfrm>
          <a:prstGeom prst="line">
            <a:avLst/>
          </a:prstGeom>
          <a:ln cap="flat" w="28575">
            <a:solidFill>
              <a:srgbClr val="000000"/>
            </a:solidFill>
            <a:prstDash val="solid"/>
            <a:headEnd type="none" len="sm" w="sm"/>
            <a:tailEnd type="arrow" len="sm" w="med"/>
          </a:ln>
        </p:spPr>
      </p:sp>
      <p:sp>
        <p:nvSpPr>
          <p:cNvPr name="AutoShape 82" id="82"/>
          <p:cNvSpPr/>
          <p:nvPr/>
        </p:nvSpPr>
        <p:spPr>
          <a:xfrm flipV="true">
            <a:off x="8816244" y="3274417"/>
            <a:ext cx="8079528" cy="1624357"/>
          </a:xfrm>
          <a:prstGeom prst="line">
            <a:avLst/>
          </a:prstGeom>
          <a:ln cap="flat" w="28575">
            <a:solidFill>
              <a:srgbClr val="000000"/>
            </a:solidFill>
            <a:prstDash val="solid"/>
            <a:headEnd type="none" len="sm" w="sm"/>
            <a:tailEnd type="arrow" len="sm" w="med"/>
          </a:ln>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6100" y="0"/>
            <a:ext cx="18324004" cy="5200650"/>
            <a:chOff x="0" y="0"/>
            <a:chExt cx="24432006" cy="6934200"/>
          </a:xfrm>
        </p:grpSpPr>
        <p:sp>
          <p:nvSpPr>
            <p:cNvPr name="Freeform 3" id="3"/>
            <p:cNvSpPr/>
            <p:nvPr/>
          </p:nvSpPr>
          <p:spPr>
            <a:xfrm flipH="false" flipV="false" rot="0">
              <a:off x="0" y="0"/>
              <a:ext cx="24432006" cy="6934200"/>
            </a:xfrm>
            <a:custGeom>
              <a:avLst/>
              <a:gdLst/>
              <a:ahLst/>
              <a:cxnLst/>
              <a:rect r="r" b="b" t="t" l="l"/>
              <a:pathLst>
                <a:path h="6934200" w="24432006">
                  <a:moveTo>
                    <a:pt x="0" y="0"/>
                  </a:moveTo>
                  <a:lnTo>
                    <a:pt x="24432006" y="0"/>
                  </a:lnTo>
                  <a:lnTo>
                    <a:pt x="24432006" y="6934200"/>
                  </a:lnTo>
                  <a:lnTo>
                    <a:pt x="0" y="6934200"/>
                  </a:lnTo>
                  <a:close/>
                </a:path>
              </a:pathLst>
            </a:custGeom>
            <a:solidFill>
              <a:srgbClr val="AA2070"/>
            </a:solidFill>
            <a:ln w="12700">
              <a:solidFill>
                <a:srgbClr val="000000"/>
              </a:solidFill>
            </a:ln>
          </p:spPr>
        </p:sp>
      </p:grpSp>
      <p:grpSp>
        <p:nvGrpSpPr>
          <p:cNvPr name="Group 4" id="4"/>
          <p:cNvGrpSpPr/>
          <p:nvPr/>
        </p:nvGrpSpPr>
        <p:grpSpPr>
          <a:xfrm rot="0">
            <a:off x="647005" y="471295"/>
            <a:ext cx="16957796" cy="9040054"/>
            <a:chOff x="0" y="0"/>
            <a:chExt cx="22610394" cy="12053405"/>
          </a:xfrm>
        </p:grpSpPr>
        <p:sp>
          <p:nvSpPr>
            <p:cNvPr name="Freeform 5" id="5"/>
            <p:cNvSpPr/>
            <p:nvPr/>
          </p:nvSpPr>
          <p:spPr>
            <a:xfrm flipH="false" flipV="false" rot="0">
              <a:off x="0" y="0"/>
              <a:ext cx="22610445" cy="12053443"/>
            </a:xfrm>
            <a:custGeom>
              <a:avLst/>
              <a:gdLst/>
              <a:ahLst/>
              <a:cxnLst/>
              <a:rect r="r" b="b" t="t" l="l"/>
              <a:pathLst>
                <a:path h="12053443" w="22610445">
                  <a:moveTo>
                    <a:pt x="0" y="0"/>
                  </a:moveTo>
                  <a:lnTo>
                    <a:pt x="22610445" y="0"/>
                  </a:lnTo>
                  <a:lnTo>
                    <a:pt x="22610445" y="12053443"/>
                  </a:lnTo>
                  <a:lnTo>
                    <a:pt x="0" y="12053443"/>
                  </a:lnTo>
                  <a:close/>
                </a:path>
              </a:pathLst>
            </a:custGeom>
            <a:solidFill>
              <a:srgbClr val="FFFFFF"/>
            </a:solidFill>
            <a:ln w="12700">
              <a:solidFill>
                <a:srgbClr val="000000"/>
              </a:solidFill>
            </a:ln>
          </p:spPr>
        </p:sp>
      </p:grpSp>
      <p:grpSp>
        <p:nvGrpSpPr>
          <p:cNvPr name="Group 6" id="6"/>
          <p:cNvGrpSpPr/>
          <p:nvPr/>
        </p:nvGrpSpPr>
        <p:grpSpPr>
          <a:xfrm rot="0">
            <a:off x="1371657" y="0"/>
            <a:ext cx="15767552" cy="1836450"/>
            <a:chOff x="0" y="0"/>
            <a:chExt cx="21023402" cy="2448600"/>
          </a:xfrm>
        </p:grpSpPr>
        <p:sp>
          <p:nvSpPr>
            <p:cNvPr name="Freeform 7" id="7"/>
            <p:cNvSpPr/>
            <p:nvPr/>
          </p:nvSpPr>
          <p:spPr>
            <a:xfrm flipH="false" flipV="false" rot="0">
              <a:off x="0" y="0"/>
              <a:ext cx="21023400" cy="2448602"/>
            </a:xfrm>
            <a:custGeom>
              <a:avLst/>
              <a:gdLst/>
              <a:ahLst/>
              <a:cxnLst/>
              <a:rect r="r" b="b" t="t" l="l"/>
              <a:pathLst>
                <a:path h="2448602" w="21023400">
                  <a:moveTo>
                    <a:pt x="0" y="0"/>
                  </a:moveTo>
                  <a:lnTo>
                    <a:pt x="21023400" y="0"/>
                  </a:lnTo>
                  <a:lnTo>
                    <a:pt x="21023400" y="2448602"/>
                  </a:lnTo>
                  <a:lnTo>
                    <a:pt x="0" y="2448602"/>
                  </a:lnTo>
                  <a:close/>
                </a:path>
              </a:pathLst>
            </a:custGeom>
            <a:solidFill>
              <a:srgbClr val="000000">
                <a:alpha val="0"/>
              </a:srgbClr>
            </a:solidFill>
            <a:ln w="12700">
              <a:solidFill>
                <a:srgbClr val="000000"/>
              </a:solidFill>
            </a:ln>
          </p:spPr>
        </p:sp>
        <p:sp>
          <p:nvSpPr>
            <p:cNvPr name="TextBox 8" id="8"/>
            <p:cNvSpPr txBox="true"/>
            <p:nvPr/>
          </p:nvSpPr>
          <p:spPr>
            <a:xfrm>
              <a:off x="0" y="-104775"/>
              <a:ext cx="21023402" cy="2553375"/>
            </a:xfrm>
            <a:prstGeom prst="rect">
              <a:avLst/>
            </a:prstGeom>
          </p:spPr>
          <p:txBody>
            <a:bodyPr anchor="b" rtlCol="false" tIns="0" lIns="0" bIns="0" rIns="0"/>
            <a:lstStyle/>
            <a:p>
              <a:pPr algn="ctr">
                <a:lnSpc>
                  <a:spcPts val="6480"/>
                </a:lnSpc>
              </a:pPr>
              <a:r>
                <a:rPr lang="en-US" b="true" sz="5400">
                  <a:solidFill>
                    <a:srgbClr val="000000"/>
                  </a:solidFill>
                  <a:latin typeface="Avenir Bold"/>
                  <a:ea typeface="Avenir Bold"/>
                  <a:cs typeface="Avenir Bold"/>
                  <a:sym typeface="Avenir Bold"/>
                </a:rPr>
                <a:t>MODULE-3 :Sustainability and Impact Scoring</a:t>
              </a:r>
            </a:p>
          </p:txBody>
        </p:sp>
      </p:grpSp>
      <p:grpSp>
        <p:nvGrpSpPr>
          <p:cNvPr name="Group 9" id="9"/>
          <p:cNvGrpSpPr/>
          <p:nvPr/>
        </p:nvGrpSpPr>
        <p:grpSpPr>
          <a:xfrm rot="0">
            <a:off x="15537656" y="685800"/>
            <a:ext cx="1601553" cy="707403"/>
            <a:chOff x="0" y="0"/>
            <a:chExt cx="2135403" cy="943204"/>
          </a:xfrm>
        </p:grpSpPr>
        <p:sp>
          <p:nvSpPr>
            <p:cNvPr name="Freeform 10" id="10"/>
            <p:cNvSpPr/>
            <p:nvPr/>
          </p:nvSpPr>
          <p:spPr>
            <a:xfrm flipH="false" flipV="false" rot="0">
              <a:off x="0" y="0"/>
              <a:ext cx="2135400" cy="943200"/>
            </a:xfrm>
            <a:custGeom>
              <a:avLst/>
              <a:gdLst/>
              <a:ahLst/>
              <a:cxnLst/>
              <a:rect r="r" b="b" t="t" l="l"/>
              <a:pathLst>
                <a:path h="943200" w="2135400">
                  <a:moveTo>
                    <a:pt x="0" y="0"/>
                  </a:moveTo>
                  <a:lnTo>
                    <a:pt x="2135400" y="0"/>
                  </a:lnTo>
                  <a:lnTo>
                    <a:pt x="2135400" y="943200"/>
                  </a:lnTo>
                  <a:lnTo>
                    <a:pt x="0" y="943200"/>
                  </a:lnTo>
                  <a:close/>
                </a:path>
              </a:pathLst>
            </a:custGeom>
            <a:solidFill>
              <a:srgbClr val="000000">
                <a:alpha val="0"/>
              </a:srgbClr>
            </a:solidFill>
            <a:ln w="12700">
              <a:solidFill>
                <a:srgbClr val="000000"/>
              </a:solidFill>
            </a:ln>
          </p:spPr>
        </p:sp>
        <p:sp>
          <p:nvSpPr>
            <p:cNvPr name="TextBox 11" id="11"/>
            <p:cNvSpPr txBox="true"/>
            <p:nvPr/>
          </p:nvSpPr>
          <p:spPr>
            <a:xfrm>
              <a:off x="0" y="-9525"/>
              <a:ext cx="2135403" cy="952729"/>
            </a:xfrm>
            <a:prstGeom prst="rect">
              <a:avLst/>
            </a:prstGeom>
          </p:spPr>
          <p:txBody>
            <a:bodyPr anchor="ctr" rtlCol="false" tIns="0" lIns="0" bIns="0" rIns="0"/>
            <a:lstStyle/>
            <a:p>
              <a:pPr algn="r">
                <a:lnSpc>
                  <a:spcPts val="2879"/>
                </a:lnSpc>
              </a:pPr>
              <a:r>
                <a:rPr lang="en-US" sz="2400">
                  <a:solidFill>
                    <a:srgbClr val="958EA2"/>
                  </a:solidFill>
                  <a:latin typeface="Arial"/>
                  <a:ea typeface="Arial"/>
                  <a:cs typeface="Arial"/>
                  <a:sym typeface="Arial"/>
                </a:rPr>
                <a:t>16</a:t>
              </a:r>
            </a:p>
          </p:txBody>
        </p:sp>
      </p:grpSp>
      <p:grpSp>
        <p:nvGrpSpPr>
          <p:cNvPr name="Group 12" id="12"/>
          <p:cNvGrpSpPr/>
          <p:nvPr/>
        </p:nvGrpSpPr>
        <p:grpSpPr>
          <a:xfrm rot="0">
            <a:off x="9144000" y="2114405"/>
            <a:ext cx="1053070" cy="105307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000000"/>
              </a:solidFill>
              <a:prstDash val="solid"/>
              <a:miter/>
            </a:ln>
          </p:spPr>
        </p:sp>
        <p:sp>
          <p:nvSpPr>
            <p:cNvPr name="TextBox 14" id="14"/>
            <p:cNvSpPr txBox="true"/>
            <p:nvPr/>
          </p:nvSpPr>
          <p:spPr>
            <a:xfrm>
              <a:off x="76200" y="57150"/>
              <a:ext cx="660400" cy="679450"/>
            </a:xfrm>
            <a:prstGeom prst="rect">
              <a:avLst/>
            </a:prstGeom>
          </p:spPr>
          <p:txBody>
            <a:bodyPr anchor="ctr" rtlCol="false" tIns="50800" lIns="50800" bIns="50800" rIns="50800"/>
            <a:lstStyle/>
            <a:p>
              <a:pPr algn="ctr">
                <a:lnSpc>
                  <a:spcPts val="1920"/>
                </a:lnSpc>
              </a:pPr>
              <a:r>
                <a:rPr lang="en-US" sz="1600">
                  <a:solidFill>
                    <a:srgbClr val="000000"/>
                  </a:solidFill>
                  <a:latin typeface="Arial"/>
                  <a:ea typeface="Arial"/>
                  <a:cs typeface="Arial"/>
                  <a:sym typeface="Arial"/>
                </a:rPr>
                <a:t>start</a:t>
              </a:r>
            </a:p>
          </p:txBody>
        </p:sp>
      </p:grpSp>
      <p:grpSp>
        <p:nvGrpSpPr>
          <p:cNvPr name="Group 15" id="15"/>
          <p:cNvGrpSpPr/>
          <p:nvPr/>
        </p:nvGrpSpPr>
        <p:grpSpPr>
          <a:xfrm rot="0">
            <a:off x="10994750" y="2178193"/>
            <a:ext cx="2112781" cy="844264"/>
            <a:chOff x="0" y="0"/>
            <a:chExt cx="711924" cy="284484"/>
          </a:xfrm>
        </p:grpSpPr>
        <p:sp>
          <p:nvSpPr>
            <p:cNvPr name="Freeform 16" id="16"/>
            <p:cNvSpPr/>
            <p:nvPr/>
          </p:nvSpPr>
          <p:spPr>
            <a:xfrm flipH="false" flipV="false" rot="0">
              <a:off x="0" y="0"/>
              <a:ext cx="711924" cy="284484"/>
            </a:xfrm>
            <a:custGeom>
              <a:avLst/>
              <a:gdLst/>
              <a:ahLst/>
              <a:cxnLst/>
              <a:rect r="r" b="b" t="t" l="l"/>
              <a:pathLst>
                <a:path h="284484" w="711924">
                  <a:moveTo>
                    <a:pt x="0" y="0"/>
                  </a:moveTo>
                  <a:lnTo>
                    <a:pt x="711924" y="0"/>
                  </a:lnTo>
                  <a:lnTo>
                    <a:pt x="711924" y="284484"/>
                  </a:lnTo>
                  <a:lnTo>
                    <a:pt x="0" y="284484"/>
                  </a:lnTo>
                  <a:close/>
                </a:path>
              </a:pathLst>
            </a:custGeom>
            <a:solidFill>
              <a:srgbClr val="000000">
                <a:alpha val="0"/>
              </a:srgbClr>
            </a:solidFill>
            <a:ln w="38100" cap="sq">
              <a:solidFill>
                <a:srgbClr val="000000"/>
              </a:solidFill>
              <a:prstDash val="solid"/>
              <a:miter/>
            </a:ln>
          </p:spPr>
        </p:sp>
        <p:sp>
          <p:nvSpPr>
            <p:cNvPr name="TextBox 17" id="17"/>
            <p:cNvSpPr txBox="true"/>
            <p:nvPr/>
          </p:nvSpPr>
          <p:spPr>
            <a:xfrm>
              <a:off x="0" y="-9525"/>
              <a:ext cx="711924" cy="294009"/>
            </a:xfrm>
            <a:prstGeom prst="rect">
              <a:avLst/>
            </a:prstGeom>
          </p:spPr>
          <p:txBody>
            <a:bodyPr anchor="ctr" rtlCol="false" tIns="50800" lIns="50800" bIns="50800" rIns="50800"/>
            <a:lstStyle/>
            <a:p>
              <a:pPr algn="ctr">
                <a:lnSpc>
                  <a:spcPts val="2280"/>
                </a:lnSpc>
              </a:pPr>
              <a:r>
                <a:rPr lang="en-US" sz="1900">
                  <a:solidFill>
                    <a:srgbClr val="000000"/>
                  </a:solidFill>
                  <a:latin typeface="Arial"/>
                  <a:ea typeface="Arial"/>
                  <a:cs typeface="Arial"/>
                  <a:sym typeface="Arial"/>
                </a:rPr>
                <a:t>Ranked Heritage Sites</a:t>
              </a:r>
            </a:p>
          </p:txBody>
        </p:sp>
      </p:grpSp>
      <p:grpSp>
        <p:nvGrpSpPr>
          <p:cNvPr name="Group 18" id="18"/>
          <p:cNvGrpSpPr/>
          <p:nvPr/>
        </p:nvGrpSpPr>
        <p:grpSpPr>
          <a:xfrm rot="2700000">
            <a:off x="13861899" y="2289601"/>
            <a:ext cx="610622" cy="583347"/>
            <a:chOff x="0" y="0"/>
            <a:chExt cx="183918" cy="175703"/>
          </a:xfrm>
        </p:grpSpPr>
        <p:sp>
          <p:nvSpPr>
            <p:cNvPr name="Freeform 19" id="19"/>
            <p:cNvSpPr/>
            <p:nvPr/>
          </p:nvSpPr>
          <p:spPr>
            <a:xfrm flipH="false" flipV="false" rot="0">
              <a:off x="0" y="0"/>
              <a:ext cx="183918" cy="175703"/>
            </a:xfrm>
            <a:custGeom>
              <a:avLst/>
              <a:gdLst/>
              <a:ahLst/>
              <a:cxnLst/>
              <a:rect r="r" b="b" t="t" l="l"/>
              <a:pathLst>
                <a:path h="175703" w="183918">
                  <a:moveTo>
                    <a:pt x="0" y="0"/>
                  </a:moveTo>
                  <a:lnTo>
                    <a:pt x="183918" y="0"/>
                  </a:lnTo>
                  <a:lnTo>
                    <a:pt x="183918" y="175703"/>
                  </a:lnTo>
                  <a:lnTo>
                    <a:pt x="0" y="175703"/>
                  </a:lnTo>
                  <a:close/>
                </a:path>
              </a:pathLst>
            </a:custGeom>
            <a:solidFill>
              <a:srgbClr val="000000">
                <a:alpha val="0"/>
              </a:srgbClr>
            </a:solidFill>
            <a:ln w="38100" cap="sq">
              <a:solidFill>
                <a:srgbClr val="000000"/>
              </a:solidFill>
              <a:prstDash val="solid"/>
              <a:miter/>
            </a:ln>
          </p:spPr>
        </p:sp>
        <p:sp>
          <p:nvSpPr>
            <p:cNvPr name="TextBox 20" id="20"/>
            <p:cNvSpPr txBox="true"/>
            <p:nvPr/>
          </p:nvSpPr>
          <p:spPr>
            <a:xfrm>
              <a:off x="0" y="-9525"/>
              <a:ext cx="183918" cy="185228"/>
            </a:xfrm>
            <a:prstGeom prst="rect">
              <a:avLst/>
            </a:prstGeom>
          </p:spPr>
          <p:txBody>
            <a:bodyPr anchor="ctr" rtlCol="false" tIns="50800" lIns="50800" bIns="50800" rIns="50800"/>
            <a:lstStyle/>
            <a:p>
              <a:pPr algn="ctr">
                <a:lnSpc>
                  <a:spcPts val="2879"/>
                </a:lnSpc>
              </a:pPr>
            </a:p>
          </p:txBody>
        </p:sp>
      </p:grpSp>
      <p:grpSp>
        <p:nvGrpSpPr>
          <p:cNvPr name="Group 21" id="21"/>
          <p:cNvGrpSpPr/>
          <p:nvPr/>
        </p:nvGrpSpPr>
        <p:grpSpPr>
          <a:xfrm rot="0">
            <a:off x="15298933" y="2178193"/>
            <a:ext cx="1641319" cy="844264"/>
            <a:chOff x="0" y="0"/>
            <a:chExt cx="553060" cy="284484"/>
          </a:xfrm>
        </p:grpSpPr>
        <p:sp>
          <p:nvSpPr>
            <p:cNvPr name="Freeform 22" id="22"/>
            <p:cNvSpPr/>
            <p:nvPr/>
          </p:nvSpPr>
          <p:spPr>
            <a:xfrm flipH="false" flipV="false" rot="0">
              <a:off x="0" y="0"/>
              <a:ext cx="553060" cy="284484"/>
            </a:xfrm>
            <a:custGeom>
              <a:avLst/>
              <a:gdLst/>
              <a:ahLst/>
              <a:cxnLst/>
              <a:rect r="r" b="b" t="t" l="l"/>
              <a:pathLst>
                <a:path h="284484" w="553060">
                  <a:moveTo>
                    <a:pt x="0" y="0"/>
                  </a:moveTo>
                  <a:lnTo>
                    <a:pt x="553060" y="0"/>
                  </a:lnTo>
                  <a:lnTo>
                    <a:pt x="553060" y="284484"/>
                  </a:lnTo>
                  <a:lnTo>
                    <a:pt x="0" y="284484"/>
                  </a:lnTo>
                  <a:close/>
                </a:path>
              </a:pathLst>
            </a:custGeom>
            <a:solidFill>
              <a:srgbClr val="000000">
                <a:alpha val="0"/>
              </a:srgbClr>
            </a:solidFill>
            <a:ln w="38100" cap="sq">
              <a:solidFill>
                <a:srgbClr val="000000"/>
              </a:solidFill>
              <a:prstDash val="solid"/>
              <a:miter/>
            </a:ln>
          </p:spPr>
        </p:sp>
        <p:sp>
          <p:nvSpPr>
            <p:cNvPr name="TextBox 23" id="23"/>
            <p:cNvSpPr txBox="true"/>
            <p:nvPr/>
          </p:nvSpPr>
          <p:spPr>
            <a:xfrm>
              <a:off x="0" y="-19050"/>
              <a:ext cx="553060" cy="303534"/>
            </a:xfrm>
            <a:prstGeom prst="rect">
              <a:avLst/>
            </a:prstGeom>
          </p:spPr>
          <p:txBody>
            <a:bodyPr anchor="ctr" rtlCol="false" tIns="50800" lIns="50800" bIns="50800" rIns="50800"/>
            <a:lstStyle/>
            <a:p>
              <a:pPr algn="ctr">
                <a:lnSpc>
                  <a:spcPts val="2040"/>
                </a:lnSpc>
              </a:pPr>
              <a:r>
                <a:rPr lang="en-US" sz="1700">
                  <a:solidFill>
                    <a:srgbClr val="000000"/>
                  </a:solidFill>
                  <a:latin typeface="Arial"/>
                  <a:ea typeface="Arial"/>
                  <a:cs typeface="Arial"/>
                  <a:sym typeface="Arial"/>
                </a:rPr>
                <a:t>Data Preprocessing</a:t>
              </a:r>
            </a:p>
          </p:txBody>
        </p:sp>
      </p:grpSp>
      <p:grpSp>
        <p:nvGrpSpPr>
          <p:cNvPr name="Group 24" id="24"/>
          <p:cNvGrpSpPr/>
          <p:nvPr/>
        </p:nvGrpSpPr>
        <p:grpSpPr>
          <a:xfrm rot="0">
            <a:off x="15195255" y="3437446"/>
            <a:ext cx="1641319" cy="844264"/>
            <a:chOff x="0" y="0"/>
            <a:chExt cx="553060" cy="284484"/>
          </a:xfrm>
        </p:grpSpPr>
        <p:sp>
          <p:nvSpPr>
            <p:cNvPr name="Freeform 25" id="25"/>
            <p:cNvSpPr/>
            <p:nvPr/>
          </p:nvSpPr>
          <p:spPr>
            <a:xfrm flipH="false" flipV="false" rot="0">
              <a:off x="0" y="0"/>
              <a:ext cx="553060" cy="284484"/>
            </a:xfrm>
            <a:custGeom>
              <a:avLst/>
              <a:gdLst/>
              <a:ahLst/>
              <a:cxnLst/>
              <a:rect r="r" b="b" t="t" l="l"/>
              <a:pathLst>
                <a:path h="284484" w="553060">
                  <a:moveTo>
                    <a:pt x="0" y="0"/>
                  </a:moveTo>
                  <a:lnTo>
                    <a:pt x="553060" y="0"/>
                  </a:lnTo>
                  <a:lnTo>
                    <a:pt x="553060" y="284484"/>
                  </a:lnTo>
                  <a:lnTo>
                    <a:pt x="0" y="284484"/>
                  </a:lnTo>
                  <a:close/>
                </a:path>
              </a:pathLst>
            </a:custGeom>
            <a:solidFill>
              <a:srgbClr val="000000">
                <a:alpha val="0"/>
              </a:srgbClr>
            </a:solidFill>
            <a:ln w="38100" cap="sq">
              <a:solidFill>
                <a:srgbClr val="000000"/>
              </a:solidFill>
              <a:prstDash val="solid"/>
              <a:miter/>
            </a:ln>
          </p:spPr>
        </p:sp>
        <p:sp>
          <p:nvSpPr>
            <p:cNvPr name="TextBox 26" id="26"/>
            <p:cNvSpPr txBox="true"/>
            <p:nvPr/>
          </p:nvSpPr>
          <p:spPr>
            <a:xfrm>
              <a:off x="0" y="-19050"/>
              <a:ext cx="553060" cy="303534"/>
            </a:xfrm>
            <a:prstGeom prst="rect">
              <a:avLst/>
            </a:prstGeom>
          </p:spPr>
          <p:txBody>
            <a:bodyPr anchor="ctr" rtlCol="false" tIns="50800" lIns="50800" bIns="50800" rIns="50800"/>
            <a:lstStyle/>
            <a:p>
              <a:pPr algn="ctr">
                <a:lnSpc>
                  <a:spcPts val="2040"/>
                </a:lnSpc>
              </a:pPr>
              <a:r>
                <a:rPr lang="en-US" sz="1700">
                  <a:solidFill>
                    <a:srgbClr val="000000"/>
                  </a:solidFill>
                  <a:latin typeface="Arial"/>
                  <a:ea typeface="Arial"/>
                  <a:cs typeface="Arial"/>
                  <a:sym typeface="Arial"/>
                </a:rPr>
                <a:t>Feature Extraction</a:t>
              </a:r>
            </a:p>
          </p:txBody>
        </p:sp>
      </p:grpSp>
      <p:grpSp>
        <p:nvGrpSpPr>
          <p:cNvPr name="Group 27" id="27"/>
          <p:cNvGrpSpPr/>
          <p:nvPr/>
        </p:nvGrpSpPr>
        <p:grpSpPr>
          <a:xfrm rot="0">
            <a:off x="12525892" y="3519163"/>
            <a:ext cx="1641319" cy="844264"/>
            <a:chOff x="0" y="0"/>
            <a:chExt cx="553060" cy="284484"/>
          </a:xfrm>
        </p:grpSpPr>
        <p:sp>
          <p:nvSpPr>
            <p:cNvPr name="Freeform 28" id="28"/>
            <p:cNvSpPr/>
            <p:nvPr/>
          </p:nvSpPr>
          <p:spPr>
            <a:xfrm flipH="false" flipV="false" rot="0">
              <a:off x="0" y="0"/>
              <a:ext cx="553060" cy="284484"/>
            </a:xfrm>
            <a:custGeom>
              <a:avLst/>
              <a:gdLst/>
              <a:ahLst/>
              <a:cxnLst/>
              <a:rect r="r" b="b" t="t" l="l"/>
              <a:pathLst>
                <a:path h="284484" w="553060">
                  <a:moveTo>
                    <a:pt x="0" y="0"/>
                  </a:moveTo>
                  <a:lnTo>
                    <a:pt x="553060" y="0"/>
                  </a:lnTo>
                  <a:lnTo>
                    <a:pt x="553060" y="284484"/>
                  </a:lnTo>
                  <a:lnTo>
                    <a:pt x="0" y="284484"/>
                  </a:lnTo>
                  <a:close/>
                </a:path>
              </a:pathLst>
            </a:custGeom>
            <a:solidFill>
              <a:srgbClr val="000000">
                <a:alpha val="0"/>
              </a:srgbClr>
            </a:solidFill>
            <a:ln w="38100" cap="sq">
              <a:solidFill>
                <a:srgbClr val="000000"/>
              </a:solidFill>
              <a:prstDash val="solid"/>
              <a:miter/>
            </a:ln>
          </p:spPr>
        </p:sp>
        <p:sp>
          <p:nvSpPr>
            <p:cNvPr name="TextBox 29" id="29"/>
            <p:cNvSpPr txBox="true"/>
            <p:nvPr/>
          </p:nvSpPr>
          <p:spPr>
            <a:xfrm>
              <a:off x="0" y="-19050"/>
              <a:ext cx="553060" cy="303534"/>
            </a:xfrm>
            <a:prstGeom prst="rect">
              <a:avLst/>
            </a:prstGeom>
          </p:spPr>
          <p:txBody>
            <a:bodyPr anchor="ctr" rtlCol="false" tIns="50800" lIns="50800" bIns="50800" rIns="50800"/>
            <a:lstStyle/>
            <a:p>
              <a:pPr algn="ctr">
                <a:lnSpc>
                  <a:spcPts val="2040"/>
                </a:lnSpc>
              </a:pPr>
              <a:r>
                <a:rPr lang="en-US" sz="1700">
                  <a:solidFill>
                    <a:srgbClr val="000000"/>
                  </a:solidFill>
                  <a:latin typeface="Arial"/>
                  <a:ea typeface="Arial"/>
                  <a:cs typeface="Arial"/>
                  <a:sym typeface="Arial"/>
                </a:rPr>
                <a:t>Multiple Linear Regression</a:t>
              </a:r>
            </a:p>
          </p:txBody>
        </p:sp>
      </p:grpSp>
      <p:grpSp>
        <p:nvGrpSpPr>
          <p:cNvPr name="Group 30" id="30"/>
          <p:cNvGrpSpPr/>
          <p:nvPr/>
        </p:nvGrpSpPr>
        <p:grpSpPr>
          <a:xfrm rot="0">
            <a:off x="9843602" y="3499410"/>
            <a:ext cx="1641319" cy="844264"/>
            <a:chOff x="0" y="0"/>
            <a:chExt cx="553060" cy="284484"/>
          </a:xfrm>
        </p:grpSpPr>
        <p:sp>
          <p:nvSpPr>
            <p:cNvPr name="Freeform 31" id="31"/>
            <p:cNvSpPr/>
            <p:nvPr/>
          </p:nvSpPr>
          <p:spPr>
            <a:xfrm flipH="false" flipV="false" rot="0">
              <a:off x="0" y="0"/>
              <a:ext cx="553060" cy="284484"/>
            </a:xfrm>
            <a:custGeom>
              <a:avLst/>
              <a:gdLst/>
              <a:ahLst/>
              <a:cxnLst/>
              <a:rect r="r" b="b" t="t" l="l"/>
              <a:pathLst>
                <a:path h="284484" w="553060">
                  <a:moveTo>
                    <a:pt x="0" y="0"/>
                  </a:moveTo>
                  <a:lnTo>
                    <a:pt x="553060" y="0"/>
                  </a:lnTo>
                  <a:lnTo>
                    <a:pt x="553060" y="284484"/>
                  </a:lnTo>
                  <a:lnTo>
                    <a:pt x="0" y="284484"/>
                  </a:lnTo>
                  <a:close/>
                </a:path>
              </a:pathLst>
            </a:custGeom>
            <a:solidFill>
              <a:srgbClr val="000000">
                <a:alpha val="0"/>
              </a:srgbClr>
            </a:solidFill>
            <a:ln w="38100" cap="sq">
              <a:solidFill>
                <a:srgbClr val="000000"/>
              </a:solidFill>
              <a:prstDash val="solid"/>
              <a:miter/>
            </a:ln>
          </p:spPr>
        </p:sp>
        <p:sp>
          <p:nvSpPr>
            <p:cNvPr name="TextBox 32" id="32"/>
            <p:cNvSpPr txBox="true"/>
            <p:nvPr/>
          </p:nvSpPr>
          <p:spPr>
            <a:xfrm>
              <a:off x="0" y="-19050"/>
              <a:ext cx="553060" cy="303534"/>
            </a:xfrm>
            <a:prstGeom prst="rect">
              <a:avLst/>
            </a:prstGeom>
          </p:spPr>
          <p:txBody>
            <a:bodyPr anchor="ctr" rtlCol="false" tIns="50800" lIns="50800" bIns="50800" rIns="50800"/>
            <a:lstStyle/>
            <a:p>
              <a:pPr algn="ctr">
                <a:lnSpc>
                  <a:spcPts val="2040"/>
                </a:lnSpc>
              </a:pPr>
              <a:r>
                <a:rPr lang="en-US" sz="1700">
                  <a:solidFill>
                    <a:srgbClr val="000000"/>
                  </a:solidFill>
                  <a:latin typeface="Arial"/>
                  <a:ea typeface="Arial"/>
                  <a:cs typeface="Arial"/>
                  <a:sym typeface="Arial"/>
                </a:rPr>
                <a:t>Predicted impact scores</a:t>
              </a:r>
            </a:p>
          </p:txBody>
        </p:sp>
      </p:grpSp>
      <p:grpSp>
        <p:nvGrpSpPr>
          <p:cNvPr name="Group 33" id="33"/>
          <p:cNvGrpSpPr/>
          <p:nvPr/>
        </p:nvGrpSpPr>
        <p:grpSpPr>
          <a:xfrm rot="0">
            <a:off x="9733218" y="4949214"/>
            <a:ext cx="1862087" cy="760048"/>
            <a:chOff x="0" y="0"/>
            <a:chExt cx="627450" cy="256106"/>
          </a:xfrm>
        </p:grpSpPr>
        <p:sp>
          <p:nvSpPr>
            <p:cNvPr name="Freeform 34" id="34"/>
            <p:cNvSpPr/>
            <p:nvPr/>
          </p:nvSpPr>
          <p:spPr>
            <a:xfrm flipH="false" flipV="false" rot="0">
              <a:off x="0" y="0"/>
              <a:ext cx="627450" cy="256106"/>
            </a:xfrm>
            <a:custGeom>
              <a:avLst/>
              <a:gdLst/>
              <a:ahLst/>
              <a:cxnLst/>
              <a:rect r="r" b="b" t="t" l="l"/>
              <a:pathLst>
                <a:path h="256106" w="627450">
                  <a:moveTo>
                    <a:pt x="0" y="0"/>
                  </a:moveTo>
                  <a:lnTo>
                    <a:pt x="627450" y="0"/>
                  </a:lnTo>
                  <a:lnTo>
                    <a:pt x="627450" y="256106"/>
                  </a:lnTo>
                  <a:lnTo>
                    <a:pt x="0" y="256106"/>
                  </a:lnTo>
                  <a:close/>
                </a:path>
              </a:pathLst>
            </a:custGeom>
            <a:solidFill>
              <a:srgbClr val="000000">
                <a:alpha val="0"/>
              </a:srgbClr>
            </a:solidFill>
            <a:ln w="38100" cap="sq">
              <a:solidFill>
                <a:srgbClr val="000000"/>
              </a:solidFill>
              <a:prstDash val="solid"/>
              <a:miter/>
            </a:ln>
          </p:spPr>
        </p:sp>
        <p:sp>
          <p:nvSpPr>
            <p:cNvPr name="TextBox 35" id="35"/>
            <p:cNvSpPr txBox="true"/>
            <p:nvPr/>
          </p:nvSpPr>
          <p:spPr>
            <a:xfrm>
              <a:off x="0" y="-19050"/>
              <a:ext cx="627450" cy="275156"/>
            </a:xfrm>
            <a:prstGeom prst="rect">
              <a:avLst/>
            </a:prstGeom>
          </p:spPr>
          <p:txBody>
            <a:bodyPr anchor="ctr" rtlCol="false" tIns="50800" lIns="50800" bIns="50800" rIns="50800"/>
            <a:lstStyle/>
            <a:p>
              <a:pPr algn="ctr">
                <a:lnSpc>
                  <a:spcPts val="2040"/>
                </a:lnSpc>
              </a:pPr>
              <a:r>
                <a:rPr lang="en-US" sz="1700">
                  <a:solidFill>
                    <a:srgbClr val="000000"/>
                  </a:solidFill>
                  <a:latin typeface="Arial"/>
                  <a:ea typeface="Arial"/>
                  <a:cs typeface="Arial"/>
                  <a:sym typeface="Arial"/>
                </a:rPr>
                <a:t>Multi Criteria Decision Making</a:t>
              </a:r>
            </a:p>
          </p:txBody>
        </p:sp>
      </p:grpSp>
      <p:grpSp>
        <p:nvGrpSpPr>
          <p:cNvPr name="Group 36" id="36"/>
          <p:cNvGrpSpPr/>
          <p:nvPr/>
        </p:nvGrpSpPr>
        <p:grpSpPr>
          <a:xfrm rot="0">
            <a:off x="13543151" y="5110693"/>
            <a:ext cx="1641319" cy="502873"/>
            <a:chOff x="0" y="0"/>
            <a:chExt cx="553060" cy="169448"/>
          </a:xfrm>
        </p:grpSpPr>
        <p:sp>
          <p:nvSpPr>
            <p:cNvPr name="Freeform 37" id="37"/>
            <p:cNvSpPr/>
            <p:nvPr/>
          </p:nvSpPr>
          <p:spPr>
            <a:xfrm flipH="false" flipV="false" rot="0">
              <a:off x="0" y="0"/>
              <a:ext cx="553060" cy="169448"/>
            </a:xfrm>
            <a:custGeom>
              <a:avLst/>
              <a:gdLst/>
              <a:ahLst/>
              <a:cxnLst/>
              <a:rect r="r" b="b" t="t" l="l"/>
              <a:pathLst>
                <a:path h="169448" w="553060">
                  <a:moveTo>
                    <a:pt x="0" y="0"/>
                  </a:moveTo>
                  <a:lnTo>
                    <a:pt x="553060" y="0"/>
                  </a:lnTo>
                  <a:lnTo>
                    <a:pt x="553060" y="169448"/>
                  </a:lnTo>
                  <a:lnTo>
                    <a:pt x="0" y="169448"/>
                  </a:lnTo>
                  <a:close/>
                </a:path>
              </a:pathLst>
            </a:custGeom>
            <a:solidFill>
              <a:srgbClr val="000000">
                <a:alpha val="0"/>
              </a:srgbClr>
            </a:solidFill>
            <a:ln w="38100" cap="sq">
              <a:solidFill>
                <a:srgbClr val="000000"/>
              </a:solidFill>
              <a:prstDash val="solid"/>
              <a:miter/>
            </a:ln>
          </p:spPr>
        </p:sp>
        <p:sp>
          <p:nvSpPr>
            <p:cNvPr name="TextBox 38" id="38"/>
            <p:cNvSpPr txBox="true"/>
            <p:nvPr/>
          </p:nvSpPr>
          <p:spPr>
            <a:xfrm>
              <a:off x="0" y="-19050"/>
              <a:ext cx="553060" cy="188498"/>
            </a:xfrm>
            <a:prstGeom prst="rect">
              <a:avLst/>
            </a:prstGeom>
          </p:spPr>
          <p:txBody>
            <a:bodyPr anchor="ctr" rtlCol="false" tIns="50800" lIns="50800" bIns="50800" rIns="50800"/>
            <a:lstStyle/>
            <a:p>
              <a:pPr algn="ctr">
                <a:lnSpc>
                  <a:spcPts val="2040"/>
                </a:lnSpc>
              </a:pPr>
              <a:r>
                <a:rPr lang="en-US" sz="1700">
                  <a:solidFill>
                    <a:srgbClr val="000000"/>
                  </a:solidFill>
                  <a:latin typeface="Arial"/>
                  <a:ea typeface="Arial"/>
                  <a:cs typeface="Arial"/>
                  <a:sym typeface="Arial"/>
                </a:rPr>
                <a:t>Environmental</a:t>
              </a:r>
            </a:p>
          </p:txBody>
        </p:sp>
      </p:grpSp>
      <p:grpSp>
        <p:nvGrpSpPr>
          <p:cNvPr name="Group 39" id="39"/>
          <p:cNvGrpSpPr/>
          <p:nvPr/>
        </p:nvGrpSpPr>
        <p:grpSpPr>
          <a:xfrm rot="0">
            <a:off x="13543151" y="6016220"/>
            <a:ext cx="1641319" cy="502873"/>
            <a:chOff x="0" y="0"/>
            <a:chExt cx="553060" cy="169448"/>
          </a:xfrm>
        </p:grpSpPr>
        <p:sp>
          <p:nvSpPr>
            <p:cNvPr name="Freeform 40" id="40"/>
            <p:cNvSpPr/>
            <p:nvPr/>
          </p:nvSpPr>
          <p:spPr>
            <a:xfrm flipH="false" flipV="false" rot="0">
              <a:off x="0" y="0"/>
              <a:ext cx="553060" cy="169448"/>
            </a:xfrm>
            <a:custGeom>
              <a:avLst/>
              <a:gdLst/>
              <a:ahLst/>
              <a:cxnLst/>
              <a:rect r="r" b="b" t="t" l="l"/>
              <a:pathLst>
                <a:path h="169448" w="553060">
                  <a:moveTo>
                    <a:pt x="0" y="0"/>
                  </a:moveTo>
                  <a:lnTo>
                    <a:pt x="553060" y="0"/>
                  </a:lnTo>
                  <a:lnTo>
                    <a:pt x="553060" y="169448"/>
                  </a:lnTo>
                  <a:lnTo>
                    <a:pt x="0" y="169448"/>
                  </a:lnTo>
                  <a:close/>
                </a:path>
              </a:pathLst>
            </a:custGeom>
            <a:solidFill>
              <a:srgbClr val="000000">
                <a:alpha val="0"/>
              </a:srgbClr>
            </a:solidFill>
            <a:ln w="38100" cap="sq">
              <a:solidFill>
                <a:srgbClr val="000000"/>
              </a:solidFill>
              <a:prstDash val="solid"/>
              <a:miter/>
            </a:ln>
          </p:spPr>
        </p:sp>
        <p:sp>
          <p:nvSpPr>
            <p:cNvPr name="TextBox 41" id="41"/>
            <p:cNvSpPr txBox="true"/>
            <p:nvPr/>
          </p:nvSpPr>
          <p:spPr>
            <a:xfrm>
              <a:off x="0" y="-19050"/>
              <a:ext cx="553060" cy="188498"/>
            </a:xfrm>
            <a:prstGeom prst="rect">
              <a:avLst/>
            </a:prstGeom>
          </p:spPr>
          <p:txBody>
            <a:bodyPr anchor="ctr" rtlCol="false" tIns="50800" lIns="50800" bIns="50800" rIns="50800"/>
            <a:lstStyle/>
            <a:p>
              <a:pPr algn="ctr">
                <a:lnSpc>
                  <a:spcPts val="2040"/>
                </a:lnSpc>
              </a:pPr>
              <a:r>
                <a:rPr lang="en-US" sz="1700">
                  <a:solidFill>
                    <a:srgbClr val="000000"/>
                  </a:solidFill>
                  <a:latin typeface="Arial"/>
                  <a:ea typeface="Arial"/>
                  <a:cs typeface="Arial"/>
                  <a:sym typeface="Arial"/>
                </a:rPr>
                <a:t>Social</a:t>
              </a:r>
            </a:p>
          </p:txBody>
        </p:sp>
      </p:grpSp>
      <p:grpSp>
        <p:nvGrpSpPr>
          <p:cNvPr name="Group 42" id="42"/>
          <p:cNvGrpSpPr/>
          <p:nvPr/>
        </p:nvGrpSpPr>
        <p:grpSpPr>
          <a:xfrm rot="0">
            <a:off x="13543151" y="6919142"/>
            <a:ext cx="1641319" cy="502873"/>
            <a:chOff x="0" y="0"/>
            <a:chExt cx="553060" cy="169448"/>
          </a:xfrm>
        </p:grpSpPr>
        <p:sp>
          <p:nvSpPr>
            <p:cNvPr name="Freeform 43" id="43"/>
            <p:cNvSpPr/>
            <p:nvPr/>
          </p:nvSpPr>
          <p:spPr>
            <a:xfrm flipH="false" flipV="false" rot="0">
              <a:off x="0" y="0"/>
              <a:ext cx="553060" cy="169448"/>
            </a:xfrm>
            <a:custGeom>
              <a:avLst/>
              <a:gdLst/>
              <a:ahLst/>
              <a:cxnLst/>
              <a:rect r="r" b="b" t="t" l="l"/>
              <a:pathLst>
                <a:path h="169448" w="553060">
                  <a:moveTo>
                    <a:pt x="0" y="0"/>
                  </a:moveTo>
                  <a:lnTo>
                    <a:pt x="553060" y="0"/>
                  </a:lnTo>
                  <a:lnTo>
                    <a:pt x="553060" y="169448"/>
                  </a:lnTo>
                  <a:lnTo>
                    <a:pt x="0" y="169448"/>
                  </a:lnTo>
                  <a:close/>
                </a:path>
              </a:pathLst>
            </a:custGeom>
            <a:solidFill>
              <a:srgbClr val="000000">
                <a:alpha val="0"/>
              </a:srgbClr>
            </a:solidFill>
            <a:ln w="38100" cap="sq">
              <a:solidFill>
                <a:srgbClr val="000000"/>
              </a:solidFill>
              <a:prstDash val="solid"/>
              <a:miter/>
            </a:ln>
          </p:spPr>
        </p:sp>
        <p:sp>
          <p:nvSpPr>
            <p:cNvPr name="TextBox 44" id="44"/>
            <p:cNvSpPr txBox="true"/>
            <p:nvPr/>
          </p:nvSpPr>
          <p:spPr>
            <a:xfrm>
              <a:off x="0" y="-19050"/>
              <a:ext cx="553060" cy="188498"/>
            </a:xfrm>
            <a:prstGeom prst="rect">
              <a:avLst/>
            </a:prstGeom>
          </p:spPr>
          <p:txBody>
            <a:bodyPr anchor="ctr" rtlCol="false" tIns="50800" lIns="50800" bIns="50800" rIns="50800"/>
            <a:lstStyle/>
            <a:p>
              <a:pPr algn="ctr">
                <a:lnSpc>
                  <a:spcPts val="2040"/>
                </a:lnSpc>
              </a:pPr>
              <a:r>
                <a:rPr lang="en-US" sz="1700">
                  <a:solidFill>
                    <a:srgbClr val="000000"/>
                  </a:solidFill>
                  <a:latin typeface="Arial"/>
                  <a:ea typeface="Arial"/>
                  <a:cs typeface="Arial"/>
                  <a:sym typeface="Arial"/>
                </a:rPr>
                <a:t>Economic</a:t>
              </a:r>
            </a:p>
          </p:txBody>
        </p:sp>
      </p:grpSp>
      <p:grpSp>
        <p:nvGrpSpPr>
          <p:cNvPr name="Group 45" id="45"/>
          <p:cNvGrpSpPr/>
          <p:nvPr/>
        </p:nvGrpSpPr>
        <p:grpSpPr>
          <a:xfrm rot="0">
            <a:off x="15755969" y="4991322"/>
            <a:ext cx="1433963" cy="760048"/>
            <a:chOff x="0" y="0"/>
            <a:chExt cx="483189" cy="256106"/>
          </a:xfrm>
        </p:grpSpPr>
        <p:sp>
          <p:nvSpPr>
            <p:cNvPr name="Freeform 46" id="46"/>
            <p:cNvSpPr/>
            <p:nvPr/>
          </p:nvSpPr>
          <p:spPr>
            <a:xfrm flipH="false" flipV="false" rot="0">
              <a:off x="0" y="0"/>
              <a:ext cx="483189" cy="256106"/>
            </a:xfrm>
            <a:custGeom>
              <a:avLst/>
              <a:gdLst/>
              <a:ahLst/>
              <a:cxnLst/>
              <a:rect r="r" b="b" t="t" l="l"/>
              <a:pathLst>
                <a:path h="256106" w="483189">
                  <a:moveTo>
                    <a:pt x="0" y="0"/>
                  </a:moveTo>
                  <a:lnTo>
                    <a:pt x="483189" y="0"/>
                  </a:lnTo>
                  <a:lnTo>
                    <a:pt x="483189" y="256106"/>
                  </a:lnTo>
                  <a:lnTo>
                    <a:pt x="0" y="256106"/>
                  </a:lnTo>
                  <a:close/>
                </a:path>
              </a:pathLst>
            </a:custGeom>
            <a:solidFill>
              <a:srgbClr val="000000">
                <a:alpha val="0"/>
              </a:srgbClr>
            </a:solidFill>
            <a:ln w="38100" cap="sq">
              <a:solidFill>
                <a:srgbClr val="000000"/>
              </a:solidFill>
              <a:prstDash val="solid"/>
              <a:miter/>
            </a:ln>
          </p:spPr>
        </p:sp>
        <p:sp>
          <p:nvSpPr>
            <p:cNvPr name="TextBox 47" id="47"/>
            <p:cNvSpPr txBox="true"/>
            <p:nvPr/>
          </p:nvSpPr>
          <p:spPr>
            <a:xfrm>
              <a:off x="0" y="-19050"/>
              <a:ext cx="483189" cy="275156"/>
            </a:xfrm>
            <a:prstGeom prst="rect">
              <a:avLst/>
            </a:prstGeom>
          </p:spPr>
          <p:txBody>
            <a:bodyPr anchor="ctr" rtlCol="false" tIns="50800" lIns="50800" bIns="50800" rIns="50800"/>
            <a:lstStyle/>
            <a:p>
              <a:pPr algn="ctr">
                <a:lnSpc>
                  <a:spcPts val="2040"/>
                </a:lnSpc>
              </a:pPr>
              <a:r>
                <a:rPr lang="en-US" sz="1700">
                  <a:solidFill>
                    <a:srgbClr val="000000"/>
                  </a:solidFill>
                  <a:latin typeface="Arial"/>
                  <a:ea typeface="Arial"/>
                  <a:cs typeface="Arial"/>
                  <a:sym typeface="Arial"/>
                </a:rPr>
                <a:t>Sustainability Scores</a:t>
              </a:r>
            </a:p>
          </p:txBody>
        </p:sp>
      </p:grpSp>
      <p:grpSp>
        <p:nvGrpSpPr>
          <p:cNvPr name="Group 48" id="48"/>
          <p:cNvGrpSpPr/>
          <p:nvPr/>
        </p:nvGrpSpPr>
        <p:grpSpPr>
          <a:xfrm rot="0">
            <a:off x="9574200" y="8142984"/>
            <a:ext cx="1991809" cy="760048"/>
            <a:chOff x="0" y="0"/>
            <a:chExt cx="671161" cy="256106"/>
          </a:xfrm>
        </p:grpSpPr>
        <p:sp>
          <p:nvSpPr>
            <p:cNvPr name="Freeform 49" id="49"/>
            <p:cNvSpPr/>
            <p:nvPr/>
          </p:nvSpPr>
          <p:spPr>
            <a:xfrm flipH="false" flipV="false" rot="0">
              <a:off x="0" y="0"/>
              <a:ext cx="671161" cy="256106"/>
            </a:xfrm>
            <a:custGeom>
              <a:avLst/>
              <a:gdLst/>
              <a:ahLst/>
              <a:cxnLst/>
              <a:rect r="r" b="b" t="t" l="l"/>
              <a:pathLst>
                <a:path h="256106" w="671161">
                  <a:moveTo>
                    <a:pt x="0" y="0"/>
                  </a:moveTo>
                  <a:lnTo>
                    <a:pt x="671161" y="0"/>
                  </a:lnTo>
                  <a:lnTo>
                    <a:pt x="671161" y="256106"/>
                  </a:lnTo>
                  <a:lnTo>
                    <a:pt x="0" y="256106"/>
                  </a:lnTo>
                  <a:close/>
                </a:path>
              </a:pathLst>
            </a:custGeom>
            <a:solidFill>
              <a:srgbClr val="000000">
                <a:alpha val="0"/>
              </a:srgbClr>
            </a:solidFill>
            <a:ln w="38100" cap="sq">
              <a:solidFill>
                <a:srgbClr val="000000"/>
              </a:solidFill>
              <a:prstDash val="solid"/>
              <a:miter/>
            </a:ln>
          </p:spPr>
        </p:sp>
        <p:sp>
          <p:nvSpPr>
            <p:cNvPr name="TextBox 50" id="50"/>
            <p:cNvSpPr txBox="true"/>
            <p:nvPr/>
          </p:nvSpPr>
          <p:spPr>
            <a:xfrm>
              <a:off x="0" y="-19050"/>
              <a:ext cx="671161" cy="275156"/>
            </a:xfrm>
            <a:prstGeom prst="rect">
              <a:avLst/>
            </a:prstGeom>
          </p:spPr>
          <p:txBody>
            <a:bodyPr anchor="ctr" rtlCol="false" tIns="50800" lIns="50800" bIns="50800" rIns="50800"/>
            <a:lstStyle/>
            <a:p>
              <a:pPr algn="ctr">
                <a:lnSpc>
                  <a:spcPts val="2040"/>
                </a:lnSpc>
              </a:pPr>
              <a:r>
                <a:rPr lang="en-US" sz="1700">
                  <a:solidFill>
                    <a:srgbClr val="000000"/>
                  </a:solidFill>
                  <a:latin typeface="Arial"/>
                  <a:ea typeface="Arial"/>
                  <a:cs typeface="Arial"/>
                  <a:sym typeface="Arial"/>
                </a:rPr>
                <a:t>Output to itinerary optimization model</a:t>
              </a:r>
            </a:p>
          </p:txBody>
        </p:sp>
      </p:grpSp>
      <p:grpSp>
        <p:nvGrpSpPr>
          <p:cNvPr name="Group 51" id="51"/>
          <p:cNvGrpSpPr/>
          <p:nvPr/>
        </p:nvGrpSpPr>
        <p:grpSpPr>
          <a:xfrm rot="0">
            <a:off x="12252247" y="8182060"/>
            <a:ext cx="760048" cy="760048"/>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000000"/>
              </a:solidFill>
              <a:prstDash val="solid"/>
              <a:miter/>
            </a:ln>
          </p:spPr>
        </p:sp>
        <p:sp>
          <p:nvSpPr>
            <p:cNvPr name="TextBox 53" id="53"/>
            <p:cNvSpPr txBox="true"/>
            <p:nvPr/>
          </p:nvSpPr>
          <p:spPr>
            <a:xfrm>
              <a:off x="76200" y="57150"/>
              <a:ext cx="660400" cy="679450"/>
            </a:xfrm>
            <a:prstGeom prst="rect">
              <a:avLst/>
            </a:prstGeom>
          </p:spPr>
          <p:txBody>
            <a:bodyPr anchor="ctr" rtlCol="false" tIns="50800" lIns="50800" bIns="50800" rIns="50800"/>
            <a:lstStyle/>
            <a:p>
              <a:pPr algn="ctr">
                <a:lnSpc>
                  <a:spcPts val="1920"/>
                </a:lnSpc>
              </a:pPr>
              <a:r>
                <a:rPr lang="en-US" sz="1600">
                  <a:solidFill>
                    <a:srgbClr val="000000"/>
                  </a:solidFill>
                  <a:latin typeface="Arial"/>
                  <a:ea typeface="Arial"/>
                  <a:cs typeface="Arial"/>
                  <a:sym typeface="Arial"/>
                </a:rPr>
                <a:t>End</a:t>
              </a:r>
            </a:p>
          </p:txBody>
        </p:sp>
      </p:grpSp>
      <p:sp>
        <p:nvSpPr>
          <p:cNvPr name="AutoShape 54" id="54"/>
          <p:cNvSpPr/>
          <p:nvPr/>
        </p:nvSpPr>
        <p:spPr>
          <a:xfrm>
            <a:off x="10317614" y="2640940"/>
            <a:ext cx="572726" cy="0"/>
          </a:xfrm>
          <a:prstGeom prst="line">
            <a:avLst/>
          </a:prstGeom>
          <a:ln cap="flat" w="38100">
            <a:solidFill>
              <a:srgbClr val="000000"/>
            </a:solidFill>
            <a:prstDash val="solid"/>
            <a:headEnd type="none" len="sm" w="sm"/>
            <a:tailEnd type="arrow" len="sm" w="med"/>
          </a:ln>
        </p:spPr>
      </p:sp>
      <p:sp>
        <p:nvSpPr>
          <p:cNvPr name="AutoShape 55" id="55"/>
          <p:cNvSpPr/>
          <p:nvPr/>
        </p:nvSpPr>
        <p:spPr>
          <a:xfrm>
            <a:off x="13146563" y="2410276"/>
            <a:ext cx="572726" cy="0"/>
          </a:xfrm>
          <a:prstGeom prst="line">
            <a:avLst/>
          </a:prstGeom>
          <a:ln cap="flat" w="38100">
            <a:solidFill>
              <a:srgbClr val="000000"/>
            </a:solidFill>
            <a:prstDash val="solid"/>
            <a:headEnd type="none" len="sm" w="sm"/>
            <a:tailEnd type="arrow" len="sm" w="med"/>
          </a:ln>
        </p:spPr>
      </p:sp>
      <p:sp>
        <p:nvSpPr>
          <p:cNvPr name="AutoShape 56" id="56"/>
          <p:cNvSpPr/>
          <p:nvPr/>
        </p:nvSpPr>
        <p:spPr>
          <a:xfrm>
            <a:off x="14657775" y="2562225"/>
            <a:ext cx="572726" cy="0"/>
          </a:xfrm>
          <a:prstGeom prst="line">
            <a:avLst/>
          </a:prstGeom>
          <a:ln cap="flat" w="38100">
            <a:solidFill>
              <a:srgbClr val="000000"/>
            </a:solidFill>
            <a:prstDash val="solid"/>
            <a:headEnd type="none" len="sm" w="sm"/>
            <a:tailEnd type="arrow" len="sm" w="med"/>
          </a:ln>
        </p:spPr>
      </p:sp>
      <p:sp>
        <p:nvSpPr>
          <p:cNvPr name="AutoShape 57" id="57"/>
          <p:cNvSpPr/>
          <p:nvPr/>
        </p:nvSpPr>
        <p:spPr>
          <a:xfrm>
            <a:off x="13172353" y="2778675"/>
            <a:ext cx="572726" cy="0"/>
          </a:xfrm>
          <a:prstGeom prst="line">
            <a:avLst/>
          </a:prstGeom>
          <a:ln cap="flat" w="38100">
            <a:solidFill>
              <a:srgbClr val="000000"/>
            </a:solidFill>
            <a:prstDash val="sysDash"/>
            <a:headEnd type="arrow" len="sm" w="med"/>
            <a:tailEnd type="none" len="sm" w="sm"/>
          </a:ln>
        </p:spPr>
      </p:sp>
      <p:sp>
        <p:nvSpPr>
          <p:cNvPr name="AutoShape 58" id="58"/>
          <p:cNvSpPr/>
          <p:nvPr/>
        </p:nvSpPr>
        <p:spPr>
          <a:xfrm>
            <a:off x="16100542" y="3003407"/>
            <a:ext cx="0" cy="434039"/>
          </a:xfrm>
          <a:prstGeom prst="line">
            <a:avLst/>
          </a:prstGeom>
          <a:ln cap="flat" w="38100">
            <a:solidFill>
              <a:srgbClr val="000000"/>
            </a:solidFill>
            <a:prstDash val="solid"/>
            <a:headEnd type="none" len="sm" w="sm"/>
            <a:tailEnd type="arrow" len="sm" w="med"/>
          </a:ln>
        </p:spPr>
      </p:sp>
      <p:sp>
        <p:nvSpPr>
          <p:cNvPr name="AutoShape 59" id="59"/>
          <p:cNvSpPr/>
          <p:nvPr/>
        </p:nvSpPr>
        <p:spPr>
          <a:xfrm>
            <a:off x="14394870" y="3960344"/>
            <a:ext cx="572726" cy="0"/>
          </a:xfrm>
          <a:prstGeom prst="line">
            <a:avLst/>
          </a:prstGeom>
          <a:ln cap="flat" w="38100">
            <a:solidFill>
              <a:srgbClr val="000000"/>
            </a:solidFill>
            <a:prstDash val="solid"/>
            <a:headEnd type="arrow" len="sm" w="med"/>
            <a:tailEnd type="none" len="sm" w="sm"/>
          </a:ln>
        </p:spPr>
      </p:sp>
      <p:sp>
        <p:nvSpPr>
          <p:cNvPr name="AutoShape 60" id="60"/>
          <p:cNvSpPr/>
          <p:nvPr/>
        </p:nvSpPr>
        <p:spPr>
          <a:xfrm>
            <a:off x="11724566" y="3941294"/>
            <a:ext cx="572726" cy="0"/>
          </a:xfrm>
          <a:prstGeom prst="line">
            <a:avLst/>
          </a:prstGeom>
          <a:ln cap="flat" w="38100">
            <a:solidFill>
              <a:srgbClr val="000000"/>
            </a:solidFill>
            <a:prstDash val="solid"/>
            <a:headEnd type="arrow" len="sm" w="med"/>
            <a:tailEnd type="none" len="sm" w="sm"/>
          </a:ln>
        </p:spPr>
      </p:sp>
      <p:sp>
        <p:nvSpPr>
          <p:cNvPr name="AutoShape 61" id="61"/>
          <p:cNvSpPr/>
          <p:nvPr/>
        </p:nvSpPr>
        <p:spPr>
          <a:xfrm flipH="true" flipV="true">
            <a:off x="10664261" y="4343673"/>
            <a:ext cx="0" cy="605540"/>
          </a:xfrm>
          <a:prstGeom prst="line">
            <a:avLst/>
          </a:prstGeom>
          <a:ln cap="flat" w="38100">
            <a:solidFill>
              <a:srgbClr val="000000"/>
            </a:solidFill>
            <a:prstDash val="solid"/>
            <a:headEnd type="arrow" len="sm" w="med"/>
            <a:tailEnd type="none" len="sm" w="sm"/>
          </a:ln>
        </p:spPr>
      </p:sp>
      <p:grpSp>
        <p:nvGrpSpPr>
          <p:cNvPr name="Group 62" id="62"/>
          <p:cNvGrpSpPr/>
          <p:nvPr/>
        </p:nvGrpSpPr>
        <p:grpSpPr>
          <a:xfrm rot="2700000">
            <a:off x="12284851" y="5037564"/>
            <a:ext cx="610622" cy="583347"/>
            <a:chOff x="0" y="0"/>
            <a:chExt cx="183918" cy="175703"/>
          </a:xfrm>
        </p:grpSpPr>
        <p:sp>
          <p:nvSpPr>
            <p:cNvPr name="Freeform 63" id="63"/>
            <p:cNvSpPr/>
            <p:nvPr/>
          </p:nvSpPr>
          <p:spPr>
            <a:xfrm flipH="false" flipV="false" rot="0">
              <a:off x="0" y="0"/>
              <a:ext cx="183918" cy="175703"/>
            </a:xfrm>
            <a:custGeom>
              <a:avLst/>
              <a:gdLst/>
              <a:ahLst/>
              <a:cxnLst/>
              <a:rect r="r" b="b" t="t" l="l"/>
              <a:pathLst>
                <a:path h="175703" w="183918">
                  <a:moveTo>
                    <a:pt x="0" y="0"/>
                  </a:moveTo>
                  <a:lnTo>
                    <a:pt x="183918" y="0"/>
                  </a:lnTo>
                  <a:lnTo>
                    <a:pt x="183918" y="175703"/>
                  </a:lnTo>
                  <a:lnTo>
                    <a:pt x="0" y="175703"/>
                  </a:lnTo>
                  <a:close/>
                </a:path>
              </a:pathLst>
            </a:custGeom>
            <a:solidFill>
              <a:srgbClr val="000000">
                <a:alpha val="0"/>
              </a:srgbClr>
            </a:solidFill>
            <a:ln w="38100" cap="sq">
              <a:solidFill>
                <a:srgbClr val="000000"/>
              </a:solidFill>
              <a:prstDash val="solid"/>
              <a:miter/>
            </a:ln>
          </p:spPr>
        </p:sp>
        <p:sp>
          <p:nvSpPr>
            <p:cNvPr name="TextBox 64" id="64"/>
            <p:cNvSpPr txBox="true"/>
            <p:nvPr/>
          </p:nvSpPr>
          <p:spPr>
            <a:xfrm>
              <a:off x="0" y="-9525"/>
              <a:ext cx="183918" cy="185228"/>
            </a:xfrm>
            <a:prstGeom prst="rect">
              <a:avLst/>
            </a:prstGeom>
          </p:spPr>
          <p:txBody>
            <a:bodyPr anchor="ctr" rtlCol="false" tIns="50800" lIns="50800" bIns="50800" rIns="50800"/>
            <a:lstStyle/>
            <a:p>
              <a:pPr algn="ctr">
                <a:lnSpc>
                  <a:spcPts val="2879"/>
                </a:lnSpc>
              </a:pPr>
            </a:p>
          </p:txBody>
        </p:sp>
      </p:grpSp>
      <p:sp>
        <p:nvSpPr>
          <p:cNvPr name="AutoShape 65" id="65"/>
          <p:cNvSpPr/>
          <p:nvPr/>
        </p:nvSpPr>
        <p:spPr>
          <a:xfrm>
            <a:off x="11595305" y="5329238"/>
            <a:ext cx="572726" cy="0"/>
          </a:xfrm>
          <a:prstGeom prst="line">
            <a:avLst/>
          </a:prstGeom>
          <a:ln cap="flat" w="38100">
            <a:solidFill>
              <a:srgbClr val="000000"/>
            </a:solidFill>
            <a:prstDash val="solid"/>
            <a:headEnd type="none" len="sm" w="sm"/>
            <a:tailEnd type="arrow" len="sm" w="med"/>
          </a:ln>
        </p:spPr>
      </p:sp>
      <p:sp>
        <p:nvSpPr>
          <p:cNvPr name="AutoShape 66" id="66"/>
          <p:cNvSpPr/>
          <p:nvPr/>
        </p:nvSpPr>
        <p:spPr>
          <a:xfrm>
            <a:off x="12979651" y="5343079"/>
            <a:ext cx="572726" cy="0"/>
          </a:xfrm>
          <a:prstGeom prst="line">
            <a:avLst/>
          </a:prstGeom>
          <a:ln cap="flat" w="38100">
            <a:solidFill>
              <a:srgbClr val="000000"/>
            </a:solidFill>
            <a:prstDash val="solid"/>
            <a:headEnd type="none" len="sm" w="sm"/>
            <a:tailEnd type="arrow" len="sm" w="med"/>
          </a:ln>
        </p:spPr>
      </p:sp>
      <p:sp>
        <p:nvSpPr>
          <p:cNvPr name="AutoShape 67" id="67"/>
          <p:cNvSpPr/>
          <p:nvPr/>
        </p:nvSpPr>
        <p:spPr>
          <a:xfrm flipH="true" flipV="true">
            <a:off x="12609212" y="5713450"/>
            <a:ext cx="876747" cy="1510120"/>
          </a:xfrm>
          <a:prstGeom prst="line">
            <a:avLst/>
          </a:prstGeom>
          <a:ln cap="flat" w="38100">
            <a:solidFill>
              <a:srgbClr val="000000"/>
            </a:solidFill>
            <a:prstDash val="solid"/>
            <a:headEnd type="arrow" len="sm" w="med"/>
            <a:tailEnd type="none" len="sm" w="sm"/>
          </a:ln>
        </p:spPr>
      </p:sp>
      <p:sp>
        <p:nvSpPr>
          <p:cNvPr name="AutoShape 68" id="68"/>
          <p:cNvSpPr/>
          <p:nvPr/>
        </p:nvSpPr>
        <p:spPr>
          <a:xfrm flipH="true" flipV="true">
            <a:off x="12823492" y="5512596"/>
            <a:ext cx="779331" cy="897789"/>
          </a:xfrm>
          <a:prstGeom prst="line">
            <a:avLst/>
          </a:prstGeom>
          <a:ln cap="flat" w="38100">
            <a:solidFill>
              <a:srgbClr val="000000"/>
            </a:solidFill>
            <a:prstDash val="solid"/>
            <a:headEnd type="arrow" len="sm" w="med"/>
            <a:tailEnd type="none" len="sm" w="sm"/>
          </a:ln>
        </p:spPr>
      </p:sp>
      <p:sp>
        <p:nvSpPr>
          <p:cNvPr name="AutoShape 69" id="69"/>
          <p:cNvSpPr/>
          <p:nvPr/>
        </p:nvSpPr>
        <p:spPr>
          <a:xfrm>
            <a:off x="15183244" y="5352296"/>
            <a:ext cx="572726" cy="0"/>
          </a:xfrm>
          <a:prstGeom prst="line">
            <a:avLst/>
          </a:prstGeom>
          <a:ln cap="flat" w="38100">
            <a:solidFill>
              <a:srgbClr val="000000"/>
            </a:solidFill>
            <a:prstDash val="solid"/>
            <a:headEnd type="none" len="sm" w="sm"/>
            <a:tailEnd type="arrow" len="sm" w="med"/>
          </a:ln>
        </p:spPr>
      </p:sp>
      <p:sp>
        <p:nvSpPr>
          <p:cNvPr name="AutoShape 70" id="70"/>
          <p:cNvSpPr/>
          <p:nvPr/>
        </p:nvSpPr>
        <p:spPr>
          <a:xfrm flipH="true">
            <a:off x="15268888" y="5843367"/>
            <a:ext cx="988080" cy="424289"/>
          </a:xfrm>
          <a:prstGeom prst="line">
            <a:avLst/>
          </a:prstGeom>
          <a:ln cap="flat" w="38100">
            <a:solidFill>
              <a:srgbClr val="000000"/>
            </a:solidFill>
            <a:prstDash val="solid"/>
            <a:headEnd type="arrow" len="sm" w="med"/>
            <a:tailEnd type="none" len="sm" w="sm"/>
          </a:ln>
        </p:spPr>
      </p:sp>
      <p:sp>
        <p:nvSpPr>
          <p:cNvPr name="AutoShape 71" id="71"/>
          <p:cNvSpPr/>
          <p:nvPr/>
        </p:nvSpPr>
        <p:spPr>
          <a:xfrm flipH="true">
            <a:off x="15183244" y="5820952"/>
            <a:ext cx="1363828" cy="1330576"/>
          </a:xfrm>
          <a:prstGeom prst="line">
            <a:avLst/>
          </a:prstGeom>
          <a:ln cap="flat" w="38100">
            <a:solidFill>
              <a:srgbClr val="000000"/>
            </a:solidFill>
            <a:prstDash val="solid"/>
            <a:headEnd type="arrow" len="sm" w="med"/>
            <a:tailEnd type="none" len="sm" w="sm"/>
          </a:ln>
        </p:spPr>
      </p:sp>
      <p:sp>
        <p:nvSpPr>
          <p:cNvPr name="AutoShape 72" id="72"/>
          <p:cNvSpPr/>
          <p:nvPr/>
        </p:nvSpPr>
        <p:spPr>
          <a:xfrm flipV="true">
            <a:off x="10570104" y="5842684"/>
            <a:ext cx="6407700" cy="2162494"/>
          </a:xfrm>
          <a:prstGeom prst="line">
            <a:avLst/>
          </a:prstGeom>
          <a:ln cap="flat" w="38100">
            <a:solidFill>
              <a:srgbClr val="000000"/>
            </a:solidFill>
            <a:prstDash val="solid"/>
            <a:headEnd type="arrow" len="sm" w="med"/>
            <a:tailEnd type="none" len="sm" w="sm"/>
          </a:ln>
        </p:spPr>
      </p:sp>
      <p:sp>
        <p:nvSpPr>
          <p:cNvPr name="AutoShape 73" id="73"/>
          <p:cNvSpPr/>
          <p:nvPr/>
        </p:nvSpPr>
        <p:spPr>
          <a:xfrm>
            <a:off x="11595305" y="8562084"/>
            <a:ext cx="572726" cy="0"/>
          </a:xfrm>
          <a:prstGeom prst="line">
            <a:avLst/>
          </a:prstGeom>
          <a:ln cap="flat" w="38100">
            <a:solidFill>
              <a:srgbClr val="000000"/>
            </a:solidFill>
            <a:prstDash val="solid"/>
            <a:headEnd type="none" len="sm" w="sm"/>
            <a:tailEnd type="arrow" len="sm" w="med"/>
          </a:ln>
        </p:spPr>
      </p:sp>
      <p:sp>
        <p:nvSpPr>
          <p:cNvPr name="Freeform 74" id="74"/>
          <p:cNvSpPr/>
          <p:nvPr/>
        </p:nvSpPr>
        <p:spPr>
          <a:xfrm flipH="false" flipV="false" rot="0">
            <a:off x="13960555" y="2393670"/>
            <a:ext cx="413310" cy="413310"/>
          </a:xfrm>
          <a:custGeom>
            <a:avLst/>
            <a:gdLst/>
            <a:ahLst/>
            <a:cxnLst/>
            <a:rect r="r" b="b" t="t" l="l"/>
            <a:pathLst>
              <a:path h="413310" w="413310">
                <a:moveTo>
                  <a:pt x="0" y="0"/>
                </a:moveTo>
                <a:lnTo>
                  <a:pt x="413310" y="0"/>
                </a:lnTo>
                <a:lnTo>
                  <a:pt x="413310" y="413310"/>
                </a:lnTo>
                <a:lnTo>
                  <a:pt x="0" y="4133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5" id="75"/>
          <p:cNvSpPr/>
          <p:nvPr/>
        </p:nvSpPr>
        <p:spPr>
          <a:xfrm flipH="false" flipV="false" rot="0">
            <a:off x="12430681" y="5143500"/>
            <a:ext cx="286319" cy="328758"/>
          </a:xfrm>
          <a:custGeom>
            <a:avLst/>
            <a:gdLst/>
            <a:ahLst/>
            <a:cxnLst/>
            <a:rect r="r" b="b" t="t" l="l"/>
            <a:pathLst>
              <a:path h="328758" w="286319">
                <a:moveTo>
                  <a:pt x="0" y="0"/>
                </a:moveTo>
                <a:lnTo>
                  <a:pt x="286319" y="0"/>
                </a:lnTo>
                <a:lnTo>
                  <a:pt x="286319" y="328758"/>
                </a:lnTo>
                <a:lnTo>
                  <a:pt x="0" y="3287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6" id="76"/>
          <p:cNvSpPr txBox="true"/>
          <p:nvPr/>
        </p:nvSpPr>
        <p:spPr>
          <a:xfrm rot="0">
            <a:off x="660022" y="2236953"/>
            <a:ext cx="8245853" cy="6734175"/>
          </a:xfrm>
          <a:prstGeom prst="rect">
            <a:avLst/>
          </a:prstGeom>
        </p:spPr>
        <p:txBody>
          <a:bodyPr anchor="t" rtlCol="false" tIns="0" lIns="0" bIns="0" rIns="0">
            <a:spAutoFit/>
          </a:bodyPr>
          <a:lstStyle/>
          <a:p>
            <a:pPr algn="just" marL="647698" indent="-323849" lvl="1">
              <a:lnSpc>
                <a:spcPts val="3599"/>
              </a:lnSpc>
              <a:buFont typeface="Arial"/>
              <a:buChar char="•"/>
            </a:pPr>
            <a:r>
              <a:rPr lang="en-US" sz="2999">
                <a:solidFill>
                  <a:srgbClr val="000000"/>
                </a:solidFill>
                <a:latin typeface="Times New Roman"/>
                <a:ea typeface="Times New Roman"/>
                <a:cs typeface="Times New Roman"/>
                <a:sym typeface="Times New Roman"/>
              </a:rPr>
              <a:t>The sustainability module evaluates ranked heritage sites using extracted features like size and distance. </a:t>
            </a:r>
          </a:p>
          <a:p>
            <a:pPr algn="just">
              <a:lnSpc>
                <a:spcPts val="3599"/>
              </a:lnSpc>
            </a:pPr>
          </a:p>
          <a:p>
            <a:pPr algn="just" marL="647698" indent="-323849" lvl="1">
              <a:lnSpc>
                <a:spcPts val="3599"/>
              </a:lnSpc>
              <a:buFont typeface="Arial"/>
              <a:buChar char="•"/>
            </a:pPr>
            <a:r>
              <a:rPr lang="en-US" sz="2999">
                <a:solidFill>
                  <a:srgbClr val="000000"/>
                </a:solidFill>
                <a:latin typeface="Times New Roman"/>
                <a:ea typeface="Times New Roman"/>
                <a:cs typeface="Times New Roman"/>
                <a:sym typeface="Times New Roman"/>
              </a:rPr>
              <a:t>Multiple linear regression predicts each site’s impact, which is then analyzed using the TOPSIS multi-criteria decision-making method.</a:t>
            </a:r>
          </a:p>
          <a:p>
            <a:pPr algn="just">
              <a:lnSpc>
                <a:spcPts val="3599"/>
              </a:lnSpc>
            </a:pPr>
            <a:r>
              <a:rPr lang="en-US" sz="2999">
                <a:solidFill>
                  <a:srgbClr val="000000"/>
                </a:solidFill>
                <a:latin typeface="Times New Roman"/>
                <a:ea typeface="Times New Roman"/>
                <a:cs typeface="Times New Roman"/>
                <a:sym typeface="Times New Roman"/>
              </a:rPr>
              <a:t> </a:t>
            </a:r>
          </a:p>
          <a:p>
            <a:pPr algn="just" marL="647698" indent="-323849" lvl="1">
              <a:lnSpc>
                <a:spcPts val="3599"/>
              </a:lnSpc>
              <a:buFont typeface="Arial"/>
              <a:buChar char="•"/>
            </a:pPr>
            <a:r>
              <a:rPr lang="en-US" sz="2999">
                <a:solidFill>
                  <a:srgbClr val="000000"/>
                </a:solidFill>
                <a:latin typeface="Times New Roman"/>
                <a:ea typeface="Times New Roman"/>
                <a:cs typeface="Times New Roman"/>
                <a:sym typeface="Times New Roman"/>
              </a:rPr>
              <a:t>This process generates sustainability scores that measure environmental and social effects. </a:t>
            </a:r>
          </a:p>
          <a:p>
            <a:pPr algn="just">
              <a:lnSpc>
                <a:spcPts val="3599"/>
              </a:lnSpc>
            </a:pPr>
          </a:p>
          <a:p>
            <a:pPr algn="just" marL="647698" indent="-323849" lvl="1">
              <a:lnSpc>
                <a:spcPts val="3599"/>
              </a:lnSpc>
              <a:buFont typeface="Arial"/>
              <a:buChar char="•"/>
            </a:pPr>
            <a:r>
              <a:rPr lang="en-US" sz="2999">
                <a:solidFill>
                  <a:srgbClr val="000000"/>
                </a:solidFill>
                <a:latin typeface="Times New Roman"/>
                <a:ea typeface="Times New Roman"/>
                <a:cs typeface="Times New Roman"/>
                <a:sym typeface="Times New Roman"/>
              </a:rPr>
              <a:t>The final sustainability scores are passed to the itinerary optimization model to ensure travel plans promote eco-friendly and balanced tourism choices.</a:t>
            </a:r>
          </a:p>
        </p:txBody>
      </p:sp>
      <p:grpSp>
        <p:nvGrpSpPr>
          <p:cNvPr name="Group 77" id="77"/>
          <p:cNvGrpSpPr/>
          <p:nvPr/>
        </p:nvGrpSpPr>
        <p:grpSpPr>
          <a:xfrm rot="0">
            <a:off x="13627446" y="2962004"/>
            <a:ext cx="1079529" cy="402135"/>
            <a:chOff x="0" y="0"/>
            <a:chExt cx="363759" cy="135504"/>
          </a:xfrm>
        </p:grpSpPr>
        <p:sp>
          <p:nvSpPr>
            <p:cNvPr name="Freeform 78" id="78"/>
            <p:cNvSpPr/>
            <p:nvPr/>
          </p:nvSpPr>
          <p:spPr>
            <a:xfrm flipH="false" flipV="false" rot="0">
              <a:off x="0" y="0"/>
              <a:ext cx="363759" cy="135504"/>
            </a:xfrm>
            <a:custGeom>
              <a:avLst/>
              <a:gdLst/>
              <a:ahLst/>
              <a:cxnLst/>
              <a:rect r="r" b="b" t="t" l="l"/>
              <a:pathLst>
                <a:path h="135504" w="363759">
                  <a:moveTo>
                    <a:pt x="0" y="0"/>
                  </a:moveTo>
                  <a:lnTo>
                    <a:pt x="363759" y="0"/>
                  </a:lnTo>
                  <a:lnTo>
                    <a:pt x="363759" y="135504"/>
                  </a:lnTo>
                  <a:lnTo>
                    <a:pt x="0" y="135504"/>
                  </a:lnTo>
                  <a:close/>
                </a:path>
              </a:pathLst>
            </a:custGeom>
            <a:solidFill>
              <a:srgbClr val="000000">
                <a:alpha val="0"/>
              </a:srgbClr>
            </a:solidFill>
            <a:ln cap="sq">
              <a:noFill/>
              <a:prstDash val="solid"/>
              <a:miter/>
            </a:ln>
          </p:spPr>
        </p:sp>
        <p:sp>
          <p:nvSpPr>
            <p:cNvPr name="TextBox 79" id="79"/>
            <p:cNvSpPr txBox="true"/>
            <p:nvPr/>
          </p:nvSpPr>
          <p:spPr>
            <a:xfrm>
              <a:off x="0" y="-19050"/>
              <a:ext cx="363759" cy="154554"/>
            </a:xfrm>
            <a:prstGeom prst="rect">
              <a:avLst/>
            </a:prstGeom>
          </p:spPr>
          <p:txBody>
            <a:bodyPr anchor="ctr" rtlCol="false" tIns="50800" lIns="50800" bIns="50800" rIns="50800"/>
            <a:lstStyle/>
            <a:p>
              <a:pPr algn="ctr">
                <a:lnSpc>
                  <a:spcPts val="1920"/>
                </a:lnSpc>
              </a:pPr>
              <a:r>
                <a:rPr lang="en-US" sz="1600">
                  <a:solidFill>
                    <a:srgbClr val="000000"/>
                  </a:solidFill>
                  <a:latin typeface="Arial"/>
                  <a:ea typeface="Arial"/>
                  <a:cs typeface="Arial"/>
                  <a:sym typeface="Arial"/>
                </a:rPr>
                <a:t>Validation</a:t>
              </a:r>
            </a:p>
          </p:txBody>
        </p:sp>
      </p:grpSp>
      <p:grpSp>
        <p:nvGrpSpPr>
          <p:cNvPr name="Group 80" id="80"/>
          <p:cNvGrpSpPr/>
          <p:nvPr/>
        </p:nvGrpSpPr>
        <p:grpSpPr>
          <a:xfrm rot="0">
            <a:off x="11562666" y="4613308"/>
            <a:ext cx="2139208" cy="402135"/>
            <a:chOff x="0" y="0"/>
            <a:chExt cx="720829" cy="135504"/>
          </a:xfrm>
        </p:grpSpPr>
        <p:sp>
          <p:nvSpPr>
            <p:cNvPr name="Freeform 81" id="81"/>
            <p:cNvSpPr/>
            <p:nvPr/>
          </p:nvSpPr>
          <p:spPr>
            <a:xfrm flipH="false" flipV="false" rot="0">
              <a:off x="0" y="0"/>
              <a:ext cx="720829" cy="135504"/>
            </a:xfrm>
            <a:custGeom>
              <a:avLst/>
              <a:gdLst/>
              <a:ahLst/>
              <a:cxnLst/>
              <a:rect r="r" b="b" t="t" l="l"/>
              <a:pathLst>
                <a:path h="135504" w="720829">
                  <a:moveTo>
                    <a:pt x="0" y="0"/>
                  </a:moveTo>
                  <a:lnTo>
                    <a:pt x="720829" y="0"/>
                  </a:lnTo>
                  <a:lnTo>
                    <a:pt x="720829" y="135504"/>
                  </a:lnTo>
                  <a:lnTo>
                    <a:pt x="0" y="135504"/>
                  </a:lnTo>
                  <a:close/>
                </a:path>
              </a:pathLst>
            </a:custGeom>
            <a:solidFill>
              <a:srgbClr val="000000">
                <a:alpha val="0"/>
              </a:srgbClr>
            </a:solidFill>
            <a:ln cap="sq">
              <a:noFill/>
              <a:prstDash val="solid"/>
              <a:miter/>
            </a:ln>
          </p:spPr>
        </p:sp>
        <p:sp>
          <p:nvSpPr>
            <p:cNvPr name="TextBox 82" id="82"/>
            <p:cNvSpPr txBox="true"/>
            <p:nvPr/>
          </p:nvSpPr>
          <p:spPr>
            <a:xfrm>
              <a:off x="0" y="-19050"/>
              <a:ext cx="720829" cy="154554"/>
            </a:xfrm>
            <a:prstGeom prst="rect">
              <a:avLst/>
            </a:prstGeom>
          </p:spPr>
          <p:txBody>
            <a:bodyPr anchor="ctr" rtlCol="false" tIns="50800" lIns="50800" bIns="50800" rIns="50800"/>
            <a:lstStyle/>
            <a:p>
              <a:pPr algn="ctr">
                <a:lnSpc>
                  <a:spcPts val="1920"/>
                </a:lnSpc>
              </a:pPr>
              <a:r>
                <a:rPr lang="en-US" sz="1600">
                  <a:solidFill>
                    <a:srgbClr val="000000"/>
                  </a:solidFill>
                  <a:latin typeface="Arial"/>
                  <a:ea typeface="Arial"/>
                  <a:cs typeface="Arial"/>
                  <a:sym typeface="Arial"/>
                </a:rPr>
                <a:t>Sustainability Scores</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6100" y="0"/>
            <a:ext cx="18324004" cy="5200650"/>
            <a:chOff x="0" y="0"/>
            <a:chExt cx="24432006" cy="6934200"/>
          </a:xfrm>
        </p:grpSpPr>
        <p:sp>
          <p:nvSpPr>
            <p:cNvPr name="Freeform 3" id="3"/>
            <p:cNvSpPr/>
            <p:nvPr/>
          </p:nvSpPr>
          <p:spPr>
            <a:xfrm flipH="false" flipV="false" rot="0">
              <a:off x="0" y="0"/>
              <a:ext cx="24432006" cy="6934200"/>
            </a:xfrm>
            <a:custGeom>
              <a:avLst/>
              <a:gdLst/>
              <a:ahLst/>
              <a:cxnLst/>
              <a:rect r="r" b="b" t="t" l="l"/>
              <a:pathLst>
                <a:path h="6934200" w="24432006">
                  <a:moveTo>
                    <a:pt x="0" y="0"/>
                  </a:moveTo>
                  <a:lnTo>
                    <a:pt x="24432006" y="0"/>
                  </a:lnTo>
                  <a:lnTo>
                    <a:pt x="24432006" y="6934200"/>
                  </a:lnTo>
                  <a:lnTo>
                    <a:pt x="0" y="6934200"/>
                  </a:lnTo>
                  <a:close/>
                </a:path>
              </a:pathLst>
            </a:custGeom>
            <a:solidFill>
              <a:srgbClr val="AA2070"/>
            </a:solidFill>
            <a:ln w="12700">
              <a:solidFill>
                <a:srgbClr val="000000"/>
              </a:solidFill>
            </a:ln>
          </p:spPr>
        </p:sp>
      </p:grpSp>
      <p:grpSp>
        <p:nvGrpSpPr>
          <p:cNvPr name="Group 4" id="4"/>
          <p:cNvGrpSpPr/>
          <p:nvPr/>
        </p:nvGrpSpPr>
        <p:grpSpPr>
          <a:xfrm rot="0">
            <a:off x="447780" y="918225"/>
            <a:ext cx="17418016" cy="9040054"/>
            <a:chOff x="0" y="0"/>
            <a:chExt cx="23224022" cy="12053405"/>
          </a:xfrm>
        </p:grpSpPr>
        <p:sp>
          <p:nvSpPr>
            <p:cNvPr name="Freeform 5" id="5"/>
            <p:cNvSpPr/>
            <p:nvPr/>
          </p:nvSpPr>
          <p:spPr>
            <a:xfrm flipH="false" flipV="false" rot="0">
              <a:off x="0" y="0"/>
              <a:ext cx="23224072" cy="12053443"/>
            </a:xfrm>
            <a:custGeom>
              <a:avLst/>
              <a:gdLst/>
              <a:ahLst/>
              <a:cxnLst/>
              <a:rect r="r" b="b" t="t" l="l"/>
              <a:pathLst>
                <a:path h="12053443" w="23224072">
                  <a:moveTo>
                    <a:pt x="0" y="0"/>
                  </a:moveTo>
                  <a:lnTo>
                    <a:pt x="23224072" y="0"/>
                  </a:lnTo>
                  <a:lnTo>
                    <a:pt x="23224072" y="12053443"/>
                  </a:lnTo>
                  <a:lnTo>
                    <a:pt x="0" y="12053443"/>
                  </a:lnTo>
                  <a:close/>
                </a:path>
              </a:pathLst>
            </a:custGeom>
            <a:solidFill>
              <a:srgbClr val="FFFFFF"/>
            </a:solidFill>
            <a:ln w="12700">
              <a:solidFill>
                <a:srgbClr val="000000"/>
              </a:solidFill>
            </a:ln>
          </p:spPr>
        </p:sp>
      </p:grpSp>
      <p:grpSp>
        <p:nvGrpSpPr>
          <p:cNvPr name="Group 6" id="6"/>
          <p:cNvGrpSpPr/>
          <p:nvPr/>
        </p:nvGrpSpPr>
        <p:grpSpPr>
          <a:xfrm rot="0">
            <a:off x="1260224" y="0"/>
            <a:ext cx="15767552" cy="1836450"/>
            <a:chOff x="0" y="0"/>
            <a:chExt cx="21023402" cy="2448600"/>
          </a:xfrm>
        </p:grpSpPr>
        <p:sp>
          <p:nvSpPr>
            <p:cNvPr name="Freeform 7" id="7"/>
            <p:cNvSpPr/>
            <p:nvPr/>
          </p:nvSpPr>
          <p:spPr>
            <a:xfrm flipH="false" flipV="false" rot="0">
              <a:off x="0" y="0"/>
              <a:ext cx="21023400" cy="2448602"/>
            </a:xfrm>
            <a:custGeom>
              <a:avLst/>
              <a:gdLst/>
              <a:ahLst/>
              <a:cxnLst/>
              <a:rect r="r" b="b" t="t" l="l"/>
              <a:pathLst>
                <a:path h="2448602" w="21023400">
                  <a:moveTo>
                    <a:pt x="0" y="0"/>
                  </a:moveTo>
                  <a:lnTo>
                    <a:pt x="21023400" y="0"/>
                  </a:lnTo>
                  <a:lnTo>
                    <a:pt x="21023400" y="2448602"/>
                  </a:lnTo>
                  <a:lnTo>
                    <a:pt x="0" y="2448602"/>
                  </a:lnTo>
                  <a:close/>
                </a:path>
              </a:pathLst>
            </a:custGeom>
            <a:solidFill>
              <a:srgbClr val="000000">
                <a:alpha val="0"/>
              </a:srgbClr>
            </a:solidFill>
            <a:ln w="12700">
              <a:solidFill>
                <a:srgbClr val="000000"/>
              </a:solidFill>
            </a:ln>
          </p:spPr>
        </p:sp>
        <p:sp>
          <p:nvSpPr>
            <p:cNvPr name="TextBox 8" id="8"/>
            <p:cNvSpPr txBox="true"/>
            <p:nvPr/>
          </p:nvSpPr>
          <p:spPr>
            <a:xfrm>
              <a:off x="0" y="-104775"/>
              <a:ext cx="21023402" cy="2553375"/>
            </a:xfrm>
            <a:prstGeom prst="rect">
              <a:avLst/>
            </a:prstGeom>
          </p:spPr>
          <p:txBody>
            <a:bodyPr anchor="b" rtlCol="false" tIns="0" lIns="0" bIns="0" rIns="0"/>
            <a:lstStyle/>
            <a:p>
              <a:pPr algn="ctr">
                <a:lnSpc>
                  <a:spcPts val="6480"/>
                </a:lnSpc>
              </a:pPr>
              <a:r>
                <a:rPr lang="en-US" b="true" sz="5400">
                  <a:solidFill>
                    <a:srgbClr val="000000"/>
                  </a:solidFill>
                  <a:latin typeface="Avenir Bold"/>
                  <a:ea typeface="Avenir Bold"/>
                  <a:cs typeface="Avenir Bold"/>
                  <a:sym typeface="Avenir Bold"/>
                </a:rPr>
                <a:t>MODULE-4 : Itinerary Optimization</a:t>
              </a:r>
            </a:p>
          </p:txBody>
        </p:sp>
      </p:grpSp>
      <p:grpSp>
        <p:nvGrpSpPr>
          <p:cNvPr name="Group 9" id="9"/>
          <p:cNvGrpSpPr/>
          <p:nvPr/>
        </p:nvGrpSpPr>
        <p:grpSpPr>
          <a:xfrm rot="0">
            <a:off x="15537656" y="685800"/>
            <a:ext cx="1601553" cy="707403"/>
            <a:chOff x="0" y="0"/>
            <a:chExt cx="2135403" cy="943204"/>
          </a:xfrm>
        </p:grpSpPr>
        <p:sp>
          <p:nvSpPr>
            <p:cNvPr name="Freeform 10" id="10"/>
            <p:cNvSpPr/>
            <p:nvPr/>
          </p:nvSpPr>
          <p:spPr>
            <a:xfrm flipH="false" flipV="false" rot="0">
              <a:off x="0" y="0"/>
              <a:ext cx="2135400" cy="943200"/>
            </a:xfrm>
            <a:custGeom>
              <a:avLst/>
              <a:gdLst/>
              <a:ahLst/>
              <a:cxnLst/>
              <a:rect r="r" b="b" t="t" l="l"/>
              <a:pathLst>
                <a:path h="943200" w="2135400">
                  <a:moveTo>
                    <a:pt x="0" y="0"/>
                  </a:moveTo>
                  <a:lnTo>
                    <a:pt x="2135400" y="0"/>
                  </a:lnTo>
                  <a:lnTo>
                    <a:pt x="2135400" y="943200"/>
                  </a:lnTo>
                  <a:lnTo>
                    <a:pt x="0" y="943200"/>
                  </a:lnTo>
                  <a:close/>
                </a:path>
              </a:pathLst>
            </a:custGeom>
            <a:solidFill>
              <a:srgbClr val="000000">
                <a:alpha val="0"/>
              </a:srgbClr>
            </a:solidFill>
            <a:ln w="12700">
              <a:solidFill>
                <a:srgbClr val="000000"/>
              </a:solidFill>
            </a:ln>
          </p:spPr>
        </p:sp>
        <p:sp>
          <p:nvSpPr>
            <p:cNvPr name="TextBox 11" id="11"/>
            <p:cNvSpPr txBox="true"/>
            <p:nvPr/>
          </p:nvSpPr>
          <p:spPr>
            <a:xfrm>
              <a:off x="0" y="-9525"/>
              <a:ext cx="2135403" cy="952729"/>
            </a:xfrm>
            <a:prstGeom prst="rect">
              <a:avLst/>
            </a:prstGeom>
          </p:spPr>
          <p:txBody>
            <a:bodyPr anchor="ctr" rtlCol="false" tIns="0" lIns="0" bIns="0" rIns="0"/>
            <a:lstStyle/>
            <a:p>
              <a:pPr algn="r">
                <a:lnSpc>
                  <a:spcPts val="2879"/>
                </a:lnSpc>
              </a:pPr>
              <a:r>
                <a:rPr lang="en-US" sz="2400">
                  <a:solidFill>
                    <a:srgbClr val="958EA2"/>
                  </a:solidFill>
                  <a:latin typeface="Arial"/>
                  <a:ea typeface="Arial"/>
                  <a:cs typeface="Arial"/>
                  <a:sym typeface="Arial"/>
                </a:rPr>
                <a:t>17</a:t>
              </a:r>
            </a:p>
          </p:txBody>
        </p:sp>
      </p:grpSp>
      <p:grpSp>
        <p:nvGrpSpPr>
          <p:cNvPr name="Group 12" id="12"/>
          <p:cNvGrpSpPr/>
          <p:nvPr/>
        </p:nvGrpSpPr>
        <p:grpSpPr>
          <a:xfrm rot="0">
            <a:off x="733689" y="2073790"/>
            <a:ext cx="1053070" cy="105307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000000"/>
              </a:solidFill>
              <a:prstDash val="solid"/>
              <a:miter/>
            </a:ln>
          </p:spPr>
        </p:sp>
        <p:sp>
          <p:nvSpPr>
            <p:cNvPr name="TextBox 14" id="14"/>
            <p:cNvSpPr txBox="true"/>
            <p:nvPr/>
          </p:nvSpPr>
          <p:spPr>
            <a:xfrm>
              <a:off x="76200" y="66675"/>
              <a:ext cx="660400" cy="669925"/>
            </a:xfrm>
            <a:prstGeom prst="rect">
              <a:avLst/>
            </a:prstGeom>
          </p:spPr>
          <p:txBody>
            <a:bodyPr anchor="ctr" rtlCol="false" tIns="50800" lIns="50800" bIns="50800" rIns="50800"/>
            <a:lstStyle/>
            <a:p>
              <a:pPr algn="ctr">
                <a:lnSpc>
                  <a:spcPts val="2879"/>
                </a:lnSpc>
              </a:pPr>
              <a:r>
                <a:rPr lang="en-US" sz="2400">
                  <a:solidFill>
                    <a:srgbClr val="000000"/>
                  </a:solidFill>
                  <a:latin typeface="Arial"/>
                  <a:ea typeface="Arial"/>
                  <a:cs typeface="Arial"/>
                  <a:sym typeface="Arial"/>
                </a:rPr>
                <a:t>Start</a:t>
              </a:r>
            </a:p>
          </p:txBody>
        </p:sp>
      </p:grpSp>
      <p:grpSp>
        <p:nvGrpSpPr>
          <p:cNvPr name="Group 15" id="15"/>
          <p:cNvGrpSpPr/>
          <p:nvPr/>
        </p:nvGrpSpPr>
        <p:grpSpPr>
          <a:xfrm rot="0">
            <a:off x="2288329" y="2178193"/>
            <a:ext cx="2401749" cy="844264"/>
            <a:chOff x="0" y="0"/>
            <a:chExt cx="809295" cy="284484"/>
          </a:xfrm>
        </p:grpSpPr>
        <p:sp>
          <p:nvSpPr>
            <p:cNvPr name="Freeform 16" id="16"/>
            <p:cNvSpPr/>
            <p:nvPr/>
          </p:nvSpPr>
          <p:spPr>
            <a:xfrm flipH="false" flipV="false" rot="0">
              <a:off x="0" y="0"/>
              <a:ext cx="809294" cy="284484"/>
            </a:xfrm>
            <a:custGeom>
              <a:avLst/>
              <a:gdLst/>
              <a:ahLst/>
              <a:cxnLst/>
              <a:rect r="r" b="b" t="t" l="l"/>
              <a:pathLst>
                <a:path h="284484" w="809294">
                  <a:moveTo>
                    <a:pt x="0" y="0"/>
                  </a:moveTo>
                  <a:lnTo>
                    <a:pt x="809294" y="0"/>
                  </a:lnTo>
                  <a:lnTo>
                    <a:pt x="809294" y="284484"/>
                  </a:lnTo>
                  <a:lnTo>
                    <a:pt x="0" y="284484"/>
                  </a:lnTo>
                  <a:close/>
                </a:path>
              </a:pathLst>
            </a:custGeom>
            <a:solidFill>
              <a:srgbClr val="000000">
                <a:alpha val="0"/>
              </a:srgbClr>
            </a:solidFill>
            <a:ln w="38100" cap="sq">
              <a:solidFill>
                <a:srgbClr val="000000"/>
              </a:solidFill>
              <a:prstDash val="solid"/>
              <a:miter/>
            </a:ln>
          </p:spPr>
        </p:sp>
        <p:sp>
          <p:nvSpPr>
            <p:cNvPr name="TextBox 17" id="17"/>
            <p:cNvSpPr txBox="true"/>
            <p:nvPr/>
          </p:nvSpPr>
          <p:spPr>
            <a:xfrm>
              <a:off x="0" y="-19050"/>
              <a:ext cx="809295" cy="303534"/>
            </a:xfrm>
            <a:prstGeom prst="rect">
              <a:avLst/>
            </a:prstGeom>
          </p:spPr>
          <p:txBody>
            <a:bodyPr anchor="ctr" rtlCol="false" tIns="50800" lIns="50800" bIns="50800" rIns="50800"/>
            <a:lstStyle/>
            <a:p>
              <a:pPr algn="ctr">
                <a:lnSpc>
                  <a:spcPts val="2040"/>
                </a:lnSpc>
              </a:pPr>
              <a:r>
                <a:rPr lang="en-US" sz="1700">
                  <a:solidFill>
                    <a:srgbClr val="000000"/>
                  </a:solidFill>
                  <a:latin typeface="Arial"/>
                  <a:ea typeface="Arial"/>
                  <a:cs typeface="Arial"/>
                  <a:sym typeface="Arial"/>
                </a:rPr>
                <a:t>Ranked Sites + Sustainability Scores</a:t>
              </a:r>
            </a:p>
          </p:txBody>
        </p:sp>
      </p:grpSp>
      <p:grpSp>
        <p:nvGrpSpPr>
          <p:cNvPr name="Group 18" id="18"/>
          <p:cNvGrpSpPr/>
          <p:nvPr/>
        </p:nvGrpSpPr>
        <p:grpSpPr>
          <a:xfrm rot="2700000">
            <a:off x="10278430" y="2308651"/>
            <a:ext cx="610622" cy="583347"/>
            <a:chOff x="0" y="0"/>
            <a:chExt cx="183918" cy="175703"/>
          </a:xfrm>
        </p:grpSpPr>
        <p:sp>
          <p:nvSpPr>
            <p:cNvPr name="Freeform 19" id="19"/>
            <p:cNvSpPr/>
            <p:nvPr/>
          </p:nvSpPr>
          <p:spPr>
            <a:xfrm flipH="false" flipV="false" rot="0">
              <a:off x="0" y="0"/>
              <a:ext cx="183918" cy="175703"/>
            </a:xfrm>
            <a:custGeom>
              <a:avLst/>
              <a:gdLst/>
              <a:ahLst/>
              <a:cxnLst/>
              <a:rect r="r" b="b" t="t" l="l"/>
              <a:pathLst>
                <a:path h="175703" w="183918">
                  <a:moveTo>
                    <a:pt x="0" y="0"/>
                  </a:moveTo>
                  <a:lnTo>
                    <a:pt x="183918" y="0"/>
                  </a:lnTo>
                  <a:lnTo>
                    <a:pt x="183918" y="175703"/>
                  </a:lnTo>
                  <a:lnTo>
                    <a:pt x="0" y="175703"/>
                  </a:lnTo>
                  <a:close/>
                </a:path>
              </a:pathLst>
            </a:custGeom>
            <a:solidFill>
              <a:srgbClr val="000000">
                <a:alpha val="0"/>
              </a:srgbClr>
            </a:solidFill>
            <a:ln w="38100" cap="sq">
              <a:solidFill>
                <a:srgbClr val="000000"/>
              </a:solidFill>
              <a:prstDash val="solid"/>
              <a:miter/>
            </a:ln>
          </p:spPr>
        </p:sp>
        <p:sp>
          <p:nvSpPr>
            <p:cNvPr name="TextBox 20" id="20"/>
            <p:cNvSpPr txBox="true"/>
            <p:nvPr/>
          </p:nvSpPr>
          <p:spPr>
            <a:xfrm>
              <a:off x="0" y="-9525"/>
              <a:ext cx="183918" cy="185228"/>
            </a:xfrm>
            <a:prstGeom prst="rect">
              <a:avLst/>
            </a:prstGeom>
          </p:spPr>
          <p:txBody>
            <a:bodyPr anchor="ctr" rtlCol="false" tIns="50800" lIns="50800" bIns="50800" rIns="50800"/>
            <a:lstStyle/>
            <a:p>
              <a:pPr algn="ctr">
                <a:lnSpc>
                  <a:spcPts val="2879"/>
                </a:lnSpc>
              </a:pPr>
            </a:p>
          </p:txBody>
        </p:sp>
      </p:grpSp>
      <p:grpSp>
        <p:nvGrpSpPr>
          <p:cNvPr name="Group 21" id="21"/>
          <p:cNvGrpSpPr/>
          <p:nvPr/>
        </p:nvGrpSpPr>
        <p:grpSpPr>
          <a:xfrm rot="0">
            <a:off x="16116310" y="1997685"/>
            <a:ext cx="1319437" cy="1205280"/>
            <a:chOff x="0" y="0"/>
            <a:chExt cx="1018392" cy="930281"/>
          </a:xfrm>
        </p:grpSpPr>
        <p:sp>
          <p:nvSpPr>
            <p:cNvPr name="Freeform 22" id="22"/>
            <p:cNvSpPr/>
            <p:nvPr/>
          </p:nvSpPr>
          <p:spPr>
            <a:xfrm flipH="false" flipV="false" rot="0">
              <a:off x="0" y="0"/>
              <a:ext cx="1018392" cy="930281"/>
            </a:xfrm>
            <a:custGeom>
              <a:avLst/>
              <a:gdLst/>
              <a:ahLst/>
              <a:cxnLst/>
              <a:rect r="r" b="b" t="t" l="l"/>
              <a:pathLst>
                <a:path h="930281" w="1018392">
                  <a:moveTo>
                    <a:pt x="509196" y="0"/>
                  </a:moveTo>
                  <a:cubicBezTo>
                    <a:pt x="227975" y="0"/>
                    <a:pt x="0" y="208251"/>
                    <a:pt x="0" y="465141"/>
                  </a:cubicBezTo>
                  <a:cubicBezTo>
                    <a:pt x="0" y="722031"/>
                    <a:pt x="227975" y="930281"/>
                    <a:pt x="509196" y="930281"/>
                  </a:cubicBezTo>
                  <a:cubicBezTo>
                    <a:pt x="790417" y="930281"/>
                    <a:pt x="1018392" y="722031"/>
                    <a:pt x="1018392" y="465141"/>
                  </a:cubicBezTo>
                  <a:cubicBezTo>
                    <a:pt x="1018392" y="208251"/>
                    <a:pt x="790417" y="0"/>
                    <a:pt x="509196" y="0"/>
                  </a:cubicBezTo>
                  <a:close/>
                </a:path>
              </a:pathLst>
            </a:custGeom>
            <a:solidFill>
              <a:srgbClr val="000000">
                <a:alpha val="0"/>
              </a:srgbClr>
            </a:solidFill>
            <a:ln w="38100" cap="sq">
              <a:solidFill>
                <a:srgbClr val="000000"/>
              </a:solidFill>
              <a:prstDash val="solid"/>
              <a:miter/>
            </a:ln>
          </p:spPr>
        </p:sp>
        <p:sp>
          <p:nvSpPr>
            <p:cNvPr name="TextBox 23" id="23"/>
            <p:cNvSpPr txBox="true"/>
            <p:nvPr/>
          </p:nvSpPr>
          <p:spPr>
            <a:xfrm>
              <a:off x="95474" y="77689"/>
              <a:ext cx="827444" cy="765379"/>
            </a:xfrm>
            <a:prstGeom prst="rect">
              <a:avLst/>
            </a:prstGeom>
          </p:spPr>
          <p:txBody>
            <a:bodyPr anchor="ctr" rtlCol="false" tIns="50800" lIns="50800" bIns="50800" rIns="50800"/>
            <a:lstStyle/>
            <a:p>
              <a:pPr algn="ctr">
                <a:lnSpc>
                  <a:spcPts val="2879"/>
                </a:lnSpc>
              </a:pPr>
              <a:r>
                <a:rPr lang="en-US" sz="2400">
                  <a:solidFill>
                    <a:srgbClr val="000000"/>
                  </a:solidFill>
                  <a:latin typeface="Arial"/>
                  <a:ea typeface="Arial"/>
                  <a:cs typeface="Arial"/>
                  <a:sym typeface="Arial"/>
                </a:rPr>
                <a:t>STOP</a:t>
              </a:r>
            </a:p>
          </p:txBody>
        </p:sp>
      </p:grpSp>
      <p:grpSp>
        <p:nvGrpSpPr>
          <p:cNvPr name="Group 24" id="24"/>
          <p:cNvGrpSpPr/>
          <p:nvPr/>
        </p:nvGrpSpPr>
        <p:grpSpPr>
          <a:xfrm rot="0">
            <a:off x="5242325" y="2334459"/>
            <a:ext cx="2078303" cy="615949"/>
            <a:chOff x="0" y="0"/>
            <a:chExt cx="700306" cy="207550"/>
          </a:xfrm>
        </p:grpSpPr>
        <p:sp>
          <p:nvSpPr>
            <p:cNvPr name="Freeform 25" id="25"/>
            <p:cNvSpPr/>
            <p:nvPr/>
          </p:nvSpPr>
          <p:spPr>
            <a:xfrm flipH="false" flipV="false" rot="0">
              <a:off x="0" y="0"/>
              <a:ext cx="700306" cy="207551"/>
            </a:xfrm>
            <a:custGeom>
              <a:avLst/>
              <a:gdLst/>
              <a:ahLst/>
              <a:cxnLst/>
              <a:rect r="r" b="b" t="t" l="l"/>
              <a:pathLst>
                <a:path h="207551" w="700306">
                  <a:moveTo>
                    <a:pt x="0" y="0"/>
                  </a:moveTo>
                  <a:lnTo>
                    <a:pt x="700306" y="0"/>
                  </a:lnTo>
                  <a:lnTo>
                    <a:pt x="700306" y="207551"/>
                  </a:lnTo>
                  <a:lnTo>
                    <a:pt x="0" y="207551"/>
                  </a:lnTo>
                  <a:close/>
                </a:path>
              </a:pathLst>
            </a:custGeom>
            <a:solidFill>
              <a:srgbClr val="000000">
                <a:alpha val="0"/>
              </a:srgbClr>
            </a:solidFill>
            <a:ln w="38100" cap="sq">
              <a:solidFill>
                <a:srgbClr val="000000"/>
              </a:solidFill>
              <a:prstDash val="solid"/>
              <a:miter/>
            </a:ln>
          </p:spPr>
        </p:sp>
        <p:sp>
          <p:nvSpPr>
            <p:cNvPr name="TextBox 26" id="26"/>
            <p:cNvSpPr txBox="true"/>
            <p:nvPr/>
          </p:nvSpPr>
          <p:spPr>
            <a:xfrm>
              <a:off x="0" y="-19050"/>
              <a:ext cx="700306" cy="226600"/>
            </a:xfrm>
            <a:prstGeom prst="rect">
              <a:avLst/>
            </a:prstGeom>
          </p:spPr>
          <p:txBody>
            <a:bodyPr anchor="ctr" rtlCol="false" tIns="50800" lIns="50800" bIns="50800" rIns="50800"/>
            <a:lstStyle/>
            <a:p>
              <a:pPr algn="ctr">
                <a:lnSpc>
                  <a:spcPts val="2040"/>
                </a:lnSpc>
              </a:pPr>
              <a:r>
                <a:rPr lang="en-US" sz="1700">
                  <a:solidFill>
                    <a:srgbClr val="000000"/>
                  </a:solidFill>
                  <a:latin typeface="Arial"/>
                  <a:ea typeface="Arial"/>
                  <a:cs typeface="Arial"/>
                  <a:sym typeface="Arial"/>
                </a:rPr>
                <a:t>Graph Construction</a:t>
              </a:r>
            </a:p>
          </p:txBody>
        </p:sp>
      </p:grpSp>
      <p:grpSp>
        <p:nvGrpSpPr>
          <p:cNvPr name="Group 27" id="27"/>
          <p:cNvGrpSpPr/>
          <p:nvPr/>
        </p:nvGrpSpPr>
        <p:grpSpPr>
          <a:xfrm rot="0">
            <a:off x="7787030" y="2262409"/>
            <a:ext cx="1908178" cy="760048"/>
            <a:chOff x="0" y="0"/>
            <a:chExt cx="642981" cy="256106"/>
          </a:xfrm>
        </p:grpSpPr>
        <p:sp>
          <p:nvSpPr>
            <p:cNvPr name="Freeform 28" id="28"/>
            <p:cNvSpPr/>
            <p:nvPr/>
          </p:nvSpPr>
          <p:spPr>
            <a:xfrm flipH="false" flipV="false" rot="0">
              <a:off x="0" y="0"/>
              <a:ext cx="642981" cy="256106"/>
            </a:xfrm>
            <a:custGeom>
              <a:avLst/>
              <a:gdLst/>
              <a:ahLst/>
              <a:cxnLst/>
              <a:rect r="r" b="b" t="t" l="l"/>
              <a:pathLst>
                <a:path h="256106" w="642981">
                  <a:moveTo>
                    <a:pt x="0" y="0"/>
                  </a:moveTo>
                  <a:lnTo>
                    <a:pt x="642981" y="0"/>
                  </a:lnTo>
                  <a:lnTo>
                    <a:pt x="642981" y="256106"/>
                  </a:lnTo>
                  <a:lnTo>
                    <a:pt x="0" y="256106"/>
                  </a:lnTo>
                  <a:close/>
                </a:path>
              </a:pathLst>
            </a:custGeom>
            <a:solidFill>
              <a:srgbClr val="000000">
                <a:alpha val="0"/>
              </a:srgbClr>
            </a:solidFill>
            <a:ln w="38100" cap="sq">
              <a:solidFill>
                <a:srgbClr val="000000"/>
              </a:solidFill>
              <a:prstDash val="solid"/>
              <a:miter/>
            </a:ln>
          </p:spPr>
        </p:sp>
        <p:sp>
          <p:nvSpPr>
            <p:cNvPr name="TextBox 29" id="29"/>
            <p:cNvSpPr txBox="true"/>
            <p:nvPr/>
          </p:nvSpPr>
          <p:spPr>
            <a:xfrm>
              <a:off x="0" y="-19050"/>
              <a:ext cx="642981" cy="275156"/>
            </a:xfrm>
            <a:prstGeom prst="rect">
              <a:avLst/>
            </a:prstGeom>
          </p:spPr>
          <p:txBody>
            <a:bodyPr anchor="ctr" rtlCol="false" tIns="50800" lIns="50800" bIns="50800" rIns="50800"/>
            <a:lstStyle/>
            <a:p>
              <a:pPr algn="ctr">
                <a:lnSpc>
                  <a:spcPts val="2040"/>
                </a:lnSpc>
              </a:pPr>
              <a:r>
                <a:rPr lang="en-US" sz="1700">
                  <a:solidFill>
                    <a:srgbClr val="000000"/>
                  </a:solidFill>
                  <a:latin typeface="Arial"/>
                  <a:ea typeface="Arial"/>
                  <a:cs typeface="Arial"/>
                  <a:sym typeface="Arial"/>
                </a:rPr>
                <a:t>Update Phermone Levels</a:t>
              </a:r>
            </a:p>
          </p:txBody>
        </p:sp>
      </p:grpSp>
      <p:grpSp>
        <p:nvGrpSpPr>
          <p:cNvPr name="Group 30" id="30"/>
          <p:cNvGrpSpPr/>
          <p:nvPr/>
        </p:nvGrpSpPr>
        <p:grpSpPr>
          <a:xfrm rot="0">
            <a:off x="11495326" y="2273300"/>
            <a:ext cx="1751441" cy="615949"/>
            <a:chOff x="0" y="0"/>
            <a:chExt cx="590166" cy="207550"/>
          </a:xfrm>
        </p:grpSpPr>
        <p:sp>
          <p:nvSpPr>
            <p:cNvPr name="Freeform 31" id="31"/>
            <p:cNvSpPr/>
            <p:nvPr/>
          </p:nvSpPr>
          <p:spPr>
            <a:xfrm flipH="false" flipV="false" rot="0">
              <a:off x="0" y="0"/>
              <a:ext cx="590166" cy="207551"/>
            </a:xfrm>
            <a:custGeom>
              <a:avLst/>
              <a:gdLst/>
              <a:ahLst/>
              <a:cxnLst/>
              <a:rect r="r" b="b" t="t" l="l"/>
              <a:pathLst>
                <a:path h="207551" w="590166">
                  <a:moveTo>
                    <a:pt x="0" y="0"/>
                  </a:moveTo>
                  <a:lnTo>
                    <a:pt x="590166" y="0"/>
                  </a:lnTo>
                  <a:lnTo>
                    <a:pt x="590166" y="207551"/>
                  </a:lnTo>
                  <a:lnTo>
                    <a:pt x="0" y="207551"/>
                  </a:lnTo>
                  <a:close/>
                </a:path>
              </a:pathLst>
            </a:custGeom>
            <a:solidFill>
              <a:srgbClr val="000000">
                <a:alpha val="0"/>
              </a:srgbClr>
            </a:solidFill>
            <a:ln w="38100" cap="sq">
              <a:solidFill>
                <a:srgbClr val="000000"/>
              </a:solidFill>
              <a:prstDash val="solid"/>
              <a:miter/>
            </a:ln>
          </p:spPr>
        </p:sp>
        <p:sp>
          <p:nvSpPr>
            <p:cNvPr name="TextBox 32" id="32"/>
            <p:cNvSpPr txBox="true"/>
            <p:nvPr/>
          </p:nvSpPr>
          <p:spPr>
            <a:xfrm>
              <a:off x="0" y="-19050"/>
              <a:ext cx="590166" cy="226600"/>
            </a:xfrm>
            <a:prstGeom prst="rect">
              <a:avLst/>
            </a:prstGeom>
          </p:spPr>
          <p:txBody>
            <a:bodyPr anchor="ctr" rtlCol="false" tIns="50800" lIns="50800" bIns="50800" rIns="50800"/>
            <a:lstStyle/>
            <a:p>
              <a:pPr algn="ctr">
                <a:lnSpc>
                  <a:spcPts val="2040"/>
                </a:lnSpc>
              </a:pPr>
              <a:r>
                <a:rPr lang="en-US" sz="1700">
                  <a:solidFill>
                    <a:srgbClr val="000000"/>
                  </a:solidFill>
                  <a:latin typeface="Arial"/>
                  <a:ea typeface="Arial"/>
                  <a:cs typeface="Arial"/>
                  <a:sym typeface="Arial"/>
                </a:rPr>
                <a:t>Select Best Path</a:t>
              </a:r>
            </a:p>
          </p:txBody>
        </p:sp>
      </p:grpSp>
      <p:grpSp>
        <p:nvGrpSpPr>
          <p:cNvPr name="Group 33" id="33"/>
          <p:cNvGrpSpPr/>
          <p:nvPr/>
        </p:nvGrpSpPr>
        <p:grpSpPr>
          <a:xfrm rot="0">
            <a:off x="13802894" y="2220301"/>
            <a:ext cx="1782184" cy="760048"/>
            <a:chOff x="0" y="0"/>
            <a:chExt cx="600526" cy="256106"/>
          </a:xfrm>
        </p:grpSpPr>
        <p:sp>
          <p:nvSpPr>
            <p:cNvPr name="Freeform 34" id="34"/>
            <p:cNvSpPr/>
            <p:nvPr/>
          </p:nvSpPr>
          <p:spPr>
            <a:xfrm flipH="false" flipV="false" rot="0">
              <a:off x="0" y="0"/>
              <a:ext cx="600526" cy="256106"/>
            </a:xfrm>
            <a:custGeom>
              <a:avLst/>
              <a:gdLst/>
              <a:ahLst/>
              <a:cxnLst/>
              <a:rect r="r" b="b" t="t" l="l"/>
              <a:pathLst>
                <a:path h="256106" w="600526">
                  <a:moveTo>
                    <a:pt x="0" y="0"/>
                  </a:moveTo>
                  <a:lnTo>
                    <a:pt x="600526" y="0"/>
                  </a:lnTo>
                  <a:lnTo>
                    <a:pt x="600526" y="256106"/>
                  </a:lnTo>
                  <a:lnTo>
                    <a:pt x="0" y="256106"/>
                  </a:lnTo>
                  <a:close/>
                </a:path>
              </a:pathLst>
            </a:custGeom>
            <a:solidFill>
              <a:srgbClr val="000000">
                <a:alpha val="0"/>
              </a:srgbClr>
            </a:solidFill>
            <a:ln w="38100" cap="sq">
              <a:solidFill>
                <a:srgbClr val="000000"/>
              </a:solidFill>
              <a:prstDash val="solid"/>
              <a:miter/>
            </a:ln>
          </p:spPr>
        </p:sp>
        <p:sp>
          <p:nvSpPr>
            <p:cNvPr name="TextBox 35" id="35"/>
            <p:cNvSpPr txBox="true"/>
            <p:nvPr/>
          </p:nvSpPr>
          <p:spPr>
            <a:xfrm>
              <a:off x="0" y="-19050"/>
              <a:ext cx="600526" cy="275156"/>
            </a:xfrm>
            <a:prstGeom prst="rect">
              <a:avLst/>
            </a:prstGeom>
          </p:spPr>
          <p:txBody>
            <a:bodyPr anchor="ctr" rtlCol="false" tIns="50800" lIns="50800" bIns="50800" rIns="50800"/>
            <a:lstStyle/>
            <a:p>
              <a:pPr algn="ctr">
                <a:lnSpc>
                  <a:spcPts val="2040"/>
                </a:lnSpc>
              </a:pPr>
              <a:r>
                <a:rPr lang="en-US" sz="1700">
                  <a:solidFill>
                    <a:srgbClr val="000000"/>
                  </a:solidFill>
                  <a:latin typeface="Arial"/>
                  <a:ea typeface="Arial"/>
                  <a:cs typeface="Arial"/>
                  <a:sym typeface="Arial"/>
                </a:rPr>
                <a:t>Optimized Itinerary JSON</a:t>
              </a:r>
            </a:p>
          </p:txBody>
        </p:sp>
      </p:grpSp>
      <p:grpSp>
        <p:nvGrpSpPr>
          <p:cNvPr name="Group 36" id="36"/>
          <p:cNvGrpSpPr/>
          <p:nvPr/>
        </p:nvGrpSpPr>
        <p:grpSpPr>
          <a:xfrm rot="0">
            <a:off x="2174029" y="3903927"/>
            <a:ext cx="2401749" cy="844264"/>
            <a:chOff x="0" y="0"/>
            <a:chExt cx="809295" cy="284484"/>
          </a:xfrm>
        </p:grpSpPr>
        <p:sp>
          <p:nvSpPr>
            <p:cNvPr name="Freeform 37" id="37"/>
            <p:cNvSpPr/>
            <p:nvPr/>
          </p:nvSpPr>
          <p:spPr>
            <a:xfrm flipH="false" flipV="false" rot="0">
              <a:off x="0" y="0"/>
              <a:ext cx="809294" cy="284484"/>
            </a:xfrm>
            <a:custGeom>
              <a:avLst/>
              <a:gdLst/>
              <a:ahLst/>
              <a:cxnLst/>
              <a:rect r="r" b="b" t="t" l="l"/>
              <a:pathLst>
                <a:path h="284484" w="809294">
                  <a:moveTo>
                    <a:pt x="0" y="0"/>
                  </a:moveTo>
                  <a:lnTo>
                    <a:pt x="809294" y="0"/>
                  </a:lnTo>
                  <a:lnTo>
                    <a:pt x="809294" y="284484"/>
                  </a:lnTo>
                  <a:lnTo>
                    <a:pt x="0" y="284484"/>
                  </a:lnTo>
                  <a:close/>
                </a:path>
              </a:pathLst>
            </a:custGeom>
            <a:solidFill>
              <a:srgbClr val="000000">
                <a:alpha val="0"/>
              </a:srgbClr>
            </a:solidFill>
            <a:ln w="38100" cap="sq">
              <a:solidFill>
                <a:srgbClr val="000000"/>
              </a:solidFill>
              <a:prstDash val="solid"/>
              <a:miter/>
            </a:ln>
          </p:spPr>
        </p:sp>
        <p:sp>
          <p:nvSpPr>
            <p:cNvPr name="TextBox 38" id="38"/>
            <p:cNvSpPr txBox="true"/>
            <p:nvPr/>
          </p:nvSpPr>
          <p:spPr>
            <a:xfrm>
              <a:off x="0" y="-19050"/>
              <a:ext cx="809295" cy="303534"/>
            </a:xfrm>
            <a:prstGeom prst="rect">
              <a:avLst/>
            </a:prstGeom>
          </p:spPr>
          <p:txBody>
            <a:bodyPr anchor="ctr" rtlCol="false" tIns="50800" lIns="50800" bIns="50800" rIns="50800"/>
            <a:lstStyle/>
            <a:p>
              <a:pPr algn="ctr">
                <a:lnSpc>
                  <a:spcPts val="2040"/>
                </a:lnSpc>
              </a:pPr>
              <a:r>
                <a:rPr lang="en-US" sz="1700">
                  <a:solidFill>
                    <a:srgbClr val="000000"/>
                  </a:solidFill>
                  <a:latin typeface="Arial"/>
                  <a:ea typeface="Arial"/>
                  <a:cs typeface="Arial"/>
                  <a:sym typeface="Arial"/>
                </a:rPr>
                <a:t>Initialize Ant Colony Parameters</a:t>
              </a:r>
            </a:p>
          </p:txBody>
        </p:sp>
      </p:grpSp>
      <p:grpSp>
        <p:nvGrpSpPr>
          <p:cNvPr name="Group 39" id="39"/>
          <p:cNvGrpSpPr/>
          <p:nvPr/>
        </p:nvGrpSpPr>
        <p:grpSpPr>
          <a:xfrm rot="0">
            <a:off x="5080602" y="3903927"/>
            <a:ext cx="2401749" cy="1017223"/>
            <a:chOff x="0" y="0"/>
            <a:chExt cx="809295" cy="342764"/>
          </a:xfrm>
        </p:grpSpPr>
        <p:sp>
          <p:nvSpPr>
            <p:cNvPr name="Freeform 40" id="40"/>
            <p:cNvSpPr/>
            <p:nvPr/>
          </p:nvSpPr>
          <p:spPr>
            <a:xfrm flipH="false" flipV="false" rot="0">
              <a:off x="0" y="0"/>
              <a:ext cx="809294" cy="342764"/>
            </a:xfrm>
            <a:custGeom>
              <a:avLst/>
              <a:gdLst/>
              <a:ahLst/>
              <a:cxnLst/>
              <a:rect r="r" b="b" t="t" l="l"/>
              <a:pathLst>
                <a:path h="342764" w="809294">
                  <a:moveTo>
                    <a:pt x="0" y="0"/>
                  </a:moveTo>
                  <a:lnTo>
                    <a:pt x="809294" y="0"/>
                  </a:lnTo>
                  <a:lnTo>
                    <a:pt x="809294" y="342764"/>
                  </a:lnTo>
                  <a:lnTo>
                    <a:pt x="0" y="342764"/>
                  </a:lnTo>
                  <a:close/>
                </a:path>
              </a:pathLst>
            </a:custGeom>
            <a:solidFill>
              <a:srgbClr val="000000">
                <a:alpha val="0"/>
              </a:srgbClr>
            </a:solidFill>
            <a:ln w="38100" cap="sq">
              <a:solidFill>
                <a:srgbClr val="000000"/>
              </a:solidFill>
              <a:prstDash val="solid"/>
              <a:miter/>
            </a:ln>
          </p:spPr>
        </p:sp>
        <p:sp>
          <p:nvSpPr>
            <p:cNvPr name="TextBox 41" id="41"/>
            <p:cNvSpPr txBox="true"/>
            <p:nvPr/>
          </p:nvSpPr>
          <p:spPr>
            <a:xfrm>
              <a:off x="0" y="-19050"/>
              <a:ext cx="809295" cy="361814"/>
            </a:xfrm>
            <a:prstGeom prst="rect">
              <a:avLst/>
            </a:prstGeom>
          </p:spPr>
          <p:txBody>
            <a:bodyPr anchor="ctr" rtlCol="false" tIns="50800" lIns="50800" bIns="50800" rIns="50800"/>
            <a:lstStyle/>
            <a:p>
              <a:pPr algn="ctr">
                <a:lnSpc>
                  <a:spcPts val="2040"/>
                </a:lnSpc>
              </a:pPr>
              <a:r>
                <a:rPr lang="en-US" sz="1700">
                  <a:solidFill>
                    <a:srgbClr val="000000"/>
                  </a:solidFill>
                  <a:latin typeface="Arial"/>
                  <a:ea typeface="Arial"/>
                  <a:cs typeface="Arial"/>
                  <a:sym typeface="Arial"/>
                </a:rPr>
                <a:t>Find Optimal path based on Pheromone levels</a:t>
              </a:r>
            </a:p>
          </p:txBody>
        </p:sp>
      </p:grpSp>
      <p:grpSp>
        <p:nvGrpSpPr>
          <p:cNvPr name="Group 42" id="42"/>
          <p:cNvGrpSpPr/>
          <p:nvPr/>
        </p:nvGrpSpPr>
        <p:grpSpPr>
          <a:xfrm rot="0">
            <a:off x="8044497" y="3903927"/>
            <a:ext cx="2401749" cy="1017223"/>
            <a:chOff x="0" y="0"/>
            <a:chExt cx="809295" cy="342764"/>
          </a:xfrm>
        </p:grpSpPr>
        <p:sp>
          <p:nvSpPr>
            <p:cNvPr name="Freeform 43" id="43"/>
            <p:cNvSpPr/>
            <p:nvPr/>
          </p:nvSpPr>
          <p:spPr>
            <a:xfrm flipH="false" flipV="false" rot="0">
              <a:off x="0" y="0"/>
              <a:ext cx="809294" cy="342764"/>
            </a:xfrm>
            <a:custGeom>
              <a:avLst/>
              <a:gdLst/>
              <a:ahLst/>
              <a:cxnLst/>
              <a:rect r="r" b="b" t="t" l="l"/>
              <a:pathLst>
                <a:path h="342764" w="809294">
                  <a:moveTo>
                    <a:pt x="0" y="0"/>
                  </a:moveTo>
                  <a:lnTo>
                    <a:pt x="809294" y="0"/>
                  </a:lnTo>
                  <a:lnTo>
                    <a:pt x="809294" y="342764"/>
                  </a:lnTo>
                  <a:lnTo>
                    <a:pt x="0" y="342764"/>
                  </a:lnTo>
                  <a:close/>
                </a:path>
              </a:pathLst>
            </a:custGeom>
            <a:solidFill>
              <a:srgbClr val="000000">
                <a:alpha val="0"/>
              </a:srgbClr>
            </a:solidFill>
            <a:ln w="38100" cap="sq">
              <a:solidFill>
                <a:srgbClr val="000000"/>
              </a:solidFill>
              <a:prstDash val="solid"/>
              <a:miter/>
            </a:ln>
          </p:spPr>
        </p:sp>
        <p:sp>
          <p:nvSpPr>
            <p:cNvPr name="TextBox 44" id="44"/>
            <p:cNvSpPr txBox="true"/>
            <p:nvPr/>
          </p:nvSpPr>
          <p:spPr>
            <a:xfrm>
              <a:off x="0" y="-19050"/>
              <a:ext cx="809295" cy="361814"/>
            </a:xfrm>
            <a:prstGeom prst="rect">
              <a:avLst/>
            </a:prstGeom>
          </p:spPr>
          <p:txBody>
            <a:bodyPr anchor="ctr" rtlCol="false" tIns="50800" lIns="50800" bIns="50800" rIns="50800"/>
            <a:lstStyle/>
            <a:p>
              <a:pPr algn="ctr">
                <a:lnSpc>
                  <a:spcPts val="2040"/>
                </a:lnSpc>
              </a:pPr>
              <a:r>
                <a:rPr lang="en-US" sz="1700">
                  <a:solidFill>
                    <a:srgbClr val="000000"/>
                  </a:solidFill>
                  <a:latin typeface="Arial"/>
                  <a:ea typeface="Arial"/>
                  <a:cs typeface="Arial"/>
                  <a:sym typeface="Arial"/>
                </a:rPr>
                <a:t>Evaluate each path: Distance + Sustainability Score</a:t>
              </a:r>
            </a:p>
          </p:txBody>
        </p:sp>
      </p:grpSp>
      <p:sp>
        <p:nvSpPr>
          <p:cNvPr name="AutoShape 45" id="45"/>
          <p:cNvSpPr/>
          <p:nvPr/>
        </p:nvSpPr>
        <p:spPr>
          <a:xfrm>
            <a:off x="1769099" y="2642433"/>
            <a:ext cx="444479" cy="0"/>
          </a:xfrm>
          <a:prstGeom prst="line">
            <a:avLst/>
          </a:prstGeom>
          <a:ln cap="flat" w="38100">
            <a:solidFill>
              <a:srgbClr val="000000"/>
            </a:solidFill>
            <a:prstDash val="solid"/>
            <a:headEnd type="none" len="sm" w="sm"/>
            <a:tailEnd type="arrow" len="sm" w="med"/>
          </a:ln>
        </p:spPr>
      </p:sp>
      <p:sp>
        <p:nvSpPr>
          <p:cNvPr name="AutoShape 46" id="46"/>
          <p:cNvSpPr/>
          <p:nvPr/>
        </p:nvSpPr>
        <p:spPr>
          <a:xfrm>
            <a:off x="4743962" y="2589434"/>
            <a:ext cx="444479" cy="0"/>
          </a:xfrm>
          <a:prstGeom prst="line">
            <a:avLst/>
          </a:prstGeom>
          <a:ln cap="flat" w="38100">
            <a:solidFill>
              <a:srgbClr val="000000"/>
            </a:solidFill>
            <a:prstDash val="solid"/>
            <a:headEnd type="none" len="sm" w="sm"/>
            <a:tailEnd type="arrow" len="sm" w="med"/>
          </a:ln>
        </p:spPr>
      </p:sp>
      <p:sp>
        <p:nvSpPr>
          <p:cNvPr name="AutoShape 47" id="47"/>
          <p:cNvSpPr/>
          <p:nvPr/>
        </p:nvSpPr>
        <p:spPr>
          <a:xfrm>
            <a:off x="7320628" y="2642433"/>
            <a:ext cx="444479" cy="0"/>
          </a:xfrm>
          <a:prstGeom prst="line">
            <a:avLst/>
          </a:prstGeom>
          <a:ln cap="flat" w="38100">
            <a:solidFill>
              <a:srgbClr val="000000"/>
            </a:solidFill>
            <a:prstDash val="solid"/>
            <a:headEnd type="none" len="sm" w="sm"/>
            <a:tailEnd type="arrow" len="sm" w="med"/>
          </a:ln>
        </p:spPr>
      </p:sp>
      <p:sp>
        <p:nvSpPr>
          <p:cNvPr name="AutoShape 48" id="48"/>
          <p:cNvSpPr/>
          <p:nvPr/>
        </p:nvSpPr>
        <p:spPr>
          <a:xfrm>
            <a:off x="9695208" y="2589434"/>
            <a:ext cx="444479" cy="0"/>
          </a:xfrm>
          <a:prstGeom prst="line">
            <a:avLst/>
          </a:prstGeom>
          <a:ln cap="flat" w="38100">
            <a:solidFill>
              <a:srgbClr val="000000"/>
            </a:solidFill>
            <a:prstDash val="solid"/>
            <a:headEnd type="none" len="sm" w="sm"/>
            <a:tailEnd type="arrow" len="sm" w="med"/>
          </a:ln>
        </p:spPr>
      </p:sp>
      <p:sp>
        <p:nvSpPr>
          <p:cNvPr name="AutoShape 49" id="49"/>
          <p:cNvSpPr/>
          <p:nvPr/>
        </p:nvSpPr>
        <p:spPr>
          <a:xfrm>
            <a:off x="10987850" y="2581275"/>
            <a:ext cx="444479" cy="0"/>
          </a:xfrm>
          <a:prstGeom prst="line">
            <a:avLst/>
          </a:prstGeom>
          <a:ln cap="flat" w="38100">
            <a:solidFill>
              <a:srgbClr val="000000"/>
            </a:solidFill>
            <a:prstDash val="solid"/>
            <a:headEnd type="none" len="sm" w="sm"/>
            <a:tailEnd type="arrow" len="sm" w="med"/>
          </a:ln>
        </p:spPr>
      </p:sp>
      <p:sp>
        <p:nvSpPr>
          <p:cNvPr name="AutoShape 50" id="50"/>
          <p:cNvSpPr/>
          <p:nvPr/>
        </p:nvSpPr>
        <p:spPr>
          <a:xfrm>
            <a:off x="13291741" y="2581275"/>
            <a:ext cx="444479" cy="0"/>
          </a:xfrm>
          <a:prstGeom prst="line">
            <a:avLst/>
          </a:prstGeom>
          <a:ln cap="flat" w="38100">
            <a:solidFill>
              <a:srgbClr val="000000"/>
            </a:solidFill>
            <a:prstDash val="solid"/>
            <a:headEnd type="none" len="sm" w="sm"/>
            <a:tailEnd type="arrow" len="sm" w="med"/>
          </a:ln>
        </p:spPr>
      </p:sp>
      <p:sp>
        <p:nvSpPr>
          <p:cNvPr name="AutoShape 51" id="51"/>
          <p:cNvSpPr/>
          <p:nvPr/>
        </p:nvSpPr>
        <p:spPr>
          <a:xfrm>
            <a:off x="15671831" y="2581275"/>
            <a:ext cx="444479" cy="0"/>
          </a:xfrm>
          <a:prstGeom prst="line">
            <a:avLst/>
          </a:prstGeom>
          <a:ln cap="flat" w="38100">
            <a:solidFill>
              <a:srgbClr val="000000"/>
            </a:solidFill>
            <a:prstDash val="solid"/>
            <a:headEnd type="none" len="sm" w="sm"/>
            <a:tailEnd type="arrow" len="sm" w="med"/>
          </a:ln>
        </p:spPr>
      </p:sp>
      <p:sp>
        <p:nvSpPr>
          <p:cNvPr name="AutoShape 52" id="52"/>
          <p:cNvSpPr/>
          <p:nvPr/>
        </p:nvSpPr>
        <p:spPr>
          <a:xfrm flipH="true">
            <a:off x="6424260" y="3022457"/>
            <a:ext cx="4159481" cy="730785"/>
          </a:xfrm>
          <a:prstGeom prst="line">
            <a:avLst/>
          </a:prstGeom>
          <a:ln cap="flat" w="38100">
            <a:solidFill>
              <a:srgbClr val="000000"/>
            </a:solidFill>
            <a:prstDash val="solid"/>
            <a:headEnd type="none" len="sm" w="sm"/>
            <a:tailEnd type="arrow" len="sm" w="med"/>
          </a:ln>
        </p:spPr>
      </p:sp>
      <p:sp>
        <p:nvSpPr>
          <p:cNvPr name="AutoShape 53" id="53"/>
          <p:cNvSpPr/>
          <p:nvPr/>
        </p:nvSpPr>
        <p:spPr>
          <a:xfrm>
            <a:off x="4605950" y="4345109"/>
            <a:ext cx="444479" cy="0"/>
          </a:xfrm>
          <a:prstGeom prst="line">
            <a:avLst/>
          </a:prstGeom>
          <a:ln cap="flat" w="38100">
            <a:solidFill>
              <a:srgbClr val="000000"/>
            </a:solidFill>
            <a:prstDash val="solid"/>
            <a:headEnd type="none" len="sm" w="sm"/>
            <a:tailEnd type="arrow" len="sm" w="med"/>
          </a:ln>
        </p:spPr>
      </p:sp>
      <p:sp>
        <p:nvSpPr>
          <p:cNvPr name="AutoShape 54" id="54"/>
          <p:cNvSpPr/>
          <p:nvPr/>
        </p:nvSpPr>
        <p:spPr>
          <a:xfrm>
            <a:off x="7542868" y="4393488"/>
            <a:ext cx="444479" cy="0"/>
          </a:xfrm>
          <a:prstGeom prst="line">
            <a:avLst/>
          </a:prstGeom>
          <a:ln cap="flat" w="38100">
            <a:solidFill>
              <a:srgbClr val="000000"/>
            </a:solidFill>
            <a:prstDash val="solid"/>
            <a:headEnd type="none" len="sm" w="sm"/>
            <a:tailEnd type="arrow" len="sm" w="med"/>
          </a:ln>
        </p:spPr>
      </p:sp>
      <p:sp>
        <p:nvSpPr>
          <p:cNvPr name="AutoShape 55" id="55"/>
          <p:cNvSpPr/>
          <p:nvPr/>
        </p:nvSpPr>
        <p:spPr>
          <a:xfrm>
            <a:off x="8847321" y="3164762"/>
            <a:ext cx="1598925" cy="1315623"/>
          </a:xfrm>
          <a:prstGeom prst="line">
            <a:avLst/>
          </a:prstGeom>
          <a:ln cap="flat" w="38100">
            <a:solidFill>
              <a:srgbClr val="000000"/>
            </a:solidFill>
            <a:prstDash val="solid"/>
            <a:headEnd type="none" len="sm" w="sm"/>
            <a:tailEnd type="arrow" len="sm" w="med"/>
          </a:ln>
        </p:spPr>
      </p:sp>
      <p:grpSp>
        <p:nvGrpSpPr>
          <p:cNvPr name="Group 56" id="56"/>
          <p:cNvGrpSpPr/>
          <p:nvPr/>
        </p:nvGrpSpPr>
        <p:grpSpPr>
          <a:xfrm rot="0">
            <a:off x="10937039" y="2252311"/>
            <a:ext cx="558286" cy="354285"/>
            <a:chOff x="0" y="0"/>
            <a:chExt cx="188120" cy="119380"/>
          </a:xfrm>
        </p:grpSpPr>
        <p:sp>
          <p:nvSpPr>
            <p:cNvPr name="Freeform 57" id="57"/>
            <p:cNvSpPr/>
            <p:nvPr/>
          </p:nvSpPr>
          <p:spPr>
            <a:xfrm flipH="false" flipV="false" rot="0">
              <a:off x="0" y="0"/>
              <a:ext cx="188120" cy="119380"/>
            </a:xfrm>
            <a:custGeom>
              <a:avLst/>
              <a:gdLst/>
              <a:ahLst/>
              <a:cxnLst/>
              <a:rect r="r" b="b" t="t" l="l"/>
              <a:pathLst>
                <a:path h="119380" w="188120">
                  <a:moveTo>
                    <a:pt x="0" y="0"/>
                  </a:moveTo>
                  <a:lnTo>
                    <a:pt x="188120" y="0"/>
                  </a:lnTo>
                  <a:lnTo>
                    <a:pt x="188120" y="119380"/>
                  </a:lnTo>
                  <a:lnTo>
                    <a:pt x="0" y="119380"/>
                  </a:lnTo>
                  <a:close/>
                </a:path>
              </a:pathLst>
            </a:custGeom>
            <a:solidFill>
              <a:srgbClr val="000000">
                <a:alpha val="0"/>
              </a:srgbClr>
            </a:solidFill>
            <a:ln cap="sq">
              <a:noFill/>
              <a:prstDash val="solid"/>
              <a:miter/>
            </a:ln>
          </p:spPr>
        </p:sp>
        <p:sp>
          <p:nvSpPr>
            <p:cNvPr name="TextBox 58" id="58"/>
            <p:cNvSpPr txBox="true"/>
            <p:nvPr/>
          </p:nvSpPr>
          <p:spPr>
            <a:xfrm>
              <a:off x="0" y="-9525"/>
              <a:ext cx="188120" cy="128905"/>
            </a:xfrm>
            <a:prstGeom prst="rect">
              <a:avLst/>
            </a:prstGeom>
          </p:spPr>
          <p:txBody>
            <a:bodyPr anchor="ctr" rtlCol="false" tIns="50800" lIns="50800" bIns="50800" rIns="50800"/>
            <a:lstStyle/>
            <a:p>
              <a:pPr algn="ctr">
                <a:lnSpc>
                  <a:spcPts val="1200"/>
                </a:lnSpc>
              </a:pPr>
              <a:r>
                <a:rPr lang="en-US" sz="1000">
                  <a:solidFill>
                    <a:srgbClr val="000000"/>
                  </a:solidFill>
                  <a:latin typeface="Arial"/>
                  <a:ea typeface="Arial"/>
                  <a:cs typeface="Arial"/>
                  <a:sym typeface="Arial"/>
                </a:rPr>
                <a:t>Yes</a:t>
              </a:r>
            </a:p>
          </p:txBody>
        </p:sp>
      </p:grpSp>
      <p:grpSp>
        <p:nvGrpSpPr>
          <p:cNvPr name="Group 59" id="59"/>
          <p:cNvGrpSpPr/>
          <p:nvPr/>
        </p:nvGrpSpPr>
        <p:grpSpPr>
          <a:xfrm rot="0">
            <a:off x="7869694" y="3202965"/>
            <a:ext cx="558286" cy="354285"/>
            <a:chOff x="0" y="0"/>
            <a:chExt cx="188120" cy="119380"/>
          </a:xfrm>
        </p:grpSpPr>
        <p:sp>
          <p:nvSpPr>
            <p:cNvPr name="Freeform 60" id="60"/>
            <p:cNvSpPr/>
            <p:nvPr/>
          </p:nvSpPr>
          <p:spPr>
            <a:xfrm flipH="false" flipV="false" rot="0">
              <a:off x="0" y="0"/>
              <a:ext cx="188120" cy="119380"/>
            </a:xfrm>
            <a:custGeom>
              <a:avLst/>
              <a:gdLst/>
              <a:ahLst/>
              <a:cxnLst/>
              <a:rect r="r" b="b" t="t" l="l"/>
              <a:pathLst>
                <a:path h="119380" w="188120">
                  <a:moveTo>
                    <a:pt x="0" y="0"/>
                  </a:moveTo>
                  <a:lnTo>
                    <a:pt x="188120" y="0"/>
                  </a:lnTo>
                  <a:lnTo>
                    <a:pt x="188120" y="119380"/>
                  </a:lnTo>
                  <a:lnTo>
                    <a:pt x="0" y="119380"/>
                  </a:lnTo>
                  <a:close/>
                </a:path>
              </a:pathLst>
            </a:custGeom>
            <a:solidFill>
              <a:srgbClr val="000000">
                <a:alpha val="0"/>
              </a:srgbClr>
            </a:solidFill>
            <a:ln cap="sq">
              <a:noFill/>
              <a:prstDash val="solid"/>
              <a:miter/>
            </a:ln>
          </p:spPr>
        </p:sp>
        <p:sp>
          <p:nvSpPr>
            <p:cNvPr name="TextBox 61" id="61"/>
            <p:cNvSpPr txBox="true"/>
            <p:nvPr/>
          </p:nvSpPr>
          <p:spPr>
            <a:xfrm>
              <a:off x="0" y="-9525"/>
              <a:ext cx="188120" cy="128905"/>
            </a:xfrm>
            <a:prstGeom prst="rect">
              <a:avLst/>
            </a:prstGeom>
          </p:spPr>
          <p:txBody>
            <a:bodyPr anchor="ctr" rtlCol="false" tIns="50800" lIns="50800" bIns="50800" rIns="50800"/>
            <a:lstStyle/>
            <a:p>
              <a:pPr algn="ctr">
                <a:lnSpc>
                  <a:spcPts val="1200"/>
                </a:lnSpc>
              </a:pPr>
              <a:r>
                <a:rPr lang="en-US" sz="1000">
                  <a:solidFill>
                    <a:srgbClr val="000000"/>
                  </a:solidFill>
                  <a:latin typeface="Arial"/>
                  <a:ea typeface="Arial"/>
                  <a:cs typeface="Arial"/>
                  <a:sym typeface="Arial"/>
                </a:rPr>
                <a:t>No</a:t>
              </a:r>
            </a:p>
          </p:txBody>
        </p:sp>
      </p:grpSp>
      <p:sp>
        <p:nvSpPr>
          <p:cNvPr name="Freeform 62" id="62"/>
          <p:cNvSpPr/>
          <p:nvPr/>
        </p:nvSpPr>
        <p:spPr>
          <a:xfrm flipH="false" flipV="false" rot="0">
            <a:off x="10409292" y="2412114"/>
            <a:ext cx="358541" cy="376421"/>
          </a:xfrm>
          <a:custGeom>
            <a:avLst/>
            <a:gdLst/>
            <a:ahLst/>
            <a:cxnLst/>
            <a:rect r="r" b="b" t="t" l="l"/>
            <a:pathLst>
              <a:path h="376421" w="358541">
                <a:moveTo>
                  <a:pt x="0" y="0"/>
                </a:moveTo>
                <a:lnTo>
                  <a:pt x="358541" y="0"/>
                </a:lnTo>
                <a:lnTo>
                  <a:pt x="358541" y="376422"/>
                </a:lnTo>
                <a:lnTo>
                  <a:pt x="0" y="3764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3" id="63"/>
          <p:cNvSpPr txBox="true"/>
          <p:nvPr/>
        </p:nvSpPr>
        <p:spPr>
          <a:xfrm rot="0">
            <a:off x="386008" y="5610610"/>
            <a:ext cx="17479788" cy="4495800"/>
          </a:xfrm>
          <a:prstGeom prst="rect">
            <a:avLst/>
          </a:prstGeom>
        </p:spPr>
        <p:txBody>
          <a:bodyPr anchor="t" rtlCol="false" tIns="0" lIns="0" bIns="0" rIns="0">
            <a:spAutoFit/>
          </a:bodyPr>
          <a:lstStyle/>
          <a:p>
            <a:pPr algn="just" marL="634338" indent="-317169" lvl="1">
              <a:lnSpc>
                <a:spcPts val="3525"/>
              </a:lnSpc>
              <a:buFont typeface="Arial"/>
              <a:buChar char="•"/>
            </a:pPr>
            <a:r>
              <a:rPr lang="en-US" sz="2938">
                <a:solidFill>
                  <a:srgbClr val="000000"/>
                </a:solidFill>
                <a:latin typeface="Times New Roman"/>
                <a:ea typeface="Times New Roman"/>
                <a:cs typeface="Times New Roman"/>
                <a:sym typeface="Times New Roman"/>
              </a:rPr>
              <a:t>This flow shows how the system creates an optimized travel plan. First, heritage sites are ranked based on distance and sustainability.</a:t>
            </a:r>
          </a:p>
          <a:p>
            <a:pPr algn="just">
              <a:lnSpc>
                <a:spcPts val="3525"/>
              </a:lnSpc>
            </a:pPr>
          </a:p>
          <a:p>
            <a:pPr algn="just" marL="634338" indent="-317169" lvl="1">
              <a:lnSpc>
                <a:spcPts val="3525"/>
              </a:lnSpc>
              <a:buFont typeface="Arial"/>
              <a:buChar char="•"/>
            </a:pPr>
            <a:r>
              <a:rPr lang="en-US" sz="2938">
                <a:solidFill>
                  <a:srgbClr val="000000"/>
                </a:solidFill>
                <a:latin typeface="Times New Roman"/>
                <a:ea typeface="Times New Roman"/>
                <a:cs typeface="Times New Roman"/>
                <a:sym typeface="Times New Roman"/>
              </a:rPr>
              <a:t> These sites form a graph where travel paths are tested using the Ant Colony Algorithm. </a:t>
            </a:r>
          </a:p>
          <a:p>
            <a:pPr algn="just">
              <a:lnSpc>
                <a:spcPts val="3525"/>
              </a:lnSpc>
            </a:pPr>
          </a:p>
          <a:p>
            <a:pPr algn="just" marL="634338" indent="-317169" lvl="1">
              <a:lnSpc>
                <a:spcPts val="3525"/>
              </a:lnSpc>
              <a:buFont typeface="Arial"/>
              <a:buChar char="•"/>
            </a:pPr>
            <a:r>
              <a:rPr lang="en-US" sz="2938">
                <a:solidFill>
                  <a:srgbClr val="000000"/>
                </a:solidFill>
                <a:latin typeface="Times New Roman"/>
                <a:ea typeface="Times New Roman"/>
                <a:cs typeface="Times New Roman"/>
                <a:sym typeface="Times New Roman"/>
              </a:rPr>
              <a:t>The algorithm repeatedly finds better routes by updating “pheromone” levels, similar to how ants find the shortest path. </a:t>
            </a:r>
          </a:p>
          <a:p>
            <a:pPr algn="just">
              <a:lnSpc>
                <a:spcPts val="3525"/>
              </a:lnSpc>
            </a:pPr>
          </a:p>
          <a:p>
            <a:pPr algn="just" marL="634338" indent="-317169" lvl="1">
              <a:lnSpc>
                <a:spcPts val="3525"/>
              </a:lnSpc>
              <a:buFont typeface="Arial"/>
              <a:buChar char="•"/>
            </a:pPr>
            <a:r>
              <a:rPr lang="en-US" sz="2938">
                <a:solidFill>
                  <a:srgbClr val="000000"/>
                </a:solidFill>
                <a:latin typeface="Times New Roman"/>
                <a:ea typeface="Times New Roman"/>
                <a:cs typeface="Times New Roman"/>
                <a:sym typeface="Times New Roman"/>
              </a:rPr>
              <a:t>Finally, it selects the route with the least distance and highest sustainability, generating the best possible itinerary in JSON format.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6100" y="0"/>
            <a:ext cx="18324004" cy="5200650"/>
            <a:chOff x="0" y="0"/>
            <a:chExt cx="24432006" cy="6934200"/>
          </a:xfrm>
        </p:grpSpPr>
        <p:sp>
          <p:nvSpPr>
            <p:cNvPr name="Freeform 3" id="3"/>
            <p:cNvSpPr/>
            <p:nvPr/>
          </p:nvSpPr>
          <p:spPr>
            <a:xfrm flipH="false" flipV="false" rot="0">
              <a:off x="0" y="0"/>
              <a:ext cx="24432006" cy="6934200"/>
            </a:xfrm>
            <a:custGeom>
              <a:avLst/>
              <a:gdLst/>
              <a:ahLst/>
              <a:cxnLst/>
              <a:rect r="r" b="b" t="t" l="l"/>
              <a:pathLst>
                <a:path h="6934200" w="24432006">
                  <a:moveTo>
                    <a:pt x="0" y="0"/>
                  </a:moveTo>
                  <a:lnTo>
                    <a:pt x="24432006" y="0"/>
                  </a:lnTo>
                  <a:lnTo>
                    <a:pt x="24432006" y="6934200"/>
                  </a:lnTo>
                  <a:lnTo>
                    <a:pt x="0" y="6934200"/>
                  </a:lnTo>
                  <a:close/>
                </a:path>
              </a:pathLst>
            </a:custGeom>
            <a:solidFill>
              <a:srgbClr val="AA2070"/>
            </a:solidFill>
            <a:ln w="12700">
              <a:solidFill>
                <a:srgbClr val="000000"/>
              </a:solidFill>
            </a:ln>
          </p:spPr>
        </p:sp>
      </p:grpSp>
      <p:grpSp>
        <p:nvGrpSpPr>
          <p:cNvPr name="Group 4" id="4"/>
          <p:cNvGrpSpPr/>
          <p:nvPr/>
        </p:nvGrpSpPr>
        <p:grpSpPr>
          <a:xfrm rot="0">
            <a:off x="665016" y="630736"/>
            <a:ext cx="16957796" cy="9040054"/>
            <a:chOff x="0" y="0"/>
            <a:chExt cx="22610394" cy="12053405"/>
          </a:xfrm>
        </p:grpSpPr>
        <p:sp>
          <p:nvSpPr>
            <p:cNvPr name="Freeform 5" id="5"/>
            <p:cNvSpPr/>
            <p:nvPr/>
          </p:nvSpPr>
          <p:spPr>
            <a:xfrm flipH="false" flipV="false" rot="0">
              <a:off x="0" y="0"/>
              <a:ext cx="22610445" cy="12053443"/>
            </a:xfrm>
            <a:custGeom>
              <a:avLst/>
              <a:gdLst/>
              <a:ahLst/>
              <a:cxnLst/>
              <a:rect r="r" b="b" t="t" l="l"/>
              <a:pathLst>
                <a:path h="12053443" w="22610445">
                  <a:moveTo>
                    <a:pt x="0" y="0"/>
                  </a:moveTo>
                  <a:lnTo>
                    <a:pt x="22610445" y="0"/>
                  </a:lnTo>
                  <a:lnTo>
                    <a:pt x="22610445" y="12053443"/>
                  </a:lnTo>
                  <a:lnTo>
                    <a:pt x="0" y="12053443"/>
                  </a:lnTo>
                  <a:close/>
                </a:path>
              </a:pathLst>
            </a:custGeom>
            <a:solidFill>
              <a:srgbClr val="FFFFFF"/>
            </a:solidFill>
            <a:ln w="12700">
              <a:solidFill>
                <a:srgbClr val="000000"/>
              </a:solidFill>
            </a:ln>
          </p:spPr>
        </p:sp>
      </p:grpSp>
      <p:grpSp>
        <p:nvGrpSpPr>
          <p:cNvPr name="Group 6" id="6"/>
          <p:cNvGrpSpPr/>
          <p:nvPr/>
        </p:nvGrpSpPr>
        <p:grpSpPr>
          <a:xfrm rot="0">
            <a:off x="1260224" y="0"/>
            <a:ext cx="15767552" cy="1836450"/>
            <a:chOff x="0" y="0"/>
            <a:chExt cx="21023402" cy="2448600"/>
          </a:xfrm>
        </p:grpSpPr>
        <p:sp>
          <p:nvSpPr>
            <p:cNvPr name="Freeform 7" id="7"/>
            <p:cNvSpPr/>
            <p:nvPr/>
          </p:nvSpPr>
          <p:spPr>
            <a:xfrm flipH="false" flipV="false" rot="0">
              <a:off x="0" y="0"/>
              <a:ext cx="21023400" cy="2448602"/>
            </a:xfrm>
            <a:custGeom>
              <a:avLst/>
              <a:gdLst/>
              <a:ahLst/>
              <a:cxnLst/>
              <a:rect r="r" b="b" t="t" l="l"/>
              <a:pathLst>
                <a:path h="2448602" w="21023400">
                  <a:moveTo>
                    <a:pt x="0" y="0"/>
                  </a:moveTo>
                  <a:lnTo>
                    <a:pt x="21023400" y="0"/>
                  </a:lnTo>
                  <a:lnTo>
                    <a:pt x="21023400" y="2448602"/>
                  </a:lnTo>
                  <a:lnTo>
                    <a:pt x="0" y="2448602"/>
                  </a:lnTo>
                  <a:close/>
                </a:path>
              </a:pathLst>
            </a:custGeom>
            <a:solidFill>
              <a:srgbClr val="000000">
                <a:alpha val="0"/>
              </a:srgbClr>
            </a:solidFill>
            <a:ln w="12700">
              <a:solidFill>
                <a:srgbClr val="000000"/>
              </a:solidFill>
            </a:ln>
          </p:spPr>
        </p:sp>
        <p:sp>
          <p:nvSpPr>
            <p:cNvPr name="TextBox 8" id="8"/>
            <p:cNvSpPr txBox="true"/>
            <p:nvPr/>
          </p:nvSpPr>
          <p:spPr>
            <a:xfrm>
              <a:off x="0" y="-104775"/>
              <a:ext cx="21023402" cy="2553375"/>
            </a:xfrm>
            <a:prstGeom prst="rect">
              <a:avLst/>
            </a:prstGeom>
          </p:spPr>
          <p:txBody>
            <a:bodyPr anchor="b" rtlCol="false" tIns="0" lIns="0" bIns="0" rIns="0"/>
            <a:lstStyle/>
            <a:p>
              <a:pPr algn="ctr">
                <a:lnSpc>
                  <a:spcPts val="6480"/>
                </a:lnSpc>
              </a:pPr>
              <a:r>
                <a:rPr lang="en-US" b="true" sz="5400">
                  <a:solidFill>
                    <a:srgbClr val="000000"/>
                  </a:solidFill>
                  <a:latin typeface="Avenir Bold"/>
                  <a:ea typeface="Avenir Bold"/>
                  <a:cs typeface="Avenir Bold"/>
                  <a:sym typeface="Avenir Bold"/>
                </a:rPr>
                <a:t>MODULE-5 :Planner agent</a:t>
              </a:r>
            </a:p>
          </p:txBody>
        </p:sp>
      </p:grpSp>
      <p:grpSp>
        <p:nvGrpSpPr>
          <p:cNvPr name="Group 9" id="9"/>
          <p:cNvGrpSpPr/>
          <p:nvPr/>
        </p:nvGrpSpPr>
        <p:grpSpPr>
          <a:xfrm rot="0">
            <a:off x="15537656" y="685800"/>
            <a:ext cx="1601553" cy="707403"/>
            <a:chOff x="0" y="0"/>
            <a:chExt cx="2135403" cy="943204"/>
          </a:xfrm>
        </p:grpSpPr>
        <p:sp>
          <p:nvSpPr>
            <p:cNvPr name="Freeform 10" id="10"/>
            <p:cNvSpPr/>
            <p:nvPr/>
          </p:nvSpPr>
          <p:spPr>
            <a:xfrm flipH="false" flipV="false" rot="0">
              <a:off x="0" y="0"/>
              <a:ext cx="2135400" cy="943200"/>
            </a:xfrm>
            <a:custGeom>
              <a:avLst/>
              <a:gdLst/>
              <a:ahLst/>
              <a:cxnLst/>
              <a:rect r="r" b="b" t="t" l="l"/>
              <a:pathLst>
                <a:path h="943200" w="2135400">
                  <a:moveTo>
                    <a:pt x="0" y="0"/>
                  </a:moveTo>
                  <a:lnTo>
                    <a:pt x="2135400" y="0"/>
                  </a:lnTo>
                  <a:lnTo>
                    <a:pt x="2135400" y="943200"/>
                  </a:lnTo>
                  <a:lnTo>
                    <a:pt x="0" y="943200"/>
                  </a:lnTo>
                  <a:close/>
                </a:path>
              </a:pathLst>
            </a:custGeom>
            <a:solidFill>
              <a:srgbClr val="000000">
                <a:alpha val="0"/>
              </a:srgbClr>
            </a:solidFill>
            <a:ln w="12700">
              <a:solidFill>
                <a:srgbClr val="000000"/>
              </a:solidFill>
            </a:ln>
          </p:spPr>
        </p:sp>
        <p:sp>
          <p:nvSpPr>
            <p:cNvPr name="TextBox 11" id="11"/>
            <p:cNvSpPr txBox="true"/>
            <p:nvPr/>
          </p:nvSpPr>
          <p:spPr>
            <a:xfrm>
              <a:off x="0" y="-9525"/>
              <a:ext cx="2135403" cy="952729"/>
            </a:xfrm>
            <a:prstGeom prst="rect">
              <a:avLst/>
            </a:prstGeom>
          </p:spPr>
          <p:txBody>
            <a:bodyPr anchor="ctr" rtlCol="false" tIns="0" lIns="0" bIns="0" rIns="0"/>
            <a:lstStyle/>
            <a:p>
              <a:pPr algn="r">
                <a:lnSpc>
                  <a:spcPts val="2879"/>
                </a:lnSpc>
              </a:pPr>
              <a:r>
                <a:rPr lang="en-US" sz="2400">
                  <a:solidFill>
                    <a:srgbClr val="958EA2"/>
                  </a:solidFill>
                  <a:latin typeface="Arial"/>
                  <a:ea typeface="Arial"/>
                  <a:cs typeface="Arial"/>
                  <a:sym typeface="Arial"/>
                </a:rPr>
                <a:t>18</a:t>
              </a:r>
            </a:p>
          </p:txBody>
        </p:sp>
      </p:grpSp>
      <p:sp>
        <p:nvSpPr>
          <p:cNvPr name="TextBox 12" id="12"/>
          <p:cNvSpPr txBox="true"/>
          <p:nvPr/>
        </p:nvSpPr>
        <p:spPr>
          <a:xfrm rot="0">
            <a:off x="1028700" y="2212715"/>
            <a:ext cx="8471528" cy="7496175"/>
          </a:xfrm>
          <a:prstGeom prst="rect">
            <a:avLst/>
          </a:prstGeom>
        </p:spPr>
        <p:txBody>
          <a:bodyPr anchor="t" rtlCol="false" tIns="0" lIns="0" bIns="0" rIns="0">
            <a:spAutoFit/>
          </a:bodyPr>
          <a:lstStyle/>
          <a:p>
            <a:pPr algn="just" marL="669288" indent="-334644" lvl="1">
              <a:lnSpc>
                <a:spcPts val="3719"/>
              </a:lnSpc>
              <a:buFont typeface="Arial"/>
              <a:buChar char="•"/>
            </a:pPr>
            <a:r>
              <a:rPr lang="en-US" sz="3099">
                <a:solidFill>
                  <a:srgbClr val="000000"/>
                </a:solidFill>
                <a:latin typeface="Times New Roman"/>
                <a:ea typeface="Times New Roman"/>
                <a:cs typeface="Times New Roman"/>
                <a:sym typeface="Times New Roman"/>
              </a:rPr>
              <a:t>The Planner Agent acts as the central coordinator, combining insights from the Personalization, Sustainability, and Itinerary Optimization models.</a:t>
            </a:r>
          </a:p>
          <a:p>
            <a:pPr algn="just">
              <a:lnSpc>
                <a:spcPts val="3719"/>
              </a:lnSpc>
            </a:pPr>
          </a:p>
          <a:p>
            <a:pPr algn="just" marL="669288" indent="-334644" lvl="1">
              <a:lnSpc>
                <a:spcPts val="3719"/>
              </a:lnSpc>
              <a:buFont typeface="Arial"/>
              <a:buChar char="•"/>
            </a:pPr>
            <a:r>
              <a:rPr lang="en-US" sz="3099">
                <a:solidFill>
                  <a:srgbClr val="000000"/>
                </a:solidFill>
                <a:latin typeface="Times New Roman"/>
                <a:ea typeface="Times New Roman"/>
                <a:cs typeface="Times New Roman"/>
                <a:sym typeface="Times New Roman"/>
              </a:rPr>
              <a:t> It collects user data and preferences through the Web Interface, integrates ranked recommendations, sustainability scores, and optimized routes, and generates the final customized travel plan.</a:t>
            </a:r>
          </a:p>
          <a:p>
            <a:pPr algn="just">
              <a:lnSpc>
                <a:spcPts val="3719"/>
              </a:lnSpc>
            </a:pPr>
          </a:p>
          <a:p>
            <a:pPr algn="just" marL="669288" indent="-334644" lvl="1">
              <a:lnSpc>
                <a:spcPts val="3719"/>
              </a:lnSpc>
              <a:buFont typeface="Arial"/>
              <a:buChar char="•"/>
            </a:pPr>
            <a:r>
              <a:rPr lang="en-US" sz="3099">
                <a:solidFill>
                  <a:srgbClr val="000000"/>
                </a:solidFill>
                <a:latin typeface="Times New Roman"/>
                <a:ea typeface="Times New Roman"/>
                <a:cs typeface="Times New Roman"/>
                <a:sym typeface="Times New Roman"/>
              </a:rPr>
              <a:t>By orchestrating data from all modules, the Planner Agent ensures that the final itinerary is not only personalized and efficient but also environmentally sustainable and aligned with user expectations.</a:t>
            </a:r>
          </a:p>
        </p:txBody>
      </p:sp>
      <p:sp>
        <p:nvSpPr>
          <p:cNvPr name="Freeform 13" id="13"/>
          <p:cNvSpPr/>
          <p:nvPr/>
        </p:nvSpPr>
        <p:spPr>
          <a:xfrm flipH="false" flipV="false" rot="0">
            <a:off x="10746709" y="1782328"/>
            <a:ext cx="6392331" cy="7791298"/>
          </a:xfrm>
          <a:custGeom>
            <a:avLst/>
            <a:gdLst/>
            <a:ahLst/>
            <a:cxnLst/>
            <a:rect r="r" b="b" t="t" l="l"/>
            <a:pathLst>
              <a:path h="7791298" w="6392331">
                <a:moveTo>
                  <a:pt x="0" y="0"/>
                </a:moveTo>
                <a:lnTo>
                  <a:pt x="6392331" y="0"/>
                </a:lnTo>
                <a:lnTo>
                  <a:pt x="6392331" y="7791298"/>
                </a:lnTo>
                <a:lnTo>
                  <a:pt x="0" y="7791298"/>
                </a:lnTo>
                <a:lnTo>
                  <a:pt x="0" y="0"/>
                </a:lnTo>
                <a:close/>
              </a:path>
            </a:pathLst>
          </a:custGeom>
          <a:blipFill>
            <a:blip r:embed="rId3"/>
            <a:stretch>
              <a:fillRect l="-1086" t="-3695" r="0" b="-1247"/>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6100" y="0"/>
            <a:ext cx="18324004" cy="5200650"/>
            <a:chOff x="0" y="0"/>
            <a:chExt cx="24432006" cy="6934200"/>
          </a:xfrm>
        </p:grpSpPr>
        <p:sp>
          <p:nvSpPr>
            <p:cNvPr name="Freeform 3" id="3"/>
            <p:cNvSpPr/>
            <p:nvPr/>
          </p:nvSpPr>
          <p:spPr>
            <a:xfrm flipH="false" flipV="false" rot="0">
              <a:off x="0" y="0"/>
              <a:ext cx="24432006" cy="6934200"/>
            </a:xfrm>
            <a:custGeom>
              <a:avLst/>
              <a:gdLst/>
              <a:ahLst/>
              <a:cxnLst/>
              <a:rect r="r" b="b" t="t" l="l"/>
              <a:pathLst>
                <a:path h="6934200" w="24432006">
                  <a:moveTo>
                    <a:pt x="0" y="0"/>
                  </a:moveTo>
                  <a:lnTo>
                    <a:pt x="24432006" y="0"/>
                  </a:lnTo>
                  <a:lnTo>
                    <a:pt x="24432006" y="6934200"/>
                  </a:lnTo>
                  <a:lnTo>
                    <a:pt x="0" y="6934200"/>
                  </a:lnTo>
                  <a:close/>
                </a:path>
              </a:pathLst>
            </a:custGeom>
            <a:solidFill>
              <a:srgbClr val="AA2070"/>
            </a:solidFill>
            <a:ln w="12700">
              <a:solidFill>
                <a:srgbClr val="000000"/>
              </a:solidFill>
            </a:ln>
          </p:spPr>
        </p:sp>
      </p:grpSp>
      <p:grpSp>
        <p:nvGrpSpPr>
          <p:cNvPr name="Group 4" id="4"/>
          <p:cNvGrpSpPr/>
          <p:nvPr/>
        </p:nvGrpSpPr>
        <p:grpSpPr>
          <a:xfrm rot="0">
            <a:off x="665016" y="630736"/>
            <a:ext cx="16957796" cy="9040054"/>
            <a:chOff x="0" y="0"/>
            <a:chExt cx="22610394" cy="12053405"/>
          </a:xfrm>
        </p:grpSpPr>
        <p:sp>
          <p:nvSpPr>
            <p:cNvPr name="Freeform 5" id="5"/>
            <p:cNvSpPr/>
            <p:nvPr/>
          </p:nvSpPr>
          <p:spPr>
            <a:xfrm flipH="false" flipV="false" rot="0">
              <a:off x="0" y="0"/>
              <a:ext cx="22610445" cy="12053443"/>
            </a:xfrm>
            <a:custGeom>
              <a:avLst/>
              <a:gdLst/>
              <a:ahLst/>
              <a:cxnLst/>
              <a:rect r="r" b="b" t="t" l="l"/>
              <a:pathLst>
                <a:path h="12053443" w="22610445">
                  <a:moveTo>
                    <a:pt x="0" y="0"/>
                  </a:moveTo>
                  <a:lnTo>
                    <a:pt x="22610445" y="0"/>
                  </a:lnTo>
                  <a:lnTo>
                    <a:pt x="22610445" y="12053443"/>
                  </a:lnTo>
                  <a:lnTo>
                    <a:pt x="0" y="12053443"/>
                  </a:lnTo>
                  <a:close/>
                </a:path>
              </a:pathLst>
            </a:custGeom>
            <a:solidFill>
              <a:srgbClr val="FFFFFF"/>
            </a:solidFill>
            <a:ln w="12700">
              <a:solidFill>
                <a:srgbClr val="000000"/>
              </a:solidFill>
            </a:ln>
          </p:spPr>
        </p:sp>
      </p:grpSp>
      <p:grpSp>
        <p:nvGrpSpPr>
          <p:cNvPr name="Group 6" id="6"/>
          <p:cNvGrpSpPr/>
          <p:nvPr/>
        </p:nvGrpSpPr>
        <p:grpSpPr>
          <a:xfrm rot="0">
            <a:off x="15537656" y="685800"/>
            <a:ext cx="1601553" cy="707403"/>
            <a:chOff x="0" y="0"/>
            <a:chExt cx="2135403" cy="943204"/>
          </a:xfrm>
        </p:grpSpPr>
        <p:sp>
          <p:nvSpPr>
            <p:cNvPr name="Freeform 7" id="7"/>
            <p:cNvSpPr/>
            <p:nvPr/>
          </p:nvSpPr>
          <p:spPr>
            <a:xfrm flipH="false" flipV="false" rot="0">
              <a:off x="0" y="0"/>
              <a:ext cx="2135400" cy="943200"/>
            </a:xfrm>
            <a:custGeom>
              <a:avLst/>
              <a:gdLst/>
              <a:ahLst/>
              <a:cxnLst/>
              <a:rect r="r" b="b" t="t" l="l"/>
              <a:pathLst>
                <a:path h="943200" w="2135400">
                  <a:moveTo>
                    <a:pt x="0" y="0"/>
                  </a:moveTo>
                  <a:lnTo>
                    <a:pt x="2135400" y="0"/>
                  </a:lnTo>
                  <a:lnTo>
                    <a:pt x="2135400" y="943200"/>
                  </a:lnTo>
                  <a:lnTo>
                    <a:pt x="0" y="943200"/>
                  </a:lnTo>
                  <a:close/>
                </a:path>
              </a:pathLst>
            </a:custGeom>
            <a:solidFill>
              <a:srgbClr val="000000">
                <a:alpha val="0"/>
              </a:srgbClr>
            </a:solidFill>
            <a:ln w="12700">
              <a:solidFill>
                <a:srgbClr val="000000"/>
              </a:solidFill>
            </a:ln>
          </p:spPr>
        </p:sp>
        <p:sp>
          <p:nvSpPr>
            <p:cNvPr name="TextBox 8" id="8"/>
            <p:cNvSpPr txBox="true"/>
            <p:nvPr/>
          </p:nvSpPr>
          <p:spPr>
            <a:xfrm>
              <a:off x="0" y="-9525"/>
              <a:ext cx="2135403" cy="952729"/>
            </a:xfrm>
            <a:prstGeom prst="rect">
              <a:avLst/>
            </a:prstGeom>
          </p:spPr>
          <p:txBody>
            <a:bodyPr anchor="ctr" rtlCol="false" tIns="0" lIns="0" bIns="0" rIns="0"/>
            <a:lstStyle/>
            <a:p>
              <a:pPr algn="r">
                <a:lnSpc>
                  <a:spcPts val="2879"/>
                </a:lnSpc>
              </a:pPr>
              <a:r>
                <a:rPr lang="en-US" sz="2400">
                  <a:solidFill>
                    <a:srgbClr val="958EA2"/>
                  </a:solidFill>
                  <a:latin typeface="Arial"/>
                  <a:ea typeface="Arial"/>
                  <a:cs typeface="Arial"/>
                  <a:sym typeface="Arial"/>
                </a:rPr>
                <a:t>19</a:t>
              </a:r>
            </a:p>
          </p:txBody>
        </p:sp>
      </p:grpSp>
      <p:grpSp>
        <p:nvGrpSpPr>
          <p:cNvPr name="Group 9" id="9"/>
          <p:cNvGrpSpPr/>
          <p:nvPr/>
        </p:nvGrpSpPr>
        <p:grpSpPr>
          <a:xfrm rot="0">
            <a:off x="503958" y="531447"/>
            <a:ext cx="10195646" cy="1016098"/>
            <a:chOff x="0" y="0"/>
            <a:chExt cx="13594194" cy="1354798"/>
          </a:xfrm>
        </p:grpSpPr>
        <p:sp>
          <p:nvSpPr>
            <p:cNvPr name="Freeform 10" id="10"/>
            <p:cNvSpPr/>
            <p:nvPr/>
          </p:nvSpPr>
          <p:spPr>
            <a:xfrm flipH="false" flipV="false" rot="0">
              <a:off x="0" y="0"/>
              <a:ext cx="13594200" cy="1354800"/>
            </a:xfrm>
            <a:custGeom>
              <a:avLst/>
              <a:gdLst/>
              <a:ahLst/>
              <a:cxnLst/>
              <a:rect r="r" b="b" t="t" l="l"/>
              <a:pathLst>
                <a:path h="1354800" w="13594200">
                  <a:moveTo>
                    <a:pt x="0" y="0"/>
                  </a:moveTo>
                  <a:lnTo>
                    <a:pt x="13594200" y="0"/>
                  </a:lnTo>
                  <a:lnTo>
                    <a:pt x="13594200" y="1354800"/>
                  </a:lnTo>
                  <a:lnTo>
                    <a:pt x="0" y="1354800"/>
                  </a:lnTo>
                  <a:close/>
                </a:path>
              </a:pathLst>
            </a:custGeom>
            <a:solidFill>
              <a:srgbClr val="000000">
                <a:alpha val="0"/>
              </a:srgbClr>
            </a:solidFill>
            <a:ln w="12700">
              <a:solidFill>
                <a:srgbClr val="000000"/>
              </a:solidFill>
            </a:ln>
          </p:spPr>
        </p:sp>
        <p:sp>
          <p:nvSpPr>
            <p:cNvPr name="TextBox 11" id="11"/>
            <p:cNvSpPr txBox="true"/>
            <p:nvPr/>
          </p:nvSpPr>
          <p:spPr>
            <a:xfrm>
              <a:off x="0" y="-104775"/>
              <a:ext cx="13594194" cy="1459573"/>
            </a:xfrm>
            <a:prstGeom prst="rect">
              <a:avLst/>
            </a:prstGeom>
          </p:spPr>
          <p:txBody>
            <a:bodyPr anchor="b" rtlCol="false" tIns="0" lIns="0" bIns="0" rIns="0"/>
            <a:lstStyle/>
            <a:p>
              <a:pPr algn="ctr">
                <a:lnSpc>
                  <a:spcPts val="6480"/>
                </a:lnSpc>
              </a:pPr>
              <a:r>
                <a:rPr lang="en-US" sz="5400">
                  <a:solidFill>
                    <a:srgbClr val="000000"/>
                  </a:solidFill>
                  <a:latin typeface="Avenir"/>
                  <a:ea typeface="Avenir"/>
                  <a:cs typeface="Avenir"/>
                  <a:sym typeface="Avenir"/>
                </a:rPr>
                <a:t>ARCHITECTURAL DESIGN</a:t>
              </a:r>
            </a:p>
          </p:txBody>
        </p:sp>
      </p:grpSp>
      <p:sp>
        <p:nvSpPr>
          <p:cNvPr name="Freeform 12" id="12"/>
          <p:cNvSpPr/>
          <p:nvPr/>
        </p:nvSpPr>
        <p:spPr>
          <a:xfrm flipH="false" flipV="false" rot="0">
            <a:off x="684905" y="1583354"/>
            <a:ext cx="16928382" cy="8256730"/>
          </a:xfrm>
          <a:custGeom>
            <a:avLst/>
            <a:gdLst/>
            <a:ahLst/>
            <a:cxnLst/>
            <a:rect r="r" b="b" t="t" l="l"/>
            <a:pathLst>
              <a:path h="8256730" w="16928382">
                <a:moveTo>
                  <a:pt x="0" y="0"/>
                </a:moveTo>
                <a:lnTo>
                  <a:pt x="16928382" y="0"/>
                </a:lnTo>
                <a:lnTo>
                  <a:pt x="16928382" y="8256730"/>
                </a:lnTo>
                <a:lnTo>
                  <a:pt x="0" y="8256730"/>
                </a:lnTo>
                <a:lnTo>
                  <a:pt x="0" y="0"/>
                </a:lnTo>
                <a:close/>
              </a:path>
            </a:pathLst>
          </a:custGeom>
          <a:blipFill>
            <a:blip r:embed="rId3"/>
            <a:stretch>
              <a:fillRect l="-4594" t="-13176" r="-4523" b="-12665"/>
            </a:stretch>
          </a:blipFill>
        </p:spPr>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6100" y="0"/>
            <a:ext cx="18324004" cy="5200650"/>
            <a:chOff x="0" y="0"/>
            <a:chExt cx="24432006" cy="6934200"/>
          </a:xfrm>
        </p:grpSpPr>
        <p:sp>
          <p:nvSpPr>
            <p:cNvPr name="Freeform 3" id="3"/>
            <p:cNvSpPr/>
            <p:nvPr/>
          </p:nvSpPr>
          <p:spPr>
            <a:xfrm flipH="false" flipV="false" rot="0">
              <a:off x="0" y="0"/>
              <a:ext cx="24432006" cy="6934200"/>
            </a:xfrm>
            <a:custGeom>
              <a:avLst/>
              <a:gdLst/>
              <a:ahLst/>
              <a:cxnLst/>
              <a:rect r="r" b="b" t="t" l="l"/>
              <a:pathLst>
                <a:path h="6934200" w="24432006">
                  <a:moveTo>
                    <a:pt x="0" y="0"/>
                  </a:moveTo>
                  <a:lnTo>
                    <a:pt x="24432006" y="0"/>
                  </a:lnTo>
                  <a:lnTo>
                    <a:pt x="24432006" y="6934200"/>
                  </a:lnTo>
                  <a:lnTo>
                    <a:pt x="0" y="6934200"/>
                  </a:lnTo>
                  <a:close/>
                </a:path>
              </a:pathLst>
            </a:custGeom>
            <a:solidFill>
              <a:srgbClr val="AA2070"/>
            </a:solidFill>
            <a:ln w="12700">
              <a:solidFill>
                <a:srgbClr val="000000"/>
              </a:solidFill>
            </a:ln>
          </p:spPr>
        </p:sp>
      </p:grpSp>
      <p:grpSp>
        <p:nvGrpSpPr>
          <p:cNvPr name="Group 4" id="4"/>
          <p:cNvGrpSpPr/>
          <p:nvPr/>
        </p:nvGrpSpPr>
        <p:grpSpPr>
          <a:xfrm rot="0">
            <a:off x="665016" y="630736"/>
            <a:ext cx="16957796" cy="9040054"/>
            <a:chOff x="0" y="0"/>
            <a:chExt cx="22610394" cy="12053405"/>
          </a:xfrm>
        </p:grpSpPr>
        <p:sp>
          <p:nvSpPr>
            <p:cNvPr name="Freeform 5" id="5"/>
            <p:cNvSpPr/>
            <p:nvPr/>
          </p:nvSpPr>
          <p:spPr>
            <a:xfrm flipH="false" flipV="false" rot="0">
              <a:off x="0" y="0"/>
              <a:ext cx="22610445" cy="12053443"/>
            </a:xfrm>
            <a:custGeom>
              <a:avLst/>
              <a:gdLst/>
              <a:ahLst/>
              <a:cxnLst/>
              <a:rect r="r" b="b" t="t" l="l"/>
              <a:pathLst>
                <a:path h="12053443" w="22610445">
                  <a:moveTo>
                    <a:pt x="0" y="0"/>
                  </a:moveTo>
                  <a:lnTo>
                    <a:pt x="22610445" y="0"/>
                  </a:lnTo>
                  <a:lnTo>
                    <a:pt x="22610445" y="12053443"/>
                  </a:lnTo>
                  <a:lnTo>
                    <a:pt x="0" y="12053443"/>
                  </a:lnTo>
                  <a:close/>
                </a:path>
              </a:pathLst>
            </a:custGeom>
            <a:solidFill>
              <a:srgbClr val="FFFFFF"/>
            </a:solidFill>
            <a:ln w="12700">
              <a:solidFill>
                <a:srgbClr val="000000"/>
              </a:solidFill>
            </a:ln>
          </p:spPr>
        </p:sp>
      </p:grpSp>
      <p:grpSp>
        <p:nvGrpSpPr>
          <p:cNvPr name="Group 6" id="6"/>
          <p:cNvGrpSpPr/>
          <p:nvPr/>
        </p:nvGrpSpPr>
        <p:grpSpPr>
          <a:xfrm rot="0">
            <a:off x="1260224" y="824779"/>
            <a:ext cx="15767552" cy="1116454"/>
            <a:chOff x="0" y="0"/>
            <a:chExt cx="21023402" cy="1488605"/>
          </a:xfrm>
        </p:grpSpPr>
        <p:sp>
          <p:nvSpPr>
            <p:cNvPr name="Freeform 7" id="7"/>
            <p:cNvSpPr/>
            <p:nvPr/>
          </p:nvSpPr>
          <p:spPr>
            <a:xfrm flipH="false" flipV="false" rot="0">
              <a:off x="0" y="0"/>
              <a:ext cx="21023400" cy="1488600"/>
            </a:xfrm>
            <a:custGeom>
              <a:avLst/>
              <a:gdLst/>
              <a:ahLst/>
              <a:cxnLst/>
              <a:rect r="r" b="b" t="t" l="l"/>
              <a:pathLst>
                <a:path h="1488600" w="21023400">
                  <a:moveTo>
                    <a:pt x="0" y="0"/>
                  </a:moveTo>
                  <a:lnTo>
                    <a:pt x="21023400" y="0"/>
                  </a:lnTo>
                  <a:lnTo>
                    <a:pt x="21023400" y="1488600"/>
                  </a:lnTo>
                  <a:lnTo>
                    <a:pt x="0" y="1488600"/>
                  </a:lnTo>
                  <a:close/>
                </a:path>
              </a:pathLst>
            </a:custGeom>
            <a:solidFill>
              <a:srgbClr val="000000">
                <a:alpha val="0"/>
              </a:srgbClr>
            </a:solidFill>
            <a:ln w="12700">
              <a:solidFill>
                <a:srgbClr val="000000"/>
              </a:solidFill>
            </a:ln>
          </p:spPr>
        </p:sp>
        <p:sp>
          <p:nvSpPr>
            <p:cNvPr name="TextBox 8" id="8"/>
            <p:cNvSpPr txBox="true"/>
            <p:nvPr/>
          </p:nvSpPr>
          <p:spPr>
            <a:xfrm>
              <a:off x="0" y="-104775"/>
              <a:ext cx="21023402" cy="1593380"/>
            </a:xfrm>
            <a:prstGeom prst="rect">
              <a:avLst/>
            </a:prstGeom>
          </p:spPr>
          <p:txBody>
            <a:bodyPr anchor="b" rtlCol="false" tIns="0" lIns="0" bIns="0" rIns="0"/>
            <a:lstStyle/>
            <a:p>
              <a:pPr algn="ctr">
                <a:lnSpc>
                  <a:spcPts val="6480"/>
                </a:lnSpc>
              </a:pPr>
              <a:r>
                <a:rPr lang="en-US" b="true" sz="5400">
                  <a:solidFill>
                    <a:srgbClr val="000000"/>
                  </a:solidFill>
                  <a:latin typeface="Avenir Bold"/>
                  <a:ea typeface="Avenir Bold"/>
                  <a:cs typeface="Avenir Bold"/>
                  <a:sym typeface="Avenir Bold"/>
                </a:rPr>
                <a:t>RESULTS AND DISCUSSIONS</a:t>
              </a:r>
            </a:p>
          </p:txBody>
        </p:sp>
      </p:grpSp>
      <p:grpSp>
        <p:nvGrpSpPr>
          <p:cNvPr name="Group 9" id="9"/>
          <p:cNvGrpSpPr/>
          <p:nvPr/>
        </p:nvGrpSpPr>
        <p:grpSpPr>
          <a:xfrm rot="0">
            <a:off x="15537656" y="685800"/>
            <a:ext cx="1601553" cy="707403"/>
            <a:chOff x="0" y="0"/>
            <a:chExt cx="2135403" cy="943204"/>
          </a:xfrm>
        </p:grpSpPr>
        <p:sp>
          <p:nvSpPr>
            <p:cNvPr name="Freeform 10" id="10"/>
            <p:cNvSpPr/>
            <p:nvPr/>
          </p:nvSpPr>
          <p:spPr>
            <a:xfrm flipH="false" flipV="false" rot="0">
              <a:off x="0" y="0"/>
              <a:ext cx="2135400" cy="943200"/>
            </a:xfrm>
            <a:custGeom>
              <a:avLst/>
              <a:gdLst/>
              <a:ahLst/>
              <a:cxnLst/>
              <a:rect r="r" b="b" t="t" l="l"/>
              <a:pathLst>
                <a:path h="943200" w="2135400">
                  <a:moveTo>
                    <a:pt x="0" y="0"/>
                  </a:moveTo>
                  <a:lnTo>
                    <a:pt x="2135400" y="0"/>
                  </a:lnTo>
                  <a:lnTo>
                    <a:pt x="2135400" y="943200"/>
                  </a:lnTo>
                  <a:lnTo>
                    <a:pt x="0" y="943200"/>
                  </a:lnTo>
                  <a:close/>
                </a:path>
              </a:pathLst>
            </a:custGeom>
            <a:solidFill>
              <a:srgbClr val="000000">
                <a:alpha val="0"/>
              </a:srgbClr>
            </a:solidFill>
            <a:ln w="12700">
              <a:solidFill>
                <a:srgbClr val="000000"/>
              </a:solidFill>
            </a:ln>
          </p:spPr>
        </p:sp>
        <p:sp>
          <p:nvSpPr>
            <p:cNvPr name="TextBox 11" id="11"/>
            <p:cNvSpPr txBox="true"/>
            <p:nvPr/>
          </p:nvSpPr>
          <p:spPr>
            <a:xfrm>
              <a:off x="0" y="-9525"/>
              <a:ext cx="2135403" cy="952729"/>
            </a:xfrm>
            <a:prstGeom prst="rect">
              <a:avLst/>
            </a:prstGeom>
          </p:spPr>
          <p:txBody>
            <a:bodyPr anchor="ctr" rtlCol="false" tIns="0" lIns="0" bIns="0" rIns="0"/>
            <a:lstStyle/>
            <a:p>
              <a:pPr algn="r">
                <a:lnSpc>
                  <a:spcPts val="2879"/>
                </a:lnSpc>
              </a:pPr>
              <a:r>
                <a:rPr lang="en-US" sz="2400">
                  <a:solidFill>
                    <a:srgbClr val="958EA2"/>
                  </a:solidFill>
                  <a:latin typeface="Arial"/>
                  <a:ea typeface="Arial"/>
                  <a:cs typeface="Arial"/>
                  <a:sym typeface="Arial"/>
                </a:rPr>
                <a:t>20</a:t>
              </a:r>
            </a:p>
          </p:txBody>
        </p:sp>
      </p:grpSp>
      <p:sp>
        <p:nvSpPr>
          <p:cNvPr name="TextBox 12" id="12"/>
          <p:cNvSpPr txBox="true"/>
          <p:nvPr/>
        </p:nvSpPr>
        <p:spPr>
          <a:xfrm rot="0">
            <a:off x="1795643" y="2276523"/>
            <a:ext cx="14874893" cy="7122467"/>
          </a:xfrm>
          <a:prstGeom prst="rect">
            <a:avLst/>
          </a:prstGeom>
        </p:spPr>
        <p:txBody>
          <a:bodyPr anchor="t" rtlCol="false" tIns="0" lIns="0" bIns="0" rIns="0">
            <a:spAutoFit/>
          </a:bodyPr>
          <a:lstStyle/>
          <a:p>
            <a:pPr algn="just" marL="920983" indent="-460492" lvl="1">
              <a:lnSpc>
                <a:spcPts val="5118"/>
              </a:lnSpc>
              <a:buFont typeface="Arial"/>
              <a:buChar char="•"/>
            </a:pPr>
            <a:r>
              <a:rPr lang="en-US" sz="4265">
                <a:solidFill>
                  <a:srgbClr val="000000"/>
                </a:solidFill>
                <a:latin typeface="Times New Roman"/>
                <a:ea typeface="Times New Roman"/>
                <a:cs typeface="Times New Roman"/>
                <a:sym typeface="Times New Roman"/>
              </a:rPr>
              <a:t>Th</a:t>
            </a:r>
            <a:r>
              <a:rPr lang="en-US" sz="4265">
                <a:solidFill>
                  <a:srgbClr val="000000"/>
                </a:solidFill>
                <a:latin typeface="Times New Roman"/>
                <a:ea typeface="Times New Roman"/>
                <a:cs typeface="Times New Roman"/>
                <a:sym typeface="Times New Roman"/>
              </a:rPr>
              <a:t>e system generated personalized, sustainability-aware heritage recommendations that aligned well with diverse user preferences.</a:t>
            </a:r>
          </a:p>
          <a:p>
            <a:pPr algn="just" marL="920983" indent="-460492" lvl="1">
              <a:lnSpc>
                <a:spcPts val="5118"/>
              </a:lnSpc>
              <a:buFont typeface="Arial"/>
              <a:buChar char="•"/>
            </a:pPr>
            <a:r>
              <a:rPr lang="en-US" sz="4265">
                <a:solidFill>
                  <a:srgbClr val="000000"/>
                </a:solidFill>
                <a:latin typeface="Times New Roman"/>
                <a:ea typeface="Times New Roman"/>
                <a:cs typeface="Times New Roman"/>
                <a:sym typeface="Times New Roman"/>
              </a:rPr>
              <a:t>TOPSIS-based sustainability scoring successfully prioritized eco-friendly destinations without significantly reducing recommendation relevance.</a:t>
            </a:r>
          </a:p>
          <a:p>
            <a:pPr algn="just" marL="920983" indent="-460492" lvl="1">
              <a:lnSpc>
                <a:spcPts val="5118"/>
              </a:lnSpc>
              <a:buFont typeface="Arial"/>
              <a:buChar char="•"/>
            </a:pPr>
            <a:r>
              <a:rPr lang="en-US" sz="4265">
                <a:solidFill>
                  <a:srgbClr val="000000"/>
                </a:solidFill>
                <a:latin typeface="Times New Roman"/>
                <a:ea typeface="Times New Roman"/>
                <a:cs typeface="Times New Roman"/>
                <a:sym typeface="Times New Roman"/>
              </a:rPr>
              <a:t>Ant Colony Optimization minimized travel distance and carbon impact while maintaining itinerary feasibility and efficiency.</a:t>
            </a:r>
          </a:p>
          <a:p>
            <a:pPr algn="just" marL="920983" indent="-460492" lvl="1">
              <a:lnSpc>
                <a:spcPts val="5118"/>
              </a:lnSpc>
              <a:buFont typeface="Arial"/>
              <a:buChar char="•"/>
            </a:pPr>
            <a:r>
              <a:rPr lang="en-US" sz="4265">
                <a:solidFill>
                  <a:srgbClr val="000000"/>
                </a:solidFill>
                <a:latin typeface="Times New Roman"/>
                <a:ea typeface="Times New Roman"/>
                <a:cs typeface="Times New Roman"/>
                <a:sym typeface="Times New Roman"/>
              </a:rPr>
              <a:t>Multi-agent coordination enabled seamless integration of personalization, sustainability, and route optimization modules.</a:t>
            </a:r>
          </a:p>
          <a:p>
            <a:pPr algn="just">
              <a:lnSpc>
                <a:spcPts val="5118"/>
              </a:lnSpc>
            </a:pP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6100" y="0"/>
            <a:ext cx="18324004" cy="5200650"/>
            <a:chOff x="0" y="0"/>
            <a:chExt cx="24432006" cy="6934200"/>
          </a:xfrm>
        </p:grpSpPr>
        <p:sp>
          <p:nvSpPr>
            <p:cNvPr name="Freeform 3" id="3"/>
            <p:cNvSpPr/>
            <p:nvPr/>
          </p:nvSpPr>
          <p:spPr>
            <a:xfrm flipH="false" flipV="false" rot="0">
              <a:off x="0" y="0"/>
              <a:ext cx="24432006" cy="6934200"/>
            </a:xfrm>
            <a:custGeom>
              <a:avLst/>
              <a:gdLst/>
              <a:ahLst/>
              <a:cxnLst/>
              <a:rect r="r" b="b" t="t" l="l"/>
              <a:pathLst>
                <a:path h="6934200" w="24432006">
                  <a:moveTo>
                    <a:pt x="0" y="0"/>
                  </a:moveTo>
                  <a:lnTo>
                    <a:pt x="24432006" y="0"/>
                  </a:lnTo>
                  <a:lnTo>
                    <a:pt x="24432006" y="6934200"/>
                  </a:lnTo>
                  <a:lnTo>
                    <a:pt x="0" y="6934200"/>
                  </a:lnTo>
                  <a:close/>
                </a:path>
              </a:pathLst>
            </a:custGeom>
            <a:solidFill>
              <a:srgbClr val="AA2070"/>
            </a:solidFill>
            <a:ln w="12700">
              <a:solidFill>
                <a:srgbClr val="000000"/>
              </a:solidFill>
            </a:ln>
          </p:spPr>
        </p:sp>
      </p:grpSp>
      <p:grpSp>
        <p:nvGrpSpPr>
          <p:cNvPr name="Group 4" id="4"/>
          <p:cNvGrpSpPr/>
          <p:nvPr/>
        </p:nvGrpSpPr>
        <p:grpSpPr>
          <a:xfrm rot="0">
            <a:off x="665016" y="630736"/>
            <a:ext cx="16957796" cy="9040054"/>
            <a:chOff x="0" y="0"/>
            <a:chExt cx="22610394" cy="12053405"/>
          </a:xfrm>
        </p:grpSpPr>
        <p:sp>
          <p:nvSpPr>
            <p:cNvPr name="Freeform 5" id="5"/>
            <p:cNvSpPr/>
            <p:nvPr/>
          </p:nvSpPr>
          <p:spPr>
            <a:xfrm flipH="false" flipV="false" rot="0">
              <a:off x="0" y="0"/>
              <a:ext cx="22610445" cy="12053443"/>
            </a:xfrm>
            <a:custGeom>
              <a:avLst/>
              <a:gdLst/>
              <a:ahLst/>
              <a:cxnLst/>
              <a:rect r="r" b="b" t="t" l="l"/>
              <a:pathLst>
                <a:path h="12053443" w="22610445">
                  <a:moveTo>
                    <a:pt x="0" y="0"/>
                  </a:moveTo>
                  <a:lnTo>
                    <a:pt x="22610445" y="0"/>
                  </a:lnTo>
                  <a:lnTo>
                    <a:pt x="22610445" y="12053443"/>
                  </a:lnTo>
                  <a:lnTo>
                    <a:pt x="0" y="12053443"/>
                  </a:lnTo>
                  <a:close/>
                </a:path>
              </a:pathLst>
            </a:custGeom>
            <a:solidFill>
              <a:srgbClr val="FFFFFF"/>
            </a:solidFill>
            <a:ln w="12700">
              <a:solidFill>
                <a:srgbClr val="000000"/>
              </a:solidFill>
            </a:ln>
          </p:spPr>
        </p:sp>
      </p:grpSp>
      <p:grpSp>
        <p:nvGrpSpPr>
          <p:cNvPr name="Group 6" id="6"/>
          <p:cNvGrpSpPr/>
          <p:nvPr/>
        </p:nvGrpSpPr>
        <p:grpSpPr>
          <a:xfrm rot="0">
            <a:off x="4718923" y="915410"/>
            <a:ext cx="8850154" cy="1093946"/>
            <a:chOff x="0" y="0"/>
            <a:chExt cx="11800205" cy="1458595"/>
          </a:xfrm>
        </p:grpSpPr>
        <p:sp>
          <p:nvSpPr>
            <p:cNvPr name="Freeform 7" id="7"/>
            <p:cNvSpPr/>
            <p:nvPr/>
          </p:nvSpPr>
          <p:spPr>
            <a:xfrm flipH="false" flipV="false" rot="0">
              <a:off x="0" y="0"/>
              <a:ext cx="11800200" cy="1458600"/>
            </a:xfrm>
            <a:custGeom>
              <a:avLst/>
              <a:gdLst/>
              <a:ahLst/>
              <a:cxnLst/>
              <a:rect r="r" b="b" t="t" l="l"/>
              <a:pathLst>
                <a:path h="1458600" w="11800200">
                  <a:moveTo>
                    <a:pt x="0" y="0"/>
                  </a:moveTo>
                  <a:lnTo>
                    <a:pt x="11800200" y="0"/>
                  </a:lnTo>
                  <a:lnTo>
                    <a:pt x="11800200" y="1458600"/>
                  </a:lnTo>
                  <a:lnTo>
                    <a:pt x="0" y="1458600"/>
                  </a:lnTo>
                  <a:close/>
                </a:path>
              </a:pathLst>
            </a:custGeom>
            <a:solidFill>
              <a:srgbClr val="000000">
                <a:alpha val="0"/>
              </a:srgbClr>
            </a:solidFill>
            <a:ln w="12700">
              <a:solidFill>
                <a:srgbClr val="000000"/>
              </a:solidFill>
            </a:ln>
          </p:spPr>
        </p:sp>
        <p:sp>
          <p:nvSpPr>
            <p:cNvPr name="TextBox 8" id="8"/>
            <p:cNvSpPr txBox="true"/>
            <p:nvPr/>
          </p:nvSpPr>
          <p:spPr>
            <a:xfrm>
              <a:off x="0" y="-104775"/>
              <a:ext cx="11800205" cy="1563370"/>
            </a:xfrm>
            <a:prstGeom prst="rect">
              <a:avLst/>
            </a:prstGeom>
          </p:spPr>
          <p:txBody>
            <a:bodyPr anchor="b" rtlCol="false" tIns="0" lIns="0" bIns="0" rIns="0"/>
            <a:lstStyle/>
            <a:p>
              <a:pPr algn="l">
                <a:lnSpc>
                  <a:spcPts val="6480"/>
                </a:lnSpc>
              </a:pPr>
              <a:r>
                <a:rPr lang="en-US" b="true" sz="5400">
                  <a:solidFill>
                    <a:srgbClr val="000000"/>
                  </a:solidFill>
                  <a:latin typeface="Avenir Bold"/>
                  <a:ea typeface="Avenir Bold"/>
                  <a:cs typeface="Avenir Bold"/>
                  <a:sym typeface="Avenir Bold"/>
                </a:rPr>
                <a:t>FUTURE ENHANCEMENTS</a:t>
              </a:r>
            </a:p>
          </p:txBody>
        </p:sp>
      </p:grpSp>
      <p:grpSp>
        <p:nvGrpSpPr>
          <p:cNvPr name="Group 9" id="9"/>
          <p:cNvGrpSpPr/>
          <p:nvPr/>
        </p:nvGrpSpPr>
        <p:grpSpPr>
          <a:xfrm rot="0">
            <a:off x="15537656" y="685800"/>
            <a:ext cx="1601553" cy="707403"/>
            <a:chOff x="0" y="0"/>
            <a:chExt cx="2135403" cy="943204"/>
          </a:xfrm>
        </p:grpSpPr>
        <p:sp>
          <p:nvSpPr>
            <p:cNvPr name="Freeform 10" id="10"/>
            <p:cNvSpPr/>
            <p:nvPr/>
          </p:nvSpPr>
          <p:spPr>
            <a:xfrm flipH="false" flipV="false" rot="0">
              <a:off x="0" y="0"/>
              <a:ext cx="2135400" cy="943200"/>
            </a:xfrm>
            <a:custGeom>
              <a:avLst/>
              <a:gdLst/>
              <a:ahLst/>
              <a:cxnLst/>
              <a:rect r="r" b="b" t="t" l="l"/>
              <a:pathLst>
                <a:path h="943200" w="2135400">
                  <a:moveTo>
                    <a:pt x="0" y="0"/>
                  </a:moveTo>
                  <a:lnTo>
                    <a:pt x="2135400" y="0"/>
                  </a:lnTo>
                  <a:lnTo>
                    <a:pt x="2135400" y="943200"/>
                  </a:lnTo>
                  <a:lnTo>
                    <a:pt x="0" y="943200"/>
                  </a:lnTo>
                  <a:close/>
                </a:path>
              </a:pathLst>
            </a:custGeom>
            <a:solidFill>
              <a:srgbClr val="000000">
                <a:alpha val="0"/>
              </a:srgbClr>
            </a:solidFill>
            <a:ln w="12700">
              <a:solidFill>
                <a:srgbClr val="000000"/>
              </a:solidFill>
            </a:ln>
          </p:spPr>
        </p:sp>
        <p:sp>
          <p:nvSpPr>
            <p:cNvPr name="TextBox 11" id="11"/>
            <p:cNvSpPr txBox="true"/>
            <p:nvPr/>
          </p:nvSpPr>
          <p:spPr>
            <a:xfrm>
              <a:off x="0" y="-9525"/>
              <a:ext cx="2135403" cy="952729"/>
            </a:xfrm>
            <a:prstGeom prst="rect">
              <a:avLst/>
            </a:prstGeom>
          </p:spPr>
          <p:txBody>
            <a:bodyPr anchor="ctr" rtlCol="false" tIns="0" lIns="0" bIns="0" rIns="0"/>
            <a:lstStyle/>
            <a:p>
              <a:pPr algn="r">
                <a:lnSpc>
                  <a:spcPts val="2879"/>
                </a:lnSpc>
              </a:pPr>
              <a:r>
                <a:rPr lang="en-US" sz="2400">
                  <a:solidFill>
                    <a:srgbClr val="958EA2"/>
                  </a:solidFill>
                  <a:latin typeface="Arial"/>
                  <a:ea typeface="Arial"/>
                  <a:cs typeface="Arial"/>
                  <a:sym typeface="Arial"/>
                </a:rPr>
                <a:t>21</a:t>
              </a:r>
            </a:p>
          </p:txBody>
        </p:sp>
      </p:grpSp>
      <p:sp>
        <p:nvSpPr>
          <p:cNvPr name="TextBox 12" id="12"/>
          <p:cNvSpPr txBox="true"/>
          <p:nvPr/>
        </p:nvSpPr>
        <p:spPr>
          <a:xfrm rot="0">
            <a:off x="1394074" y="2257637"/>
            <a:ext cx="15463657" cy="7413153"/>
          </a:xfrm>
          <a:prstGeom prst="rect">
            <a:avLst/>
          </a:prstGeom>
        </p:spPr>
        <p:txBody>
          <a:bodyPr anchor="t" rtlCol="false" tIns="0" lIns="0" bIns="0" rIns="0">
            <a:spAutoFit/>
          </a:bodyPr>
          <a:lstStyle/>
          <a:p>
            <a:pPr algn="just" marL="957437" indent="-478718" lvl="1">
              <a:lnSpc>
                <a:spcPts val="5321"/>
              </a:lnSpc>
              <a:buFont typeface="Arial"/>
              <a:buChar char="•"/>
            </a:pPr>
            <a:r>
              <a:rPr lang="en-US" sz="4434">
                <a:solidFill>
                  <a:srgbClr val="000000"/>
                </a:solidFill>
                <a:latin typeface="Times New Roman"/>
                <a:ea typeface="Times New Roman"/>
                <a:cs typeface="Times New Roman"/>
                <a:sym typeface="Times New Roman"/>
              </a:rPr>
              <a:t>In</a:t>
            </a:r>
            <a:r>
              <a:rPr lang="en-US" sz="4434">
                <a:solidFill>
                  <a:srgbClr val="000000"/>
                </a:solidFill>
                <a:latin typeface="Times New Roman"/>
                <a:ea typeface="Times New Roman"/>
                <a:cs typeface="Times New Roman"/>
                <a:sym typeface="Times New Roman"/>
              </a:rPr>
              <a:t>tegrate real-time data such as weather, traffic, and crowd density for dynamic itinerary adaptation.</a:t>
            </a:r>
          </a:p>
          <a:p>
            <a:pPr algn="just" marL="957437" indent="-478718" lvl="1">
              <a:lnSpc>
                <a:spcPts val="5321"/>
              </a:lnSpc>
              <a:buFont typeface="Arial"/>
              <a:buChar char="•"/>
            </a:pPr>
            <a:r>
              <a:rPr lang="en-US" sz="4434">
                <a:solidFill>
                  <a:srgbClr val="000000"/>
                </a:solidFill>
                <a:latin typeface="Times New Roman"/>
                <a:ea typeface="Times New Roman"/>
                <a:cs typeface="Times New Roman"/>
                <a:sym typeface="Times New Roman"/>
              </a:rPr>
              <a:t>Enhance multilingual itinerary generation by supporting more regional and international languages for broader inclusivity.</a:t>
            </a:r>
          </a:p>
          <a:p>
            <a:pPr algn="just" marL="957437" indent="-478718" lvl="1">
              <a:lnSpc>
                <a:spcPts val="5321"/>
              </a:lnSpc>
              <a:buFont typeface="Arial"/>
              <a:buChar char="•"/>
            </a:pPr>
            <a:r>
              <a:rPr lang="en-US" sz="4434">
                <a:solidFill>
                  <a:srgbClr val="000000"/>
                </a:solidFill>
                <a:latin typeface="Times New Roman"/>
                <a:ea typeface="Times New Roman"/>
                <a:cs typeface="Times New Roman"/>
                <a:sym typeface="Times New Roman"/>
              </a:rPr>
              <a:t>Incorporate reinforcement learning to enable continuous improvement of recommendations based on user feedback.</a:t>
            </a:r>
          </a:p>
          <a:p>
            <a:pPr algn="just" marL="957437" indent="-478718" lvl="1">
              <a:lnSpc>
                <a:spcPts val="5321"/>
              </a:lnSpc>
              <a:buFont typeface="Arial"/>
              <a:buChar char="•"/>
            </a:pPr>
            <a:r>
              <a:rPr lang="en-US" sz="4434">
                <a:solidFill>
                  <a:srgbClr val="000000"/>
                </a:solidFill>
                <a:latin typeface="Times New Roman"/>
                <a:ea typeface="Times New Roman"/>
                <a:cs typeface="Times New Roman"/>
                <a:sym typeface="Times New Roman"/>
              </a:rPr>
              <a:t>Add GPS-based mapping and live navigation to improve route accuracy and real-world travel feasibility.</a:t>
            </a:r>
          </a:p>
          <a:p>
            <a:pPr algn="just" marL="957437" indent="-478718" lvl="1">
              <a:lnSpc>
                <a:spcPts val="5321"/>
              </a:lnSpc>
              <a:buFont typeface="Arial"/>
              <a:buChar char="•"/>
            </a:pPr>
            <a:r>
              <a:rPr lang="en-US" sz="4434">
                <a:solidFill>
                  <a:srgbClr val="000000"/>
                </a:solidFill>
                <a:latin typeface="Times New Roman"/>
                <a:ea typeface="Times New Roman"/>
                <a:cs typeface="Times New Roman"/>
                <a:sym typeface="Times New Roman"/>
              </a:rPr>
              <a:t>Integrate local tourism services, accommodations, and guides to build a complete smart tourism ecosystem.</a:t>
            </a:r>
          </a:p>
          <a:p>
            <a:pPr algn="just">
              <a:lnSpc>
                <a:spcPts val="5321"/>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6100" y="0"/>
            <a:ext cx="18324004" cy="5200650"/>
            <a:chOff x="0" y="0"/>
            <a:chExt cx="24432006" cy="6934200"/>
          </a:xfrm>
        </p:grpSpPr>
        <p:sp>
          <p:nvSpPr>
            <p:cNvPr name="Freeform 3" id="3"/>
            <p:cNvSpPr/>
            <p:nvPr/>
          </p:nvSpPr>
          <p:spPr>
            <a:xfrm flipH="false" flipV="false" rot="0">
              <a:off x="0" y="0"/>
              <a:ext cx="24432006" cy="6934200"/>
            </a:xfrm>
            <a:custGeom>
              <a:avLst/>
              <a:gdLst/>
              <a:ahLst/>
              <a:cxnLst/>
              <a:rect r="r" b="b" t="t" l="l"/>
              <a:pathLst>
                <a:path h="6934200" w="24432006">
                  <a:moveTo>
                    <a:pt x="0" y="0"/>
                  </a:moveTo>
                  <a:lnTo>
                    <a:pt x="24432006" y="0"/>
                  </a:lnTo>
                  <a:lnTo>
                    <a:pt x="24432006" y="6934200"/>
                  </a:lnTo>
                  <a:lnTo>
                    <a:pt x="0" y="6934200"/>
                  </a:lnTo>
                  <a:close/>
                </a:path>
              </a:pathLst>
            </a:custGeom>
            <a:solidFill>
              <a:srgbClr val="AA2070"/>
            </a:solidFill>
            <a:ln w="12700">
              <a:solidFill>
                <a:srgbClr val="000000"/>
              </a:solidFill>
            </a:ln>
          </p:spPr>
        </p:sp>
      </p:grpSp>
      <p:grpSp>
        <p:nvGrpSpPr>
          <p:cNvPr name="Group 4" id="4"/>
          <p:cNvGrpSpPr/>
          <p:nvPr/>
        </p:nvGrpSpPr>
        <p:grpSpPr>
          <a:xfrm rot="0">
            <a:off x="665016" y="630736"/>
            <a:ext cx="16957796" cy="9040054"/>
            <a:chOff x="0" y="0"/>
            <a:chExt cx="22610394" cy="12053405"/>
          </a:xfrm>
        </p:grpSpPr>
        <p:sp>
          <p:nvSpPr>
            <p:cNvPr name="Freeform 5" id="5"/>
            <p:cNvSpPr/>
            <p:nvPr/>
          </p:nvSpPr>
          <p:spPr>
            <a:xfrm flipH="false" flipV="false" rot="0">
              <a:off x="0" y="0"/>
              <a:ext cx="22610445" cy="12053443"/>
            </a:xfrm>
            <a:custGeom>
              <a:avLst/>
              <a:gdLst/>
              <a:ahLst/>
              <a:cxnLst/>
              <a:rect r="r" b="b" t="t" l="l"/>
              <a:pathLst>
                <a:path h="12053443" w="22610445">
                  <a:moveTo>
                    <a:pt x="0" y="0"/>
                  </a:moveTo>
                  <a:lnTo>
                    <a:pt x="22610445" y="0"/>
                  </a:lnTo>
                  <a:lnTo>
                    <a:pt x="22610445" y="12053443"/>
                  </a:lnTo>
                  <a:lnTo>
                    <a:pt x="0" y="12053443"/>
                  </a:lnTo>
                  <a:close/>
                </a:path>
              </a:pathLst>
            </a:custGeom>
            <a:solidFill>
              <a:srgbClr val="FFFFFF"/>
            </a:solidFill>
            <a:ln w="12700">
              <a:solidFill>
                <a:srgbClr val="000000"/>
              </a:solidFill>
            </a:ln>
          </p:spPr>
        </p:sp>
      </p:grpSp>
      <p:grpSp>
        <p:nvGrpSpPr>
          <p:cNvPr name="Group 6" id="6"/>
          <p:cNvGrpSpPr/>
          <p:nvPr/>
        </p:nvGrpSpPr>
        <p:grpSpPr>
          <a:xfrm rot="0">
            <a:off x="1260224" y="1161564"/>
            <a:ext cx="15767552" cy="916200"/>
            <a:chOff x="0" y="0"/>
            <a:chExt cx="21023402" cy="1221600"/>
          </a:xfrm>
        </p:grpSpPr>
        <p:sp>
          <p:nvSpPr>
            <p:cNvPr name="Freeform 7" id="7"/>
            <p:cNvSpPr/>
            <p:nvPr/>
          </p:nvSpPr>
          <p:spPr>
            <a:xfrm flipH="false" flipV="false" rot="0">
              <a:off x="0" y="0"/>
              <a:ext cx="21023400" cy="1221600"/>
            </a:xfrm>
            <a:custGeom>
              <a:avLst/>
              <a:gdLst/>
              <a:ahLst/>
              <a:cxnLst/>
              <a:rect r="r" b="b" t="t" l="l"/>
              <a:pathLst>
                <a:path h="1221600" w="21023400">
                  <a:moveTo>
                    <a:pt x="0" y="0"/>
                  </a:moveTo>
                  <a:lnTo>
                    <a:pt x="21023400" y="0"/>
                  </a:lnTo>
                  <a:lnTo>
                    <a:pt x="21023400" y="1221600"/>
                  </a:lnTo>
                  <a:lnTo>
                    <a:pt x="0" y="1221600"/>
                  </a:lnTo>
                  <a:close/>
                </a:path>
              </a:pathLst>
            </a:custGeom>
            <a:solidFill>
              <a:srgbClr val="000000">
                <a:alpha val="0"/>
              </a:srgbClr>
            </a:solidFill>
            <a:ln w="12700">
              <a:solidFill>
                <a:srgbClr val="000000"/>
              </a:solidFill>
            </a:ln>
          </p:spPr>
        </p:sp>
        <p:sp>
          <p:nvSpPr>
            <p:cNvPr name="TextBox 8" id="8"/>
            <p:cNvSpPr txBox="true"/>
            <p:nvPr/>
          </p:nvSpPr>
          <p:spPr>
            <a:xfrm>
              <a:off x="0" y="-104775"/>
              <a:ext cx="21023402" cy="1326375"/>
            </a:xfrm>
            <a:prstGeom prst="rect">
              <a:avLst/>
            </a:prstGeom>
          </p:spPr>
          <p:txBody>
            <a:bodyPr anchor="b" rtlCol="false" tIns="0" lIns="0" bIns="0" rIns="0"/>
            <a:lstStyle/>
            <a:p>
              <a:pPr algn="ctr">
                <a:lnSpc>
                  <a:spcPts val="6480"/>
                </a:lnSpc>
              </a:pPr>
              <a:r>
                <a:rPr lang="en-US" b="true" sz="5400">
                  <a:solidFill>
                    <a:srgbClr val="000000"/>
                  </a:solidFill>
                  <a:latin typeface="Avenir Bold"/>
                  <a:ea typeface="Avenir Bold"/>
                  <a:cs typeface="Avenir Bold"/>
                  <a:sym typeface="Avenir Bold"/>
                </a:rPr>
                <a:t>OUTPUTS</a:t>
              </a:r>
            </a:p>
          </p:txBody>
        </p:sp>
      </p:grpSp>
      <p:grpSp>
        <p:nvGrpSpPr>
          <p:cNvPr name="Group 9" id="9"/>
          <p:cNvGrpSpPr/>
          <p:nvPr/>
        </p:nvGrpSpPr>
        <p:grpSpPr>
          <a:xfrm rot="0">
            <a:off x="15537656" y="685800"/>
            <a:ext cx="1601553" cy="707403"/>
            <a:chOff x="0" y="0"/>
            <a:chExt cx="2135403" cy="943204"/>
          </a:xfrm>
        </p:grpSpPr>
        <p:sp>
          <p:nvSpPr>
            <p:cNvPr name="Freeform 10" id="10"/>
            <p:cNvSpPr/>
            <p:nvPr/>
          </p:nvSpPr>
          <p:spPr>
            <a:xfrm flipH="false" flipV="false" rot="0">
              <a:off x="0" y="0"/>
              <a:ext cx="2135400" cy="943200"/>
            </a:xfrm>
            <a:custGeom>
              <a:avLst/>
              <a:gdLst/>
              <a:ahLst/>
              <a:cxnLst/>
              <a:rect r="r" b="b" t="t" l="l"/>
              <a:pathLst>
                <a:path h="943200" w="2135400">
                  <a:moveTo>
                    <a:pt x="0" y="0"/>
                  </a:moveTo>
                  <a:lnTo>
                    <a:pt x="2135400" y="0"/>
                  </a:lnTo>
                  <a:lnTo>
                    <a:pt x="2135400" y="943200"/>
                  </a:lnTo>
                  <a:lnTo>
                    <a:pt x="0" y="943200"/>
                  </a:lnTo>
                  <a:close/>
                </a:path>
              </a:pathLst>
            </a:custGeom>
            <a:solidFill>
              <a:srgbClr val="000000">
                <a:alpha val="0"/>
              </a:srgbClr>
            </a:solidFill>
            <a:ln w="12700">
              <a:solidFill>
                <a:srgbClr val="000000"/>
              </a:solidFill>
            </a:ln>
          </p:spPr>
        </p:sp>
        <p:sp>
          <p:nvSpPr>
            <p:cNvPr name="TextBox 11" id="11"/>
            <p:cNvSpPr txBox="true"/>
            <p:nvPr/>
          </p:nvSpPr>
          <p:spPr>
            <a:xfrm>
              <a:off x="0" y="-9525"/>
              <a:ext cx="2135403" cy="952729"/>
            </a:xfrm>
            <a:prstGeom prst="rect">
              <a:avLst/>
            </a:prstGeom>
          </p:spPr>
          <p:txBody>
            <a:bodyPr anchor="ctr" rtlCol="false" tIns="0" lIns="0" bIns="0" rIns="0"/>
            <a:lstStyle/>
            <a:p>
              <a:pPr algn="r">
                <a:lnSpc>
                  <a:spcPts val="2879"/>
                </a:lnSpc>
              </a:pPr>
              <a:r>
                <a:rPr lang="en-US" sz="2400">
                  <a:solidFill>
                    <a:srgbClr val="958EA2"/>
                  </a:solidFill>
                  <a:latin typeface="Arial"/>
                  <a:ea typeface="Arial"/>
                  <a:cs typeface="Arial"/>
                  <a:sym typeface="Arial"/>
                </a:rPr>
                <a:t>22</a:t>
              </a:r>
            </a:p>
          </p:txBody>
        </p:sp>
      </p:grpSp>
      <p:sp>
        <p:nvSpPr>
          <p:cNvPr name="Freeform 12" id="12"/>
          <p:cNvSpPr/>
          <p:nvPr/>
        </p:nvSpPr>
        <p:spPr>
          <a:xfrm flipH="false" flipV="false" rot="0">
            <a:off x="1109399" y="1887951"/>
            <a:ext cx="11301259" cy="5368098"/>
          </a:xfrm>
          <a:custGeom>
            <a:avLst/>
            <a:gdLst/>
            <a:ahLst/>
            <a:cxnLst/>
            <a:rect r="r" b="b" t="t" l="l"/>
            <a:pathLst>
              <a:path h="5368098" w="11301259">
                <a:moveTo>
                  <a:pt x="0" y="0"/>
                </a:moveTo>
                <a:lnTo>
                  <a:pt x="11301259" y="0"/>
                </a:lnTo>
                <a:lnTo>
                  <a:pt x="11301259" y="5368098"/>
                </a:lnTo>
                <a:lnTo>
                  <a:pt x="0" y="5368098"/>
                </a:lnTo>
                <a:lnTo>
                  <a:pt x="0" y="0"/>
                </a:lnTo>
                <a:close/>
              </a:path>
            </a:pathLst>
          </a:custGeom>
          <a:blipFill>
            <a:blip r:embed="rId3"/>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6100" y="0"/>
            <a:ext cx="18324004" cy="5200650"/>
            <a:chOff x="0" y="0"/>
            <a:chExt cx="24432006" cy="6934200"/>
          </a:xfrm>
        </p:grpSpPr>
        <p:sp>
          <p:nvSpPr>
            <p:cNvPr name="Freeform 3" id="3"/>
            <p:cNvSpPr/>
            <p:nvPr/>
          </p:nvSpPr>
          <p:spPr>
            <a:xfrm flipH="false" flipV="false" rot="0">
              <a:off x="0" y="0"/>
              <a:ext cx="24432006" cy="6934200"/>
            </a:xfrm>
            <a:custGeom>
              <a:avLst/>
              <a:gdLst/>
              <a:ahLst/>
              <a:cxnLst/>
              <a:rect r="r" b="b" t="t" l="l"/>
              <a:pathLst>
                <a:path h="6934200" w="24432006">
                  <a:moveTo>
                    <a:pt x="0" y="0"/>
                  </a:moveTo>
                  <a:lnTo>
                    <a:pt x="24432006" y="0"/>
                  </a:lnTo>
                  <a:lnTo>
                    <a:pt x="24432006" y="6934200"/>
                  </a:lnTo>
                  <a:lnTo>
                    <a:pt x="0" y="6934200"/>
                  </a:lnTo>
                  <a:close/>
                </a:path>
              </a:pathLst>
            </a:custGeom>
            <a:solidFill>
              <a:srgbClr val="AA2070"/>
            </a:solidFill>
            <a:ln w="12700">
              <a:solidFill>
                <a:srgbClr val="000000"/>
              </a:solidFill>
            </a:ln>
          </p:spPr>
        </p:sp>
      </p:grpSp>
      <p:grpSp>
        <p:nvGrpSpPr>
          <p:cNvPr name="Group 4" id="4"/>
          <p:cNvGrpSpPr/>
          <p:nvPr/>
        </p:nvGrpSpPr>
        <p:grpSpPr>
          <a:xfrm rot="0">
            <a:off x="665016" y="630736"/>
            <a:ext cx="16957796" cy="9040054"/>
            <a:chOff x="0" y="0"/>
            <a:chExt cx="22610394" cy="12053405"/>
          </a:xfrm>
        </p:grpSpPr>
        <p:sp>
          <p:nvSpPr>
            <p:cNvPr name="Freeform 5" id="5"/>
            <p:cNvSpPr/>
            <p:nvPr/>
          </p:nvSpPr>
          <p:spPr>
            <a:xfrm flipH="false" flipV="false" rot="0">
              <a:off x="0" y="0"/>
              <a:ext cx="22610445" cy="12053443"/>
            </a:xfrm>
            <a:custGeom>
              <a:avLst/>
              <a:gdLst/>
              <a:ahLst/>
              <a:cxnLst/>
              <a:rect r="r" b="b" t="t" l="l"/>
              <a:pathLst>
                <a:path h="12053443" w="22610445">
                  <a:moveTo>
                    <a:pt x="0" y="0"/>
                  </a:moveTo>
                  <a:lnTo>
                    <a:pt x="22610445" y="0"/>
                  </a:lnTo>
                  <a:lnTo>
                    <a:pt x="22610445" y="12053443"/>
                  </a:lnTo>
                  <a:lnTo>
                    <a:pt x="0" y="12053443"/>
                  </a:lnTo>
                  <a:close/>
                </a:path>
              </a:pathLst>
            </a:custGeom>
            <a:solidFill>
              <a:srgbClr val="FFFFFF"/>
            </a:solidFill>
            <a:ln w="12700">
              <a:solidFill>
                <a:srgbClr val="000000"/>
              </a:solidFill>
            </a:ln>
          </p:spPr>
        </p:sp>
      </p:grpSp>
      <p:grpSp>
        <p:nvGrpSpPr>
          <p:cNvPr name="Group 6" id="6"/>
          <p:cNvGrpSpPr/>
          <p:nvPr/>
        </p:nvGrpSpPr>
        <p:grpSpPr>
          <a:xfrm rot="0">
            <a:off x="15537656" y="685800"/>
            <a:ext cx="1601553" cy="707403"/>
            <a:chOff x="0" y="0"/>
            <a:chExt cx="2135403" cy="943204"/>
          </a:xfrm>
        </p:grpSpPr>
        <p:sp>
          <p:nvSpPr>
            <p:cNvPr name="Freeform 7" id="7"/>
            <p:cNvSpPr/>
            <p:nvPr/>
          </p:nvSpPr>
          <p:spPr>
            <a:xfrm flipH="false" flipV="false" rot="0">
              <a:off x="0" y="0"/>
              <a:ext cx="2135400" cy="943200"/>
            </a:xfrm>
            <a:custGeom>
              <a:avLst/>
              <a:gdLst/>
              <a:ahLst/>
              <a:cxnLst/>
              <a:rect r="r" b="b" t="t" l="l"/>
              <a:pathLst>
                <a:path h="943200" w="2135400">
                  <a:moveTo>
                    <a:pt x="0" y="0"/>
                  </a:moveTo>
                  <a:lnTo>
                    <a:pt x="2135400" y="0"/>
                  </a:lnTo>
                  <a:lnTo>
                    <a:pt x="2135400" y="943200"/>
                  </a:lnTo>
                  <a:lnTo>
                    <a:pt x="0" y="943200"/>
                  </a:lnTo>
                  <a:close/>
                </a:path>
              </a:pathLst>
            </a:custGeom>
            <a:solidFill>
              <a:srgbClr val="000000">
                <a:alpha val="0"/>
              </a:srgbClr>
            </a:solidFill>
            <a:ln w="12700">
              <a:solidFill>
                <a:srgbClr val="000000"/>
              </a:solidFill>
            </a:ln>
          </p:spPr>
        </p:sp>
        <p:sp>
          <p:nvSpPr>
            <p:cNvPr name="TextBox 8" id="8"/>
            <p:cNvSpPr txBox="true"/>
            <p:nvPr/>
          </p:nvSpPr>
          <p:spPr>
            <a:xfrm>
              <a:off x="0" y="-9525"/>
              <a:ext cx="2135403" cy="952729"/>
            </a:xfrm>
            <a:prstGeom prst="rect">
              <a:avLst/>
            </a:prstGeom>
          </p:spPr>
          <p:txBody>
            <a:bodyPr anchor="ctr" rtlCol="false" tIns="0" lIns="0" bIns="0" rIns="0"/>
            <a:lstStyle/>
            <a:p>
              <a:pPr algn="r">
                <a:lnSpc>
                  <a:spcPts val="2879"/>
                </a:lnSpc>
              </a:pPr>
              <a:r>
                <a:rPr lang="en-US" sz="2400">
                  <a:solidFill>
                    <a:srgbClr val="958EA2"/>
                  </a:solidFill>
                  <a:latin typeface="Arial"/>
                  <a:ea typeface="Arial"/>
                  <a:cs typeface="Arial"/>
                  <a:sym typeface="Arial"/>
                </a:rPr>
                <a:t>23</a:t>
              </a:r>
            </a:p>
          </p:txBody>
        </p:sp>
      </p:grpSp>
      <p:sp>
        <p:nvSpPr>
          <p:cNvPr name="Freeform 9" id="9"/>
          <p:cNvSpPr/>
          <p:nvPr/>
        </p:nvSpPr>
        <p:spPr>
          <a:xfrm flipH="false" flipV="false" rot="0">
            <a:off x="8602444" y="1428033"/>
            <a:ext cx="9015259" cy="5925737"/>
          </a:xfrm>
          <a:custGeom>
            <a:avLst/>
            <a:gdLst/>
            <a:ahLst/>
            <a:cxnLst/>
            <a:rect r="r" b="b" t="t" l="l"/>
            <a:pathLst>
              <a:path h="5925737" w="9015259">
                <a:moveTo>
                  <a:pt x="0" y="0"/>
                </a:moveTo>
                <a:lnTo>
                  <a:pt x="9015259" y="0"/>
                </a:lnTo>
                <a:lnTo>
                  <a:pt x="9015259" y="5925737"/>
                </a:lnTo>
                <a:lnTo>
                  <a:pt x="0" y="5925737"/>
                </a:lnTo>
                <a:lnTo>
                  <a:pt x="0" y="0"/>
                </a:lnTo>
                <a:close/>
              </a:path>
            </a:pathLst>
          </a:custGeom>
          <a:blipFill>
            <a:blip r:embed="rId3"/>
            <a:stretch>
              <a:fillRect l="-2830" t="0" r="-29623" b="0"/>
            </a:stretch>
          </a:blipFill>
        </p:spPr>
      </p:sp>
      <p:sp>
        <p:nvSpPr>
          <p:cNvPr name="Freeform 10" id="10"/>
          <p:cNvSpPr/>
          <p:nvPr/>
        </p:nvSpPr>
        <p:spPr>
          <a:xfrm flipH="false" flipV="false" rot="0">
            <a:off x="634102" y="1393203"/>
            <a:ext cx="7965829" cy="8627564"/>
          </a:xfrm>
          <a:custGeom>
            <a:avLst/>
            <a:gdLst/>
            <a:ahLst/>
            <a:cxnLst/>
            <a:rect r="r" b="b" t="t" l="l"/>
            <a:pathLst>
              <a:path h="8627564" w="7965829">
                <a:moveTo>
                  <a:pt x="0" y="0"/>
                </a:moveTo>
                <a:lnTo>
                  <a:pt x="7965829" y="0"/>
                </a:lnTo>
                <a:lnTo>
                  <a:pt x="7965829" y="8627564"/>
                </a:lnTo>
                <a:lnTo>
                  <a:pt x="0" y="8627564"/>
                </a:lnTo>
                <a:lnTo>
                  <a:pt x="0" y="0"/>
                </a:lnTo>
                <a:close/>
              </a:path>
            </a:pathLst>
          </a:custGeom>
          <a:blipFill>
            <a:blip r:embed="rId4"/>
            <a:stretch>
              <a:fillRect l="-73905" t="-10316" r="-68694" b="0"/>
            </a:stretch>
          </a:blipFill>
        </p:spPr>
      </p:sp>
      <p:sp>
        <p:nvSpPr>
          <p:cNvPr name="Freeform 11" id="11"/>
          <p:cNvSpPr/>
          <p:nvPr/>
        </p:nvSpPr>
        <p:spPr>
          <a:xfrm flipH="false" flipV="false" rot="0">
            <a:off x="8604369" y="7038799"/>
            <a:ext cx="9013334" cy="2966699"/>
          </a:xfrm>
          <a:custGeom>
            <a:avLst/>
            <a:gdLst/>
            <a:ahLst/>
            <a:cxnLst/>
            <a:rect r="r" b="b" t="t" l="l"/>
            <a:pathLst>
              <a:path h="2966699" w="9013334">
                <a:moveTo>
                  <a:pt x="0" y="0"/>
                </a:moveTo>
                <a:lnTo>
                  <a:pt x="9013334" y="0"/>
                </a:lnTo>
                <a:lnTo>
                  <a:pt x="9013334" y="2966698"/>
                </a:lnTo>
                <a:lnTo>
                  <a:pt x="0" y="2966698"/>
                </a:lnTo>
                <a:lnTo>
                  <a:pt x="0" y="0"/>
                </a:lnTo>
                <a:close/>
              </a:path>
            </a:pathLst>
          </a:custGeom>
          <a:blipFill>
            <a:blip r:embed="rId5"/>
            <a:stretch>
              <a:fillRect l="-2753" t="-52953" r="-3125" b="-7081"/>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6100" y="0"/>
            <a:ext cx="18324004" cy="5200650"/>
            <a:chOff x="0" y="0"/>
            <a:chExt cx="24432006" cy="6934200"/>
          </a:xfrm>
        </p:grpSpPr>
        <p:sp>
          <p:nvSpPr>
            <p:cNvPr name="Freeform 3" id="3"/>
            <p:cNvSpPr/>
            <p:nvPr/>
          </p:nvSpPr>
          <p:spPr>
            <a:xfrm flipH="false" flipV="false" rot="0">
              <a:off x="0" y="0"/>
              <a:ext cx="24432006" cy="6934200"/>
            </a:xfrm>
            <a:custGeom>
              <a:avLst/>
              <a:gdLst/>
              <a:ahLst/>
              <a:cxnLst/>
              <a:rect r="r" b="b" t="t" l="l"/>
              <a:pathLst>
                <a:path h="6934200" w="24432006">
                  <a:moveTo>
                    <a:pt x="0" y="0"/>
                  </a:moveTo>
                  <a:lnTo>
                    <a:pt x="24432006" y="0"/>
                  </a:lnTo>
                  <a:lnTo>
                    <a:pt x="24432006" y="6934200"/>
                  </a:lnTo>
                  <a:lnTo>
                    <a:pt x="0" y="6934200"/>
                  </a:lnTo>
                  <a:close/>
                </a:path>
              </a:pathLst>
            </a:custGeom>
            <a:solidFill>
              <a:srgbClr val="AA2070"/>
            </a:solidFill>
            <a:ln w="12700">
              <a:solidFill>
                <a:srgbClr val="000000"/>
              </a:solidFill>
            </a:ln>
          </p:spPr>
        </p:sp>
      </p:grpSp>
      <p:grpSp>
        <p:nvGrpSpPr>
          <p:cNvPr name="Group 4" id="4"/>
          <p:cNvGrpSpPr/>
          <p:nvPr/>
        </p:nvGrpSpPr>
        <p:grpSpPr>
          <a:xfrm rot="0">
            <a:off x="665016" y="630736"/>
            <a:ext cx="16957796" cy="9040054"/>
            <a:chOff x="0" y="0"/>
            <a:chExt cx="22610394" cy="12053405"/>
          </a:xfrm>
        </p:grpSpPr>
        <p:sp>
          <p:nvSpPr>
            <p:cNvPr name="Freeform 5" id="5"/>
            <p:cNvSpPr/>
            <p:nvPr/>
          </p:nvSpPr>
          <p:spPr>
            <a:xfrm flipH="false" flipV="false" rot="0">
              <a:off x="0" y="0"/>
              <a:ext cx="22610445" cy="12053443"/>
            </a:xfrm>
            <a:custGeom>
              <a:avLst/>
              <a:gdLst/>
              <a:ahLst/>
              <a:cxnLst/>
              <a:rect r="r" b="b" t="t" l="l"/>
              <a:pathLst>
                <a:path h="12053443" w="22610445">
                  <a:moveTo>
                    <a:pt x="0" y="0"/>
                  </a:moveTo>
                  <a:lnTo>
                    <a:pt x="22610445" y="0"/>
                  </a:lnTo>
                  <a:lnTo>
                    <a:pt x="22610445" y="12053443"/>
                  </a:lnTo>
                  <a:lnTo>
                    <a:pt x="0" y="12053443"/>
                  </a:lnTo>
                  <a:close/>
                </a:path>
              </a:pathLst>
            </a:custGeom>
            <a:solidFill>
              <a:srgbClr val="FFFFFF"/>
            </a:solidFill>
            <a:ln w="12700">
              <a:solidFill>
                <a:srgbClr val="000000"/>
              </a:solidFill>
            </a:ln>
          </p:spPr>
        </p:sp>
      </p:grpSp>
      <p:grpSp>
        <p:nvGrpSpPr>
          <p:cNvPr name="Group 6" id="6"/>
          <p:cNvGrpSpPr/>
          <p:nvPr/>
        </p:nvGrpSpPr>
        <p:grpSpPr>
          <a:xfrm rot="0">
            <a:off x="15537656" y="685800"/>
            <a:ext cx="1601553" cy="707403"/>
            <a:chOff x="0" y="0"/>
            <a:chExt cx="2135403" cy="943204"/>
          </a:xfrm>
        </p:grpSpPr>
        <p:sp>
          <p:nvSpPr>
            <p:cNvPr name="Freeform 7" id="7"/>
            <p:cNvSpPr/>
            <p:nvPr/>
          </p:nvSpPr>
          <p:spPr>
            <a:xfrm flipH="false" flipV="false" rot="0">
              <a:off x="0" y="0"/>
              <a:ext cx="2135400" cy="943200"/>
            </a:xfrm>
            <a:custGeom>
              <a:avLst/>
              <a:gdLst/>
              <a:ahLst/>
              <a:cxnLst/>
              <a:rect r="r" b="b" t="t" l="l"/>
              <a:pathLst>
                <a:path h="943200" w="2135400">
                  <a:moveTo>
                    <a:pt x="0" y="0"/>
                  </a:moveTo>
                  <a:lnTo>
                    <a:pt x="2135400" y="0"/>
                  </a:lnTo>
                  <a:lnTo>
                    <a:pt x="2135400" y="943200"/>
                  </a:lnTo>
                  <a:lnTo>
                    <a:pt x="0" y="943200"/>
                  </a:lnTo>
                  <a:close/>
                </a:path>
              </a:pathLst>
            </a:custGeom>
            <a:solidFill>
              <a:srgbClr val="000000">
                <a:alpha val="0"/>
              </a:srgbClr>
            </a:solidFill>
            <a:ln w="12700">
              <a:solidFill>
                <a:srgbClr val="000000"/>
              </a:solidFill>
            </a:ln>
          </p:spPr>
        </p:sp>
        <p:sp>
          <p:nvSpPr>
            <p:cNvPr name="TextBox 8" id="8"/>
            <p:cNvSpPr txBox="true"/>
            <p:nvPr/>
          </p:nvSpPr>
          <p:spPr>
            <a:xfrm>
              <a:off x="0" y="-9525"/>
              <a:ext cx="2135403" cy="952729"/>
            </a:xfrm>
            <a:prstGeom prst="rect">
              <a:avLst/>
            </a:prstGeom>
          </p:spPr>
          <p:txBody>
            <a:bodyPr anchor="ctr" rtlCol="false" tIns="0" lIns="0" bIns="0" rIns="0"/>
            <a:lstStyle/>
            <a:p>
              <a:pPr algn="r">
                <a:lnSpc>
                  <a:spcPts val="2879"/>
                </a:lnSpc>
              </a:pPr>
              <a:r>
                <a:rPr lang="en-US" sz="2400">
                  <a:solidFill>
                    <a:srgbClr val="958EA2"/>
                  </a:solidFill>
                  <a:latin typeface="Arial"/>
                  <a:ea typeface="Arial"/>
                  <a:cs typeface="Arial"/>
                  <a:sym typeface="Arial"/>
                </a:rPr>
                <a:t>24</a:t>
              </a:r>
            </a:p>
          </p:txBody>
        </p:sp>
      </p:grpSp>
      <p:sp>
        <p:nvSpPr>
          <p:cNvPr name="Freeform 9" id="9"/>
          <p:cNvSpPr/>
          <p:nvPr/>
        </p:nvSpPr>
        <p:spPr>
          <a:xfrm flipH="false" flipV="false" rot="0">
            <a:off x="681345" y="1228645"/>
            <a:ext cx="5948055" cy="5798580"/>
          </a:xfrm>
          <a:custGeom>
            <a:avLst/>
            <a:gdLst/>
            <a:ahLst/>
            <a:cxnLst/>
            <a:rect r="r" b="b" t="t" l="l"/>
            <a:pathLst>
              <a:path h="5798580" w="5948055">
                <a:moveTo>
                  <a:pt x="0" y="0"/>
                </a:moveTo>
                <a:lnTo>
                  <a:pt x="5948055" y="0"/>
                </a:lnTo>
                <a:lnTo>
                  <a:pt x="5948055" y="5798580"/>
                </a:lnTo>
                <a:lnTo>
                  <a:pt x="0" y="5798580"/>
                </a:lnTo>
                <a:lnTo>
                  <a:pt x="0" y="0"/>
                </a:lnTo>
                <a:close/>
              </a:path>
            </a:pathLst>
          </a:custGeom>
          <a:blipFill>
            <a:blip r:embed="rId3"/>
            <a:stretch>
              <a:fillRect l="-10402" t="-26470" r="-185026" b="-26188"/>
            </a:stretch>
          </a:blipFill>
        </p:spPr>
      </p:sp>
      <p:sp>
        <p:nvSpPr>
          <p:cNvPr name="Freeform 10" id="10"/>
          <p:cNvSpPr/>
          <p:nvPr/>
        </p:nvSpPr>
        <p:spPr>
          <a:xfrm flipH="false" flipV="false" rot="0">
            <a:off x="6645729" y="1215499"/>
            <a:ext cx="11004349" cy="8312979"/>
          </a:xfrm>
          <a:custGeom>
            <a:avLst/>
            <a:gdLst/>
            <a:ahLst/>
            <a:cxnLst/>
            <a:rect r="r" b="b" t="t" l="l"/>
            <a:pathLst>
              <a:path h="8312979" w="11004349">
                <a:moveTo>
                  <a:pt x="0" y="0"/>
                </a:moveTo>
                <a:lnTo>
                  <a:pt x="11004349" y="0"/>
                </a:lnTo>
                <a:lnTo>
                  <a:pt x="11004349" y="8312978"/>
                </a:lnTo>
                <a:lnTo>
                  <a:pt x="0" y="8312978"/>
                </a:lnTo>
                <a:lnTo>
                  <a:pt x="0" y="0"/>
                </a:lnTo>
                <a:close/>
              </a:path>
            </a:pathLst>
          </a:custGeom>
          <a:blipFill>
            <a:blip r:embed="rId4"/>
            <a:stretch>
              <a:fillRect l="-5638" t="0" r="-51741"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6100" y="0"/>
            <a:ext cx="18324004" cy="5200650"/>
            <a:chOff x="0" y="0"/>
            <a:chExt cx="24432006" cy="6934200"/>
          </a:xfrm>
        </p:grpSpPr>
        <p:sp>
          <p:nvSpPr>
            <p:cNvPr name="Freeform 3" id="3"/>
            <p:cNvSpPr/>
            <p:nvPr/>
          </p:nvSpPr>
          <p:spPr>
            <a:xfrm flipH="false" flipV="false" rot="0">
              <a:off x="0" y="0"/>
              <a:ext cx="24432006" cy="6934200"/>
            </a:xfrm>
            <a:custGeom>
              <a:avLst/>
              <a:gdLst/>
              <a:ahLst/>
              <a:cxnLst/>
              <a:rect r="r" b="b" t="t" l="l"/>
              <a:pathLst>
                <a:path h="6934200" w="24432006">
                  <a:moveTo>
                    <a:pt x="0" y="0"/>
                  </a:moveTo>
                  <a:lnTo>
                    <a:pt x="24432006" y="0"/>
                  </a:lnTo>
                  <a:lnTo>
                    <a:pt x="24432006" y="6934200"/>
                  </a:lnTo>
                  <a:lnTo>
                    <a:pt x="0" y="6934200"/>
                  </a:lnTo>
                  <a:close/>
                </a:path>
              </a:pathLst>
            </a:custGeom>
            <a:solidFill>
              <a:srgbClr val="AA2070"/>
            </a:solidFill>
            <a:ln w="12700">
              <a:solidFill>
                <a:srgbClr val="000000"/>
              </a:solidFill>
            </a:ln>
          </p:spPr>
        </p:sp>
      </p:grpSp>
      <p:grpSp>
        <p:nvGrpSpPr>
          <p:cNvPr name="Group 4" id="4"/>
          <p:cNvGrpSpPr/>
          <p:nvPr/>
        </p:nvGrpSpPr>
        <p:grpSpPr>
          <a:xfrm rot="0">
            <a:off x="665016" y="630736"/>
            <a:ext cx="16957796" cy="9040054"/>
            <a:chOff x="0" y="0"/>
            <a:chExt cx="22610394" cy="12053405"/>
          </a:xfrm>
        </p:grpSpPr>
        <p:sp>
          <p:nvSpPr>
            <p:cNvPr name="Freeform 5" id="5"/>
            <p:cNvSpPr/>
            <p:nvPr/>
          </p:nvSpPr>
          <p:spPr>
            <a:xfrm flipH="false" flipV="false" rot="0">
              <a:off x="0" y="0"/>
              <a:ext cx="22610445" cy="12053443"/>
            </a:xfrm>
            <a:custGeom>
              <a:avLst/>
              <a:gdLst/>
              <a:ahLst/>
              <a:cxnLst/>
              <a:rect r="r" b="b" t="t" l="l"/>
              <a:pathLst>
                <a:path h="12053443" w="22610445">
                  <a:moveTo>
                    <a:pt x="0" y="0"/>
                  </a:moveTo>
                  <a:lnTo>
                    <a:pt x="22610445" y="0"/>
                  </a:lnTo>
                  <a:lnTo>
                    <a:pt x="22610445" y="12053443"/>
                  </a:lnTo>
                  <a:lnTo>
                    <a:pt x="0" y="12053443"/>
                  </a:lnTo>
                  <a:close/>
                </a:path>
              </a:pathLst>
            </a:custGeom>
            <a:solidFill>
              <a:srgbClr val="FFFFFF"/>
            </a:solidFill>
            <a:ln w="12700">
              <a:solidFill>
                <a:srgbClr val="000000"/>
              </a:solidFill>
            </a:ln>
          </p:spPr>
        </p:sp>
      </p:grpSp>
      <p:grpSp>
        <p:nvGrpSpPr>
          <p:cNvPr name="Group 6" id="6"/>
          <p:cNvGrpSpPr/>
          <p:nvPr/>
        </p:nvGrpSpPr>
        <p:grpSpPr>
          <a:xfrm rot="0">
            <a:off x="15537656" y="685800"/>
            <a:ext cx="1601553" cy="707403"/>
            <a:chOff x="0" y="0"/>
            <a:chExt cx="2135403" cy="943204"/>
          </a:xfrm>
        </p:grpSpPr>
        <p:sp>
          <p:nvSpPr>
            <p:cNvPr name="Freeform 7" id="7"/>
            <p:cNvSpPr/>
            <p:nvPr/>
          </p:nvSpPr>
          <p:spPr>
            <a:xfrm flipH="false" flipV="false" rot="0">
              <a:off x="0" y="0"/>
              <a:ext cx="2135400" cy="943200"/>
            </a:xfrm>
            <a:custGeom>
              <a:avLst/>
              <a:gdLst/>
              <a:ahLst/>
              <a:cxnLst/>
              <a:rect r="r" b="b" t="t" l="l"/>
              <a:pathLst>
                <a:path h="943200" w="2135400">
                  <a:moveTo>
                    <a:pt x="0" y="0"/>
                  </a:moveTo>
                  <a:lnTo>
                    <a:pt x="2135400" y="0"/>
                  </a:lnTo>
                  <a:lnTo>
                    <a:pt x="2135400" y="943200"/>
                  </a:lnTo>
                  <a:lnTo>
                    <a:pt x="0" y="943200"/>
                  </a:lnTo>
                  <a:close/>
                </a:path>
              </a:pathLst>
            </a:custGeom>
            <a:solidFill>
              <a:srgbClr val="000000">
                <a:alpha val="0"/>
              </a:srgbClr>
            </a:solidFill>
            <a:ln w="12700">
              <a:solidFill>
                <a:srgbClr val="000000"/>
              </a:solidFill>
            </a:ln>
          </p:spPr>
        </p:sp>
        <p:sp>
          <p:nvSpPr>
            <p:cNvPr name="TextBox 8" id="8"/>
            <p:cNvSpPr txBox="true"/>
            <p:nvPr/>
          </p:nvSpPr>
          <p:spPr>
            <a:xfrm>
              <a:off x="0" y="-9525"/>
              <a:ext cx="2135403" cy="952729"/>
            </a:xfrm>
            <a:prstGeom prst="rect">
              <a:avLst/>
            </a:prstGeom>
          </p:spPr>
          <p:txBody>
            <a:bodyPr anchor="ctr" rtlCol="false" tIns="0" lIns="0" bIns="0" rIns="0"/>
            <a:lstStyle/>
            <a:p>
              <a:pPr algn="r">
                <a:lnSpc>
                  <a:spcPts val="2879"/>
                </a:lnSpc>
              </a:pPr>
              <a:r>
                <a:rPr lang="en-US" sz="2400">
                  <a:solidFill>
                    <a:srgbClr val="958EA2"/>
                  </a:solidFill>
                  <a:latin typeface="Arial"/>
                  <a:ea typeface="Arial"/>
                  <a:cs typeface="Arial"/>
                  <a:sym typeface="Arial"/>
                </a:rPr>
                <a:t>25</a:t>
              </a:r>
            </a:p>
          </p:txBody>
        </p:sp>
      </p:grpSp>
      <p:sp>
        <p:nvSpPr>
          <p:cNvPr name="Freeform 9" id="9"/>
          <p:cNvSpPr/>
          <p:nvPr/>
        </p:nvSpPr>
        <p:spPr>
          <a:xfrm flipH="false" flipV="false" rot="0">
            <a:off x="877288" y="845582"/>
            <a:ext cx="10586558" cy="8574028"/>
          </a:xfrm>
          <a:custGeom>
            <a:avLst/>
            <a:gdLst/>
            <a:ahLst/>
            <a:cxnLst/>
            <a:rect r="r" b="b" t="t" l="l"/>
            <a:pathLst>
              <a:path h="8574028" w="10586558">
                <a:moveTo>
                  <a:pt x="0" y="0"/>
                </a:moveTo>
                <a:lnTo>
                  <a:pt x="10586558" y="0"/>
                </a:lnTo>
                <a:lnTo>
                  <a:pt x="10586558" y="8574027"/>
                </a:lnTo>
                <a:lnTo>
                  <a:pt x="0" y="8574027"/>
                </a:lnTo>
                <a:lnTo>
                  <a:pt x="0" y="0"/>
                </a:lnTo>
                <a:close/>
              </a:path>
            </a:pathLst>
          </a:custGeom>
          <a:blipFill>
            <a:blip r:embed="rId3"/>
            <a:stretch>
              <a:fillRect l="0" t="0" r="-72778" b="0"/>
            </a:stretch>
          </a:blipFill>
        </p:spPr>
      </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6100" y="0"/>
            <a:ext cx="18324004" cy="5200650"/>
            <a:chOff x="0" y="0"/>
            <a:chExt cx="24432006" cy="6934200"/>
          </a:xfrm>
        </p:grpSpPr>
        <p:sp>
          <p:nvSpPr>
            <p:cNvPr name="Freeform 3" id="3"/>
            <p:cNvSpPr/>
            <p:nvPr/>
          </p:nvSpPr>
          <p:spPr>
            <a:xfrm flipH="false" flipV="false" rot="0">
              <a:off x="0" y="0"/>
              <a:ext cx="24432006" cy="6934200"/>
            </a:xfrm>
            <a:custGeom>
              <a:avLst/>
              <a:gdLst/>
              <a:ahLst/>
              <a:cxnLst/>
              <a:rect r="r" b="b" t="t" l="l"/>
              <a:pathLst>
                <a:path h="6934200" w="24432006">
                  <a:moveTo>
                    <a:pt x="0" y="0"/>
                  </a:moveTo>
                  <a:lnTo>
                    <a:pt x="24432006" y="0"/>
                  </a:lnTo>
                  <a:lnTo>
                    <a:pt x="24432006" y="6934200"/>
                  </a:lnTo>
                  <a:lnTo>
                    <a:pt x="0" y="6934200"/>
                  </a:lnTo>
                  <a:close/>
                </a:path>
              </a:pathLst>
            </a:custGeom>
            <a:solidFill>
              <a:srgbClr val="AA2070"/>
            </a:solidFill>
            <a:ln w="12700">
              <a:solidFill>
                <a:srgbClr val="000000"/>
              </a:solidFill>
            </a:ln>
          </p:spPr>
        </p:sp>
      </p:grpSp>
      <p:grpSp>
        <p:nvGrpSpPr>
          <p:cNvPr name="Group 4" id="4"/>
          <p:cNvGrpSpPr/>
          <p:nvPr/>
        </p:nvGrpSpPr>
        <p:grpSpPr>
          <a:xfrm rot="0">
            <a:off x="665016" y="630736"/>
            <a:ext cx="16957796" cy="9040054"/>
            <a:chOff x="0" y="0"/>
            <a:chExt cx="22610394" cy="12053405"/>
          </a:xfrm>
        </p:grpSpPr>
        <p:sp>
          <p:nvSpPr>
            <p:cNvPr name="Freeform 5" id="5"/>
            <p:cNvSpPr/>
            <p:nvPr/>
          </p:nvSpPr>
          <p:spPr>
            <a:xfrm flipH="false" flipV="false" rot="0">
              <a:off x="0" y="0"/>
              <a:ext cx="22610445" cy="12053443"/>
            </a:xfrm>
            <a:custGeom>
              <a:avLst/>
              <a:gdLst/>
              <a:ahLst/>
              <a:cxnLst/>
              <a:rect r="r" b="b" t="t" l="l"/>
              <a:pathLst>
                <a:path h="12053443" w="22610445">
                  <a:moveTo>
                    <a:pt x="0" y="0"/>
                  </a:moveTo>
                  <a:lnTo>
                    <a:pt x="22610445" y="0"/>
                  </a:lnTo>
                  <a:lnTo>
                    <a:pt x="22610445" y="12053443"/>
                  </a:lnTo>
                  <a:lnTo>
                    <a:pt x="0" y="12053443"/>
                  </a:lnTo>
                  <a:close/>
                </a:path>
              </a:pathLst>
            </a:custGeom>
            <a:solidFill>
              <a:srgbClr val="FFFFFF"/>
            </a:solidFill>
            <a:ln w="12700">
              <a:solidFill>
                <a:srgbClr val="000000"/>
              </a:solidFill>
            </a:ln>
          </p:spPr>
        </p:sp>
      </p:grpSp>
      <p:grpSp>
        <p:nvGrpSpPr>
          <p:cNvPr name="Group 6" id="6"/>
          <p:cNvGrpSpPr/>
          <p:nvPr/>
        </p:nvGrpSpPr>
        <p:grpSpPr>
          <a:xfrm rot="0">
            <a:off x="855636" y="279902"/>
            <a:ext cx="15767552" cy="1519199"/>
            <a:chOff x="0" y="0"/>
            <a:chExt cx="21023402" cy="2025599"/>
          </a:xfrm>
        </p:grpSpPr>
        <p:sp>
          <p:nvSpPr>
            <p:cNvPr name="Freeform 7" id="7"/>
            <p:cNvSpPr/>
            <p:nvPr/>
          </p:nvSpPr>
          <p:spPr>
            <a:xfrm flipH="false" flipV="false" rot="0">
              <a:off x="0" y="0"/>
              <a:ext cx="21023400" cy="2025600"/>
            </a:xfrm>
            <a:custGeom>
              <a:avLst/>
              <a:gdLst/>
              <a:ahLst/>
              <a:cxnLst/>
              <a:rect r="r" b="b" t="t" l="l"/>
              <a:pathLst>
                <a:path h="2025600" w="21023400">
                  <a:moveTo>
                    <a:pt x="0" y="0"/>
                  </a:moveTo>
                  <a:lnTo>
                    <a:pt x="21023400" y="0"/>
                  </a:lnTo>
                  <a:lnTo>
                    <a:pt x="21023400" y="2025600"/>
                  </a:lnTo>
                  <a:lnTo>
                    <a:pt x="0" y="2025600"/>
                  </a:lnTo>
                  <a:close/>
                </a:path>
              </a:pathLst>
            </a:custGeom>
            <a:solidFill>
              <a:srgbClr val="000000">
                <a:alpha val="0"/>
              </a:srgbClr>
            </a:solidFill>
            <a:ln w="12700">
              <a:solidFill>
                <a:srgbClr val="000000"/>
              </a:solidFill>
            </a:ln>
          </p:spPr>
        </p:sp>
        <p:sp>
          <p:nvSpPr>
            <p:cNvPr name="TextBox 8" id="8"/>
            <p:cNvSpPr txBox="true"/>
            <p:nvPr/>
          </p:nvSpPr>
          <p:spPr>
            <a:xfrm>
              <a:off x="0" y="-104775"/>
              <a:ext cx="21023402" cy="2130374"/>
            </a:xfrm>
            <a:prstGeom prst="rect">
              <a:avLst/>
            </a:prstGeom>
          </p:spPr>
          <p:txBody>
            <a:bodyPr anchor="b" rtlCol="false" tIns="0" lIns="0" bIns="0" rIns="0"/>
            <a:lstStyle/>
            <a:p>
              <a:pPr algn="l">
                <a:lnSpc>
                  <a:spcPts val="6480"/>
                </a:lnSpc>
              </a:pPr>
              <a:r>
                <a:rPr lang="en-US" sz="5400" b="true">
                  <a:solidFill>
                    <a:srgbClr val="000000"/>
                  </a:solidFill>
                  <a:latin typeface="Avenir Bold"/>
                  <a:ea typeface="Avenir Bold"/>
                  <a:cs typeface="Avenir Bold"/>
                  <a:sym typeface="Avenir Bold"/>
                </a:rPr>
                <a:t>REFERENCES:</a:t>
              </a:r>
            </a:p>
          </p:txBody>
        </p:sp>
      </p:grpSp>
      <p:grpSp>
        <p:nvGrpSpPr>
          <p:cNvPr name="Group 9" id="9"/>
          <p:cNvGrpSpPr/>
          <p:nvPr/>
        </p:nvGrpSpPr>
        <p:grpSpPr>
          <a:xfrm rot="0">
            <a:off x="15537656" y="685800"/>
            <a:ext cx="1601553" cy="707403"/>
            <a:chOff x="0" y="0"/>
            <a:chExt cx="2135403" cy="943204"/>
          </a:xfrm>
        </p:grpSpPr>
        <p:sp>
          <p:nvSpPr>
            <p:cNvPr name="Freeform 10" id="10"/>
            <p:cNvSpPr/>
            <p:nvPr/>
          </p:nvSpPr>
          <p:spPr>
            <a:xfrm flipH="false" flipV="false" rot="0">
              <a:off x="0" y="0"/>
              <a:ext cx="2135400" cy="943200"/>
            </a:xfrm>
            <a:custGeom>
              <a:avLst/>
              <a:gdLst/>
              <a:ahLst/>
              <a:cxnLst/>
              <a:rect r="r" b="b" t="t" l="l"/>
              <a:pathLst>
                <a:path h="943200" w="2135400">
                  <a:moveTo>
                    <a:pt x="0" y="0"/>
                  </a:moveTo>
                  <a:lnTo>
                    <a:pt x="2135400" y="0"/>
                  </a:lnTo>
                  <a:lnTo>
                    <a:pt x="2135400" y="943200"/>
                  </a:lnTo>
                  <a:lnTo>
                    <a:pt x="0" y="943200"/>
                  </a:lnTo>
                  <a:close/>
                </a:path>
              </a:pathLst>
            </a:custGeom>
            <a:solidFill>
              <a:srgbClr val="000000">
                <a:alpha val="0"/>
              </a:srgbClr>
            </a:solidFill>
            <a:ln w="12700">
              <a:solidFill>
                <a:srgbClr val="000000"/>
              </a:solidFill>
            </a:ln>
          </p:spPr>
        </p:sp>
        <p:sp>
          <p:nvSpPr>
            <p:cNvPr name="TextBox 11" id="11"/>
            <p:cNvSpPr txBox="true"/>
            <p:nvPr/>
          </p:nvSpPr>
          <p:spPr>
            <a:xfrm>
              <a:off x="0" y="-9525"/>
              <a:ext cx="2135403" cy="952729"/>
            </a:xfrm>
            <a:prstGeom prst="rect">
              <a:avLst/>
            </a:prstGeom>
          </p:spPr>
          <p:txBody>
            <a:bodyPr anchor="ctr" rtlCol="false" tIns="0" lIns="0" bIns="0" rIns="0"/>
            <a:lstStyle/>
            <a:p>
              <a:pPr algn="r">
                <a:lnSpc>
                  <a:spcPts val="2879"/>
                </a:lnSpc>
              </a:pPr>
              <a:r>
                <a:rPr lang="en-US" sz="2400">
                  <a:solidFill>
                    <a:srgbClr val="958EA2"/>
                  </a:solidFill>
                  <a:latin typeface="Arial"/>
                  <a:ea typeface="Arial"/>
                  <a:cs typeface="Arial"/>
                  <a:sym typeface="Arial"/>
                </a:rPr>
                <a:t>26</a:t>
              </a:r>
            </a:p>
          </p:txBody>
        </p:sp>
      </p:grpSp>
      <p:sp>
        <p:nvSpPr>
          <p:cNvPr name="TextBox 12" id="12"/>
          <p:cNvSpPr txBox="true"/>
          <p:nvPr/>
        </p:nvSpPr>
        <p:spPr>
          <a:xfrm rot="0">
            <a:off x="1028700" y="1877624"/>
            <a:ext cx="16430522" cy="7753512"/>
          </a:xfrm>
          <a:prstGeom prst="rect">
            <a:avLst/>
          </a:prstGeom>
        </p:spPr>
        <p:txBody>
          <a:bodyPr anchor="t" rtlCol="false" tIns="0" lIns="0" bIns="0" rIns="0">
            <a:spAutoFit/>
          </a:bodyPr>
          <a:lstStyle/>
          <a:p>
            <a:pPr algn="just">
              <a:lnSpc>
                <a:spcPts val="2158"/>
              </a:lnSpc>
            </a:pPr>
            <a:r>
              <a:rPr lang="en-US" sz="1800">
                <a:solidFill>
                  <a:srgbClr val="000000"/>
                </a:solidFill>
                <a:latin typeface="Arial"/>
                <a:ea typeface="Arial"/>
                <a:cs typeface="Arial"/>
                <a:sym typeface="Arial"/>
              </a:rPr>
              <a:t>[1] </a:t>
            </a:r>
            <a:r>
              <a:rPr lang="en-US" sz="1800">
                <a:solidFill>
                  <a:srgbClr val="000000"/>
                </a:solidFill>
                <a:latin typeface="Arial"/>
                <a:ea typeface="Arial"/>
                <a:cs typeface="Arial"/>
                <a:sym typeface="Arial"/>
              </a:rPr>
              <a:t>Poonkuzhali, S., Archana Sangeetha J, Prem Anand, T.P (2023). Metaverse 3C: Concept, Components, and Challenges in Travel and Tourism Sector. In: </a:t>
            </a:r>
          </a:p>
          <a:p>
            <a:pPr algn="just">
              <a:lnSpc>
                <a:spcPts val="2158"/>
              </a:lnSpc>
            </a:pPr>
            <a:r>
              <a:rPr lang="en-US" sz="1800">
                <a:solidFill>
                  <a:srgbClr val="000000"/>
                </a:solidFill>
                <a:latin typeface="Arial"/>
                <a:ea typeface="Arial"/>
                <a:cs typeface="Arial"/>
                <a:sym typeface="Arial"/>
              </a:rPr>
              <a:t>     </a:t>
            </a:r>
            <a:r>
              <a:rPr lang="en-US" sz="1800">
                <a:solidFill>
                  <a:srgbClr val="000000"/>
                </a:solidFill>
                <a:latin typeface="Arial"/>
                <a:ea typeface="Arial"/>
                <a:cs typeface="Arial"/>
                <a:sym typeface="Arial"/>
              </a:rPr>
              <a:t>Rajakumar, G., Du, KL., Rocha, Á. (eds) Intelligent Communication Technologies and Virtual Mobile Networks. ICICV 2023. Lecture Notes on Data Engineering </a:t>
            </a:r>
          </a:p>
          <a:p>
            <a:pPr algn="just">
              <a:lnSpc>
                <a:spcPts val="2158"/>
              </a:lnSpc>
            </a:pPr>
            <a:r>
              <a:rPr lang="en-US" sz="1800">
                <a:solidFill>
                  <a:srgbClr val="000000"/>
                </a:solidFill>
                <a:latin typeface="Arial"/>
                <a:ea typeface="Arial"/>
                <a:cs typeface="Arial"/>
                <a:sym typeface="Arial"/>
              </a:rPr>
              <a:t>     </a:t>
            </a:r>
            <a:r>
              <a:rPr lang="en-US" sz="1800">
                <a:solidFill>
                  <a:srgbClr val="000000"/>
                </a:solidFill>
                <a:latin typeface="Arial"/>
                <a:ea typeface="Arial"/>
                <a:cs typeface="Arial"/>
                <a:sym typeface="Arial"/>
              </a:rPr>
              <a:t>and Communications Technologies, vol 171. Springer, Singapore</a:t>
            </a:r>
          </a:p>
          <a:p>
            <a:pPr algn="just">
              <a:lnSpc>
                <a:spcPts val="2159"/>
              </a:lnSpc>
            </a:pPr>
          </a:p>
          <a:p>
            <a:pPr algn="just">
              <a:lnSpc>
                <a:spcPts val="2158"/>
              </a:lnSpc>
            </a:pPr>
            <a:r>
              <a:rPr lang="en-US" sz="1800">
                <a:solidFill>
                  <a:srgbClr val="000000"/>
                </a:solidFill>
                <a:latin typeface="Arial"/>
                <a:ea typeface="Arial"/>
                <a:cs typeface="Arial"/>
                <a:sym typeface="Arial"/>
              </a:rPr>
              <a:t>[2] G.RatnaKanth and S.Poonkuzhali, “ Sentiment Classification of Indian Tourist Reviews Using Deep Learning  Techniques” in the Journal of Environmental </a:t>
            </a:r>
          </a:p>
          <a:p>
            <a:pPr algn="just">
              <a:lnSpc>
                <a:spcPts val="2158"/>
              </a:lnSpc>
            </a:pPr>
            <a:r>
              <a:rPr lang="en-US" sz="1800">
                <a:solidFill>
                  <a:srgbClr val="000000"/>
                </a:solidFill>
                <a:latin typeface="Arial"/>
                <a:ea typeface="Arial"/>
                <a:cs typeface="Arial"/>
                <a:sym typeface="Arial"/>
              </a:rPr>
              <a:t>     </a:t>
            </a:r>
            <a:r>
              <a:rPr lang="en-US" sz="1800">
                <a:solidFill>
                  <a:srgbClr val="000000"/>
                </a:solidFill>
                <a:latin typeface="Arial"/>
                <a:ea typeface="Arial"/>
                <a:cs typeface="Arial"/>
                <a:sym typeface="Arial"/>
              </a:rPr>
              <a:t>Protection and Ecology – Vol 22. No 6.</a:t>
            </a:r>
          </a:p>
          <a:p>
            <a:pPr algn="just">
              <a:lnSpc>
                <a:spcPts val="2159"/>
              </a:lnSpc>
            </a:pPr>
          </a:p>
          <a:p>
            <a:pPr algn="just">
              <a:lnSpc>
                <a:spcPts val="2158"/>
              </a:lnSpc>
            </a:pPr>
            <a:r>
              <a:rPr lang="en-US" sz="1800">
                <a:solidFill>
                  <a:srgbClr val="000000"/>
                </a:solidFill>
                <a:latin typeface="Arial"/>
                <a:ea typeface="Arial"/>
                <a:cs typeface="Arial"/>
                <a:sym typeface="Arial"/>
              </a:rPr>
              <a:t>[3] Ratnakanth, G., Poonkuzhali, S. (2023). Indian Tourist Recommendation System Using Collaborative Filtering and Deep Autoencoder. In: Kaiser, M.S., Xie, J., </a:t>
            </a:r>
          </a:p>
          <a:p>
            <a:pPr algn="just">
              <a:lnSpc>
                <a:spcPts val="2158"/>
              </a:lnSpc>
            </a:pPr>
            <a:r>
              <a:rPr lang="en-US" sz="1800">
                <a:solidFill>
                  <a:srgbClr val="000000"/>
                </a:solidFill>
                <a:latin typeface="Arial"/>
                <a:ea typeface="Arial"/>
                <a:cs typeface="Arial"/>
                <a:sym typeface="Arial"/>
              </a:rPr>
              <a:t>     </a:t>
            </a:r>
            <a:r>
              <a:rPr lang="en-US" sz="1800">
                <a:solidFill>
                  <a:srgbClr val="000000"/>
                </a:solidFill>
                <a:latin typeface="Arial"/>
                <a:ea typeface="Arial"/>
                <a:cs typeface="Arial"/>
                <a:sym typeface="Arial"/>
              </a:rPr>
              <a:t>Rathore, V.S. (eds) Information and Communication Technology for Competitive Strategies (ICTCS 2021). Lecture Notes in Networks and Systems, vol 401.     </a:t>
            </a:r>
          </a:p>
          <a:p>
            <a:pPr algn="just">
              <a:lnSpc>
                <a:spcPts val="2158"/>
              </a:lnSpc>
            </a:pPr>
            <a:r>
              <a:rPr lang="en-US" sz="1800">
                <a:solidFill>
                  <a:srgbClr val="000000"/>
                </a:solidFill>
                <a:latin typeface="Arial"/>
                <a:ea typeface="Arial"/>
                <a:cs typeface="Arial"/>
                <a:sym typeface="Arial"/>
              </a:rPr>
              <a:t>     </a:t>
            </a:r>
            <a:r>
              <a:rPr lang="en-US" sz="1800">
                <a:solidFill>
                  <a:srgbClr val="000000"/>
                </a:solidFill>
                <a:latin typeface="Arial"/>
                <a:ea typeface="Arial"/>
                <a:cs typeface="Arial"/>
                <a:sym typeface="Arial"/>
              </a:rPr>
              <a:t>Pp.341-356. Springer, Singapore.</a:t>
            </a:r>
          </a:p>
          <a:p>
            <a:pPr algn="just">
              <a:lnSpc>
                <a:spcPts val="2159"/>
              </a:lnSpc>
            </a:pPr>
          </a:p>
          <a:p>
            <a:pPr algn="just">
              <a:lnSpc>
                <a:spcPts val="2158"/>
              </a:lnSpc>
            </a:pPr>
            <a:r>
              <a:rPr lang="en-US" sz="1800">
                <a:solidFill>
                  <a:srgbClr val="000000"/>
                </a:solidFill>
                <a:latin typeface="Arial"/>
                <a:ea typeface="Arial"/>
                <a:cs typeface="Arial"/>
                <a:sym typeface="Arial"/>
              </a:rPr>
              <a:t>[4] </a:t>
            </a:r>
            <a:r>
              <a:rPr lang="en-US" sz="1800">
                <a:solidFill>
                  <a:srgbClr val="000000"/>
                </a:solidFill>
                <a:latin typeface="Arial"/>
                <a:ea typeface="Arial"/>
                <a:cs typeface="Arial"/>
                <a:sym typeface="Arial"/>
              </a:rPr>
              <a:t>De Paola, A., Gaglio, S., Giammanco, A., Lo Re, G., &amp; Morana, M. (2021). A multi‐agent system for itinerary suggestion in smart environments. CAAI </a:t>
            </a:r>
          </a:p>
          <a:p>
            <a:pPr algn="just">
              <a:lnSpc>
                <a:spcPts val="2158"/>
              </a:lnSpc>
            </a:pPr>
            <a:r>
              <a:rPr lang="en-US" sz="1800">
                <a:solidFill>
                  <a:srgbClr val="000000"/>
                </a:solidFill>
                <a:latin typeface="Arial"/>
                <a:ea typeface="Arial"/>
                <a:cs typeface="Arial"/>
                <a:sym typeface="Arial"/>
              </a:rPr>
              <a:t>     </a:t>
            </a:r>
            <a:r>
              <a:rPr lang="en-US" sz="1800">
                <a:solidFill>
                  <a:srgbClr val="000000"/>
                </a:solidFill>
                <a:latin typeface="Arial"/>
                <a:ea typeface="Arial"/>
                <a:cs typeface="Arial"/>
                <a:sym typeface="Arial"/>
              </a:rPr>
              <a:t>Transactions on Intelligence Technology, 6(4),</a:t>
            </a:r>
          </a:p>
          <a:p>
            <a:pPr algn="just">
              <a:lnSpc>
                <a:spcPts val="2159"/>
              </a:lnSpc>
            </a:pPr>
          </a:p>
          <a:p>
            <a:pPr algn="just">
              <a:lnSpc>
                <a:spcPts val="2158"/>
              </a:lnSpc>
            </a:pPr>
            <a:r>
              <a:rPr lang="en-US" sz="1800">
                <a:solidFill>
                  <a:srgbClr val="000000"/>
                </a:solidFill>
                <a:latin typeface="Arial"/>
                <a:ea typeface="Arial"/>
                <a:cs typeface="Arial"/>
                <a:sym typeface="Arial"/>
              </a:rPr>
              <a:t>[5] </a:t>
            </a:r>
            <a:r>
              <a:rPr lang="en-US" sz="1800">
                <a:solidFill>
                  <a:srgbClr val="000000"/>
                </a:solidFill>
                <a:latin typeface="Arial"/>
                <a:ea typeface="Arial"/>
                <a:cs typeface="Arial"/>
                <a:sym typeface="Arial"/>
              </a:rPr>
              <a:t>Lin, M., &amp; Schaposnik, L. P. (2025). A carbon aware ant colony system for the sustainable generalized traveling salesman problem. Scientific Reports, 15(1).</a:t>
            </a:r>
          </a:p>
          <a:p>
            <a:pPr algn="just">
              <a:lnSpc>
                <a:spcPts val="2159"/>
              </a:lnSpc>
            </a:pPr>
          </a:p>
          <a:p>
            <a:pPr algn="just">
              <a:lnSpc>
                <a:spcPts val="2158"/>
              </a:lnSpc>
            </a:pPr>
            <a:r>
              <a:rPr lang="en-US" sz="1800">
                <a:solidFill>
                  <a:srgbClr val="000000"/>
                </a:solidFill>
                <a:latin typeface="Arial"/>
                <a:ea typeface="Arial"/>
                <a:cs typeface="Arial"/>
                <a:sym typeface="Arial"/>
              </a:rPr>
              <a:t>[6] </a:t>
            </a:r>
            <a:r>
              <a:rPr lang="en-US" sz="1800">
                <a:solidFill>
                  <a:srgbClr val="000000"/>
                </a:solidFill>
                <a:latin typeface="Arial"/>
                <a:ea typeface="Arial"/>
                <a:cs typeface="Arial"/>
                <a:sym typeface="Arial"/>
              </a:rPr>
              <a:t>Nguyen, L. V. (2024). OurSCARA: Awareness-Based Recommendation Services for Sustainable Tourism. World, 5(2).</a:t>
            </a:r>
          </a:p>
          <a:p>
            <a:pPr algn="just">
              <a:lnSpc>
                <a:spcPts val="2159"/>
              </a:lnSpc>
            </a:pPr>
          </a:p>
          <a:p>
            <a:pPr algn="just">
              <a:lnSpc>
                <a:spcPts val="2158"/>
              </a:lnSpc>
            </a:pPr>
            <a:r>
              <a:rPr lang="en-US" sz="1800">
                <a:solidFill>
                  <a:srgbClr val="000000"/>
                </a:solidFill>
                <a:latin typeface="Arial"/>
                <a:ea typeface="Arial"/>
                <a:cs typeface="Arial"/>
                <a:sym typeface="Arial"/>
              </a:rPr>
              <a:t>[7] </a:t>
            </a:r>
            <a:r>
              <a:rPr lang="en-US" sz="1800">
                <a:solidFill>
                  <a:srgbClr val="000000"/>
                </a:solidFill>
                <a:latin typeface="Arial"/>
                <a:ea typeface="Arial"/>
                <a:cs typeface="Arial"/>
                <a:sym typeface="Arial"/>
              </a:rPr>
              <a:t>Wallinger, S., Grundner, L., Majic, I., &amp; Lampoltshammer, T. J. (2023, January). Agent-based modelling for sustainable tourism. In ENTER22 e-Tourism </a:t>
            </a:r>
          </a:p>
          <a:p>
            <a:pPr algn="just">
              <a:lnSpc>
                <a:spcPts val="2158"/>
              </a:lnSpc>
            </a:pPr>
            <a:r>
              <a:rPr lang="en-US" sz="1800">
                <a:solidFill>
                  <a:srgbClr val="000000"/>
                </a:solidFill>
                <a:latin typeface="Arial"/>
                <a:ea typeface="Arial"/>
                <a:cs typeface="Arial"/>
                <a:sym typeface="Arial"/>
              </a:rPr>
              <a:t>     </a:t>
            </a:r>
            <a:r>
              <a:rPr lang="en-US" sz="1800">
                <a:solidFill>
                  <a:srgbClr val="000000"/>
                </a:solidFill>
                <a:latin typeface="Arial"/>
                <a:ea typeface="Arial"/>
                <a:cs typeface="Arial"/>
                <a:sym typeface="Arial"/>
              </a:rPr>
              <a:t>Conference (pp. 355-360). </a:t>
            </a:r>
          </a:p>
          <a:p>
            <a:pPr algn="just">
              <a:lnSpc>
                <a:spcPts val="2159"/>
              </a:lnSpc>
            </a:pPr>
          </a:p>
          <a:p>
            <a:pPr algn="just">
              <a:lnSpc>
                <a:spcPts val="2158"/>
              </a:lnSpc>
            </a:pPr>
            <a:r>
              <a:rPr lang="en-US" sz="1800">
                <a:solidFill>
                  <a:srgbClr val="000000"/>
                </a:solidFill>
                <a:latin typeface="Arial"/>
                <a:ea typeface="Arial"/>
                <a:cs typeface="Arial"/>
                <a:sym typeface="Arial"/>
              </a:rPr>
              <a:t>[8] </a:t>
            </a:r>
            <a:r>
              <a:rPr lang="en-US" sz="1800">
                <a:solidFill>
                  <a:srgbClr val="000000"/>
                </a:solidFill>
                <a:latin typeface="Arial"/>
                <a:ea typeface="Arial"/>
                <a:cs typeface="Arial"/>
                <a:sym typeface="Arial"/>
              </a:rPr>
              <a:t>Halder, S., Lim, K. H., Chan, J., &amp; Zhang, X. (2024). A survey on personalized itinerary recommendation: From optimisation to deep learning. Applied Soft </a:t>
            </a:r>
          </a:p>
          <a:p>
            <a:pPr algn="just">
              <a:lnSpc>
                <a:spcPts val="2158"/>
              </a:lnSpc>
            </a:pPr>
            <a:r>
              <a:rPr lang="en-US" sz="1800">
                <a:solidFill>
                  <a:srgbClr val="000000"/>
                </a:solidFill>
                <a:latin typeface="Arial"/>
                <a:ea typeface="Arial"/>
                <a:cs typeface="Arial"/>
                <a:sym typeface="Arial"/>
              </a:rPr>
              <a:t>     </a:t>
            </a:r>
            <a:r>
              <a:rPr lang="en-US" sz="1800">
                <a:solidFill>
                  <a:srgbClr val="000000"/>
                </a:solidFill>
                <a:latin typeface="Arial"/>
                <a:ea typeface="Arial"/>
                <a:cs typeface="Arial"/>
                <a:sym typeface="Arial"/>
              </a:rPr>
              <a:t>Computing.</a:t>
            </a:r>
          </a:p>
          <a:p>
            <a:pPr algn="just">
              <a:lnSpc>
                <a:spcPts val="2159"/>
              </a:lnSpc>
            </a:pPr>
          </a:p>
          <a:p>
            <a:pPr algn="just">
              <a:lnSpc>
                <a:spcPts val="2158"/>
              </a:lnSpc>
            </a:pPr>
            <a:r>
              <a:rPr lang="en-US" sz="1800">
                <a:solidFill>
                  <a:srgbClr val="000000"/>
                </a:solidFill>
                <a:latin typeface="Arial"/>
                <a:ea typeface="Arial"/>
                <a:cs typeface="Arial"/>
                <a:sym typeface="Arial"/>
              </a:rPr>
              <a:t>[9] </a:t>
            </a:r>
            <a:r>
              <a:rPr lang="en-US" sz="1800">
                <a:solidFill>
                  <a:srgbClr val="000000"/>
                </a:solidFill>
                <a:latin typeface="Arial"/>
                <a:ea typeface="Arial"/>
                <a:cs typeface="Arial"/>
                <a:sym typeface="Arial"/>
              </a:rPr>
              <a:t>Banerjee, A., Satish, A., &amp; Wörndl, W. Enhancing Tourism Recommender Systems for Sustainable City Trips Using Retrieval-Augmented Generation. arXiv   </a:t>
            </a:r>
          </a:p>
          <a:p>
            <a:pPr algn="just">
              <a:lnSpc>
                <a:spcPts val="2158"/>
              </a:lnSpc>
            </a:pPr>
            <a:r>
              <a:rPr lang="en-US" sz="1800">
                <a:solidFill>
                  <a:srgbClr val="000000"/>
                </a:solidFill>
                <a:latin typeface="Arial"/>
                <a:ea typeface="Arial"/>
                <a:cs typeface="Arial"/>
                <a:sym typeface="Arial"/>
              </a:rPr>
              <a:t>     </a:t>
            </a:r>
            <a:r>
              <a:rPr lang="en-US" sz="1800">
                <a:solidFill>
                  <a:srgbClr val="000000"/>
                </a:solidFill>
                <a:latin typeface="Arial"/>
                <a:ea typeface="Arial"/>
                <a:cs typeface="Arial"/>
                <a:sym typeface="Arial"/>
              </a:rPr>
              <a:t>2024.</a:t>
            </a:r>
          </a:p>
          <a:p>
            <a:pPr algn="just">
              <a:lnSpc>
                <a:spcPts val="2159"/>
              </a:lnSpc>
            </a:pPr>
          </a:p>
          <a:p>
            <a:pPr algn="just">
              <a:lnSpc>
                <a:spcPts val="2158"/>
              </a:lnSpc>
            </a:pPr>
            <a:r>
              <a:rPr lang="en-US" sz="1800">
                <a:solidFill>
                  <a:srgbClr val="000000"/>
                </a:solidFill>
                <a:latin typeface="Arial"/>
                <a:ea typeface="Arial"/>
                <a:cs typeface="Arial"/>
                <a:sym typeface="Arial"/>
              </a:rPr>
              <a:t>[10] </a:t>
            </a:r>
            <a:r>
              <a:rPr lang="en-US" sz="1800">
                <a:solidFill>
                  <a:srgbClr val="000000"/>
                </a:solidFill>
                <a:latin typeface="Arial"/>
                <a:ea typeface="Arial"/>
                <a:cs typeface="Arial"/>
                <a:sym typeface="Arial"/>
              </a:rPr>
              <a:t>Xiao, X., Li, C., Wang, X., &amp; Zeng, A. (2025). Personalized tourism recommendation model based on temporal multilayer sequential neural network. Scientific </a:t>
            </a:r>
          </a:p>
          <a:p>
            <a:pPr algn="just">
              <a:lnSpc>
                <a:spcPts val="2159"/>
              </a:lnSpc>
            </a:pPr>
            <a:r>
              <a:rPr lang="en-US" sz="1800">
                <a:solidFill>
                  <a:srgbClr val="000000"/>
                </a:solidFill>
                <a:latin typeface="Arial"/>
                <a:ea typeface="Arial"/>
                <a:cs typeface="Arial"/>
                <a:sym typeface="Arial"/>
              </a:rPr>
              <a:t>       </a:t>
            </a:r>
            <a:r>
              <a:rPr lang="en-US" sz="1800">
                <a:solidFill>
                  <a:srgbClr val="000000"/>
                </a:solidFill>
                <a:latin typeface="Arial"/>
                <a:ea typeface="Arial"/>
                <a:cs typeface="Arial"/>
                <a:sym typeface="Arial"/>
              </a:rPr>
              <a:t>Reports, 15(1).</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958EA2"/>
        </a:solidFill>
      </p:bgPr>
    </p:bg>
    <p:spTree>
      <p:nvGrpSpPr>
        <p:cNvPr id="1" name=""/>
        <p:cNvGrpSpPr/>
        <p:nvPr/>
      </p:nvGrpSpPr>
      <p:grpSpPr>
        <a:xfrm>
          <a:off x="0" y="0"/>
          <a:ext cx="0" cy="0"/>
          <a:chOff x="0" y="0"/>
          <a:chExt cx="0" cy="0"/>
        </a:xfrm>
      </p:grpSpPr>
      <p:grpSp>
        <p:nvGrpSpPr>
          <p:cNvPr name="Group 2" id="2"/>
          <p:cNvGrpSpPr/>
          <p:nvPr/>
        </p:nvGrpSpPr>
        <p:grpSpPr>
          <a:xfrm rot="0">
            <a:off x="0" y="0"/>
            <a:ext cx="13423106" cy="10287000"/>
            <a:chOff x="0" y="0"/>
            <a:chExt cx="17897475" cy="13716000"/>
          </a:xfrm>
        </p:grpSpPr>
        <p:sp>
          <p:nvSpPr>
            <p:cNvPr name="Freeform 3" id="3"/>
            <p:cNvSpPr/>
            <p:nvPr/>
          </p:nvSpPr>
          <p:spPr>
            <a:xfrm flipH="false" flipV="false" rot="0">
              <a:off x="0" y="0"/>
              <a:ext cx="17897475" cy="13716127"/>
            </a:xfrm>
            <a:custGeom>
              <a:avLst/>
              <a:gdLst/>
              <a:ahLst/>
              <a:cxnLst/>
              <a:rect r="r" b="b" t="t" l="l"/>
              <a:pathLst>
                <a:path h="13716127" w="17897475">
                  <a:moveTo>
                    <a:pt x="0" y="0"/>
                  </a:moveTo>
                  <a:lnTo>
                    <a:pt x="11865864" y="0"/>
                  </a:lnTo>
                  <a:lnTo>
                    <a:pt x="12094591" y="29210"/>
                  </a:lnTo>
                  <a:cubicBezTo>
                    <a:pt x="15380336" y="534035"/>
                    <a:pt x="17897475" y="3387979"/>
                    <a:pt x="17897475" y="6832981"/>
                  </a:cubicBezTo>
                  <a:cubicBezTo>
                    <a:pt x="17897475" y="10515600"/>
                    <a:pt x="15021306" y="13522706"/>
                    <a:pt x="11404347" y="13707111"/>
                  </a:cubicBezTo>
                  <a:lnTo>
                    <a:pt x="11052176" y="13716127"/>
                  </a:lnTo>
                  <a:lnTo>
                    <a:pt x="0" y="13716127"/>
                  </a:lnTo>
                  <a:close/>
                </a:path>
              </a:pathLst>
            </a:custGeom>
            <a:solidFill>
              <a:srgbClr val="FFFFFF"/>
            </a:solidFill>
            <a:ln w="12700">
              <a:solidFill>
                <a:srgbClr val="000000"/>
              </a:solidFill>
            </a:ln>
          </p:spPr>
        </p:sp>
      </p:grpSp>
      <p:grpSp>
        <p:nvGrpSpPr>
          <p:cNvPr name="Group 4" id="4"/>
          <p:cNvGrpSpPr/>
          <p:nvPr/>
        </p:nvGrpSpPr>
        <p:grpSpPr>
          <a:xfrm rot="0">
            <a:off x="11291249" y="0"/>
            <a:ext cx="7014962" cy="10298811"/>
            <a:chOff x="0" y="0"/>
            <a:chExt cx="9353283" cy="13731748"/>
          </a:xfrm>
        </p:grpSpPr>
        <p:sp>
          <p:nvSpPr>
            <p:cNvPr name="Freeform 5" id="5"/>
            <p:cNvSpPr/>
            <p:nvPr/>
          </p:nvSpPr>
          <p:spPr>
            <a:xfrm flipH="false" flipV="false" rot="0">
              <a:off x="0" y="0"/>
              <a:ext cx="9353296" cy="13731748"/>
            </a:xfrm>
            <a:custGeom>
              <a:avLst/>
              <a:gdLst/>
              <a:ahLst/>
              <a:cxnLst/>
              <a:rect r="r" b="b" t="t" l="l"/>
              <a:pathLst>
                <a:path h="13731748" w="9353296">
                  <a:moveTo>
                    <a:pt x="6867144" y="0"/>
                  </a:moveTo>
                  <a:lnTo>
                    <a:pt x="9353296" y="0"/>
                  </a:lnTo>
                  <a:lnTo>
                    <a:pt x="9353296" y="13731748"/>
                  </a:lnTo>
                  <a:lnTo>
                    <a:pt x="6867144" y="13731748"/>
                  </a:lnTo>
                  <a:cubicBezTo>
                    <a:pt x="3074543" y="13731748"/>
                    <a:pt x="0" y="10657840"/>
                    <a:pt x="0" y="6865874"/>
                  </a:cubicBezTo>
                  <a:cubicBezTo>
                    <a:pt x="0" y="3073908"/>
                    <a:pt x="3074543" y="0"/>
                    <a:pt x="6867144" y="0"/>
                  </a:cubicBezTo>
                  <a:close/>
                </a:path>
              </a:pathLst>
            </a:custGeom>
            <a:solidFill>
              <a:srgbClr val="224E7F"/>
            </a:solidFill>
            <a:ln w="12700">
              <a:solidFill>
                <a:srgbClr val="000000"/>
              </a:solidFill>
            </a:ln>
          </p:spPr>
        </p:sp>
      </p:grpSp>
      <p:sp>
        <p:nvSpPr>
          <p:cNvPr name="Freeform 6" id="6"/>
          <p:cNvSpPr/>
          <p:nvPr/>
        </p:nvSpPr>
        <p:spPr>
          <a:xfrm flipH="false" flipV="false" rot="0">
            <a:off x="13149882" y="0"/>
            <a:ext cx="5148291" cy="5148291"/>
          </a:xfrm>
          <a:custGeom>
            <a:avLst/>
            <a:gdLst/>
            <a:ahLst/>
            <a:cxnLst/>
            <a:rect r="r" b="b" t="t" l="l"/>
            <a:pathLst>
              <a:path h="5148291" w="5148291">
                <a:moveTo>
                  <a:pt x="0" y="0"/>
                </a:moveTo>
                <a:lnTo>
                  <a:pt x="5148291" y="0"/>
                </a:lnTo>
                <a:lnTo>
                  <a:pt x="5148291" y="5148291"/>
                </a:lnTo>
                <a:lnTo>
                  <a:pt x="0" y="5148291"/>
                </a:lnTo>
                <a:lnTo>
                  <a:pt x="0" y="0"/>
                </a:lnTo>
                <a:close/>
              </a:path>
            </a:pathLst>
          </a:custGeom>
          <a:blipFill>
            <a:blip r:embed="rId3"/>
            <a:stretch>
              <a:fillRect l="0" t="0" r="0" b="0"/>
            </a:stretch>
          </a:blipFill>
        </p:spPr>
      </p:sp>
      <p:grpSp>
        <p:nvGrpSpPr>
          <p:cNvPr name="Group 7" id="7"/>
          <p:cNvGrpSpPr/>
          <p:nvPr/>
        </p:nvGrpSpPr>
        <p:grpSpPr>
          <a:xfrm rot="0">
            <a:off x="3231452" y="4481093"/>
            <a:ext cx="6681597" cy="1324804"/>
            <a:chOff x="0" y="0"/>
            <a:chExt cx="8908796" cy="1766405"/>
          </a:xfrm>
        </p:grpSpPr>
        <p:sp>
          <p:nvSpPr>
            <p:cNvPr name="Freeform 8" id="8"/>
            <p:cNvSpPr/>
            <p:nvPr/>
          </p:nvSpPr>
          <p:spPr>
            <a:xfrm flipH="false" flipV="false" rot="0">
              <a:off x="0" y="0"/>
              <a:ext cx="8908800" cy="1766400"/>
            </a:xfrm>
            <a:custGeom>
              <a:avLst/>
              <a:gdLst/>
              <a:ahLst/>
              <a:cxnLst/>
              <a:rect r="r" b="b" t="t" l="l"/>
              <a:pathLst>
                <a:path h="1766400" w="8908800">
                  <a:moveTo>
                    <a:pt x="0" y="0"/>
                  </a:moveTo>
                  <a:lnTo>
                    <a:pt x="8908800" y="0"/>
                  </a:lnTo>
                  <a:lnTo>
                    <a:pt x="8908800" y="1766400"/>
                  </a:lnTo>
                  <a:lnTo>
                    <a:pt x="0" y="1766400"/>
                  </a:lnTo>
                  <a:close/>
                </a:path>
              </a:pathLst>
            </a:custGeom>
            <a:solidFill>
              <a:srgbClr val="000000">
                <a:alpha val="0"/>
              </a:srgbClr>
            </a:solidFill>
            <a:ln w="12700">
              <a:solidFill>
                <a:srgbClr val="000000"/>
              </a:solidFill>
            </a:ln>
          </p:spPr>
        </p:sp>
        <p:sp>
          <p:nvSpPr>
            <p:cNvPr name="TextBox 9" id="9"/>
            <p:cNvSpPr txBox="true"/>
            <p:nvPr/>
          </p:nvSpPr>
          <p:spPr>
            <a:xfrm>
              <a:off x="0" y="-114300"/>
              <a:ext cx="8908796" cy="1880705"/>
            </a:xfrm>
            <a:prstGeom prst="rect">
              <a:avLst/>
            </a:prstGeom>
          </p:spPr>
          <p:txBody>
            <a:bodyPr anchor="b" rtlCol="false" tIns="0" lIns="0" bIns="0" rIns="0"/>
            <a:lstStyle/>
            <a:p>
              <a:pPr algn="l">
                <a:lnSpc>
                  <a:spcPts val="7380"/>
                </a:lnSpc>
              </a:pPr>
              <a:r>
                <a:rPr lang="en-US" b="true" sz="6150">
                  <a:solidFill>
                    <a:srgbClr val="000000"/>
                  </a:solidFill>
                  <a:latin typeface="Avenir Bold"/>
                  <a:ea typeface="Avenir Bold"/>
                  <a:cs typeface="Avenir Bold"/>
                  <a:sym typeface="Avenir Bold"/>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DAG_FKLWbCk</dc:identifier>
  <dcterms:modified xsi:type="dcterms:W3CDTF">2011-08-01T06:04:30Z</dcterms:modified>
  <cp:revision>1</cp:revision>
  <dc:title>REVIEW 1 - A002.pptx</dc:title>
</cp:coreProperties>
</file>